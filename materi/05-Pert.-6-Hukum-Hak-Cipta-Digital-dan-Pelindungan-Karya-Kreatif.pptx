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embeddedFontLst>
    <p:embeddedFont>
      <p:font typeface="DM Sans 9pt" panose="020B0604020202020204" charset="0"/>
      <p:regular r:id="rId18"/>
    </p:embeddedFont>
    <p:embeddedFont>
      <p:font typeface="Luckiest Guy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5767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C2B744-1F5D-C043-301E-FDD5B51129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55DFE12-9F2D-5C02-CB4E-F751FE8F5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EBCF58-121B-07D5-A815-26D8F07A5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2026/9/25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A86961-DCD7-4645-629C-CA20538B3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6BD3A4-947F-334B-D97A-4F9F3DD18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8552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8D0380-950D-0EB3-F821-03F4508FB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035F00-FD85-51C4-43B5-7F049F590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1B2DB4-D29F-9C6A-5999-72150C15B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2026/9/25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74DC32-465E-F753-963C-7B7C96850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EBFEF8-E4F3-D916-581F-219CD8410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55085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9207A4-E570-9A26-41C4-3ABA7F385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C78DFE1-769D-C827-9998-F44CEA38F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1AAB41-3DDB-1920-EDE7-45768C2B8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2026/9/25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B322CD-8F7B-88BA-A2A3-A3A458215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33F1C7-D3F0-2A37-B94E-239E84477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74634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3A0752-9F6C-2508-AE2B-3F7A7EF36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9CC9D8-3C56-F907-B56A-E5B8589E5D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0C444C7-103E-FD3F-090E-FDB5759D2C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F217FCF-2142-E0CA-6C18-6C95D434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2026/9/25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64D8E9F-253E-1D82-97A9-15CA65474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D77128A-737C-CA38-3862-20CEA44F6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29208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C56D1A-FB16-5E31-A106-DCF02DAC9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AB02E7C-260D-60C5-FCCA-DFC01F1420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2BAA659-ACC6-6F45-429A-9678890E78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13D315E-F577-54BA-0BC7-11B2F9E497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3699DE7-3CB8-893F-47F6-D80F369F8B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B0DFB00-0D40-DE77-E458-EEAD8647A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2026/9/25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E3B62EA-C11C-ED4C-E412-13015E94D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0B67572-C038-B8EE-3F4A-66F2EB5BC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07959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9ACFB3-6E7C-10C3-4227-DCC235908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DEFDC94-EB77-1206-3206-1B33F78EA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2026/9/25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AFB27BA-C6C4-956D-BB12-8D4F16B5C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DD0AACD-7B23-7A5E-6C34-7DCB44F64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62499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E546190-2158-46F8-6A32-12FE189EC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2026/9/25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D3512C2-3838-72C2-51DD-8E9040126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007A5F-B186-54C0-5D19-2284F293A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17751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B735BD-C3BB-8927-3AF4-94F9438CB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616762-3893-E59B-CB9B-C02C1AA3B6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70AA56D-7451-C3C5-6D51-B2650A4541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628E855-990E-30E6-3512-97221C46C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2026/9/25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47DA99E-7FBF-A00D-442B-2D8D7E789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51B805B-BFA9-DDA6-CEEA-6ADEA1A0E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6919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7BD84F-84C9-AF27-1A59-8346212BD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BB0A76F-B479-8050-2AD7-B9A011F11B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E0EFA31-6C28-3C82-9363-FE2CAD862A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E00E6CE-098C-0ED3-86A0-E120929DD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2026/9/25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50CC86E-6091-D81E-FA00-BF21FA580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3DE2F81-7731-1152-9792-87A036E1A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08534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11DD4-0674-E844-9E12-5F2805D47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0F851AA-3284-5ED7-C023-2D29A38989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1C3777-D1E7-BA80-B662-AF007330B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2026/9/25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D95CC9-AF53-F0AA-FD40-F3E2CCEC5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D1B16D-B121-595D-C223-CB5F9D124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33416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10C1838-1DC8-7579-5F22-B30187479B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D670889-BEC7-D29F-E1AC-BF218674A2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15CB33-44D0-A76C-3FF3-EEA9A801C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2026/9/25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78635D-6139-9A84-B3F9-9BCA80355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41DB96-ECF2-C664-F90E-E7B4E08A6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5339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6C56813-2AEB-CC25-B5BE-39156AC4A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D5FFF8B-ED7D-4F9C-5CD8-CC3E43D1D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1D59E3-C823-D4DA-54BF-4D8DB9BF0F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EDBEE3-4AC2-F046-910D-39992CB67F1C}" type="datetimeFigureOut">
              <a:rPr kumimoji="1" lang="zh-CN" altLang="en-US" smtClean="0"/>
              <a:t>2026/9/25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C1EF5F-1486-06C8-051E-7B825CAD54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6A3C8D-E9F0-A63A-F26B-7851D262D8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13459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6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495675" y="1448842"/>
            <a:ext cx="381000" cy="9525"/>
          </a:xfrm>
          <a:prstGeom prst="rect">
            <a:avLst/>
          </a:prstGeom>
          <a:solidFill>
            <a:srgbClr val="D98E5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67175" y="1334542"/>
            <a:ext cx="410565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350" kern="0" spc="600" dirty="0">
                <a:solidFill>
                  <a:srgbClr val="888888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PERSPEKTIF HUKUM MODERN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465737" y="1755502"/>
            <a:ext cx="7415784" cy="7406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5280"/>
              </a:lnSpc>
              <a:buNone/>
            </a:pPr>
            <a:r>
              <a:rPr lang="en-US" sz="4800" b="1" dirty="0">
                <a:gradFill rotWithShape="1">
                  <a:gsLst>
                    <a:gs pos="0">
                      <a:srgbClr val="BF7A3F"/>
                    </a:gs>
                    <a:gs pos="50000">
                      <a:srgbClr val="FFECC4"/>
                    </a:gs>
                    <a:gs pos="100000">
                      <a:srgbClr val="BF7A3F"/>
                    </a:gs>
                  </a:gsLst>
                </a:gradFill>
                <a:latin typeface="Luckiest Guy" pitchFamily="34" charset="0"/>
                <a:ea typeface="Luckiest Guy" pitchFamily="34" charset="-122"/>
                <a:cs typeface="Luckiest Guy" pitchFamily="34" charset="-120"/>
              </a:rPr>
              <a:t>HUKUM HAK CIPTA DIGITAL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465737" y="2473598"/>
            <a:ext cx="7415784" cy="7406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5280"/>
              </a:lnSpc>
              <a:buNone/>
            </a:pPr>
            <a:r>
              <a:rPr lang="en-US" sz="4800" b="1" dirty="0">
                <a:gradFill rotWithShape="1">
                  <a:gsLst>
                    <a:gs pos="0">
                      <a:srgbClr val="BF7A3F"/>
                    </a:gs>
                    <a:gs pos="50000">
                      <a:srgbClr val="FFECC4"/>
                    </a:gs>
                    <a:gs pos="100000">
                      <a:srgbClr val="BF7A3F"/>
                    </a:gs>
                  </a:gsLst>
                </a:gradFill>
                <a:latin typeface="Luckiest Guy" pitchFamily="34" charset="0"/>
                <a:ea typeface="Luckiest Guy" pitchFamily="34" charset="-122"/>
                <a:cs typeface="Luckiest Guy" pitchFamily="34" charset="-120"/>
              </a:rPr>
              <a:t>DAN PELINDUNGAN KARYA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715000" y="3523208"/>
            <a:ext cx="762000" cy="38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039904" y="3847058"/>
            <a:ext cx="6172200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i="1" kern="0" spc="70" dirty="0">
                <a:solidFill>
                  <a:srgbClr val="CCCCCC"/>
                </a:solidFill>
                <a:latin typeface="Luckiest Guy" pitchFamily="34" charset="0"/>
                <a:ea typeface="Luckiest Guy" pitchFamily="34" charset="-122"/>
                <a:cs typeface="Luckiest Guy" pitchFamily="34" charset="-120"/>
              </a:rPr>
              <a:t>Menjaga Kreativitas di Era Transformasi Digital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857500" y="4837658"/>
            <a:ext cx="3048000" cy="685800"/>
          </a:xfrm>
          <a:prstGeom prst="roundRect">
            <a:avLst>
              <a:gd name="adj" fmla="val 11111"/>
            </a:avLst>
          </a:prstGeom>
          <a:noFill/>
          <a:ln w="9525">
            <a:solidFill>
              <a:srgbClr val="D98E5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0" name="Image 0" descr="image.png"/>
          <p:cNvPicPr>
            <a:picLocks noChangeAspect="1"/>
          </p:cNvPicPr>
          <p:nvPr/>
        </p:nvPicPr>
        <p:blipFill>
          <a:blip r:embed="rId3"/>
          <a:srcRect b="2166"/>
          <a:stretch/>
        </p:blipFill>
        <p:spPr>
          <a:xfrm>
            <a:off x="2867025" y="4847183"/>
            <a:ext cx="3028950" cy="66675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752850" y="4961483"/>
            <a:ext cx="1289304" cy="1645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170"/>
              </a:lnSpc>
              <a:buNone/>
            </a:pPr>
            <a:r>
              <a:rPr lang="en-US" sz="975" b="1" kern="0" spc="150" dirty="0">
                <a:solidFill>
                  <a:srgbClr val="D98E54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DISAJIKAN OLEH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2957513" y="5171033"/>
            <a:ext cx="293846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350" kern="0" spc="30" dirty="0">
                <a:solidFill>
                  <a:srgbClr val="FFFFFF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Dr. </a:t>
            </a:r>
            <a:r>
              <a:rPr lang="en-US" sz="1350" kern="0" spc="30" dirty="0" err="1">
                <a:solidFill>
                  <a:srgbClr val="FFFFFF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Apik</a:t>
            </a:r>
            <a:r>
              <a:rPr lang="en-US" sz="1350" kern="0" spc="30" dirty="0">
                <a:solidFill>
                  <a:srgbClr val="FFFFFF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 </a:t>
            </a:r>
            <a:r>
              <a:rPr lang="en-US" sz="1350" kern="0" spc="30" dirty="0" err="1">
                <a:solidFill>
                  <a:srgbClr val="FFFFFF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Anitasari</a:t>
            </a:r>
            <a:r>
              <a:rPr lang="en-US" sz="1350" kern="0" spc="30" dirty="0">
                <a:solidFill>
                  <a:srgbClr val="FFFFFF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 Intan </a:t>
            </a:r>
            <a:r>
              <a:rPr lang="en-US" sz="1350" kern="0" spc="30" dirty="0" err="1">
                <a:solidFill>
                  <a:srgbClr val="FFFFFF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Saputri</a:t>
            </a:r>
            <a:r>
              <a:rPr lang="en-US" sz="1350" kern="0" spc="30" dirty="0">
                <a:solidFill>
                  <a:srgbClr val="FFFFFF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 S.H.,M.H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286500" y="4837658"/>
            <a:ext cx="3048000" cy="685800"/>
          </a:xfrm>
          <a:prstGeom prst="roundRect">
            <a:avLst>
              <a:gd name="adj" fmla="val 11111"/>
            </a:avLst>
          </a:prstGeom>
          <a:noFill/>
          <a:ln w="9525">
            <a:solidFill>
              <a:srgbClr val="D98E5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" name="Image 1" descr="image.png"/>
          <p:cNvPicPr>
            <a:picLocks noChangeAspect="1"/>
          </p:cNvPicPr>
          <p:nvPr/>
        </p:nvPicPr>
        <p:blipFill>
          <a:blip r:embed="rId3"/>
          <a:srcRect b="2166"/>
          <a:stretch/>
        </p:blipFill>
        <p:spPr>
          <a:xfrm>
            <a:off x="6296025" y="4847183"/>
            <a:ext cx="3028950" cy="66675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386513" y="5096388"/>
            <a:ext cx="2847974" cy="3170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170"/>
              </a:lnSpc>
              <a:buNone/>
            </a:pPr>
            <a:r>
              <a:rPr lang="en-US" sz="975" b="1" kern="0" spc="150" dirty="0">
                <a:solidFill>
                  <a:srgbClr val="D98E54"/>
                </a:solidFill>
                <a:latin typeface="DM Sans 9pt" pitchFamily="34" charset="0"/>
              </a:rPr>
              <a:t>UNIVERSITAS AMIKOM PURWOKERTO</a:t>
            </a:r>
            <a:endParaRPr lang="en-US" sz="9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14970" y="814388"/>
            <a:ext cx="2907792" cy="7589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dirty="0">
                <a:solidFill>
                  <a:srgbClr val="FFFFFF"/>
                </a:solidFill>
                <a:latin typeface="Luckiest Guy" pitchFamily="34" charset="0"/>
                <a:ea typeface="Luckiest Guy" pitchFamily="34" charset="-122"/>
                <a:cs typeface="Luckiest Guy" pitchFamily="34" charset="-120"/>
              </a:rPr>
              <a:t>Daftar Isi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5715000" y="1643063"/>
            <a:ext cx="762000" cy="38100"/>
          </a:xfrm>
          <a:prstGeom prst="rect">
            <a:avLst/>
          </a:prstGeom>
          <a:solidFill>
            <a:srgbClr val="D98E5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995863" y="1824038"/>
            <a:ext cx="2240280" cy="173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1050" b="1" kern="0" spc="300" dirty="0">
                <a:solidFill>
                  <a:srgbClr val="AAAAAA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STRUKTUR PRESENTASI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095375" y="2724150"/>
            <a:ext cx="476250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5375" y="2376488"/>
            <a:ext cx="32918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i="1" dirty="0">
                <a:solidFill>
                  <a:srgbClr val="D98E54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01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524000" y="2385938"/>
            <a:ext cx="4462272" cy="2377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Pendahuluan Hukum Hak Cipta Digital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95375" y="3248025"/>
            <a:ext cx="476250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5375" y="2900363"/>
            <a:ext cx="32918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i="1" dirty="0">
                <a:solidFill>
                  <a:srgbClr val="D98E54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02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524000" y="2909813"/>
            <a:ext cx="4462272" cy="2377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Dasar Hukum Undang-Undang Hak Cipta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95375" y="3771900"/>
            <a:ext cx="476250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5375" y="3424238"/>
            <a:ext cx="32918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i="1" dirty="0">
                <a:solidFill>
                  <a:srgbClr val="D98E54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03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524000" y="3433688"/>
            <a:ext cx="4462272" cy="2377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Objek Hak Cipta dalam Bisnis Digital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95375" y="4295775"/>
            <a:ext cx="476250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5375" y="3948112"/>
            <a:ext cx="32918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i="1" dirty="0">
                <a:solidFill>
                  <a:srgbClr val="D98E54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04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524000" y="3957563"/>
            <a:ext cx="4462272" cy="2377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Pelindungan Desain Antarmuka UI dan UX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95375" y="4819650"/>
            <a:ext cx="476250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5375" y="4471988"/>
            <a:ext cx="32918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i="1" dirty="0">
                <a:solidFill>
                  <a:srgbClr val="D98E54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05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524000" y="4481438"/>
            <a:ext cx="4462272" cy="2377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Hak Cipta bagi Konten Kreator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95375" y="5343525"/>
            <a:ext cx="476250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5375" y="4995863"/>
            <a:ext cx="32918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i="1" dirty="0">
                <a:solidFill>
                  <a:srgbClr val="D98E54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06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524000" y="5005313"/>
            <a:ext cx="4462272" cy="2377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Memahami Hak Moral Pencipta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95375" y="5867400"/>
            <a:ext cx="476250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5375" y="5519738"/>
            <a:ext cx="32918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i="1" dirty="0">
                <a:solidFill>
                  <a:srgbClr val="D98E54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07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524000" y="5529188"/>
            <a:ext cx="4462272" cy="2377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Memahami Hak Ekonomi Pencipta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334125" y="2724150"/>
            <a:ext cx="476250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34125" y="2376488"/>
            <a:ext cx="32918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i="1" dirty="0">
                <a:solidFill>
                  <a:srgbClr val="D98E54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08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762750" y="2385938"/>
            <a:ext cx="4462272" cy="2377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Durasi Pelindungan Hak Cipta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34125" y="3248025"/>
            <a:ext cx="476250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34125" y="2900363"/>
            <a:ext cx="32918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i="1" dirty="0">
                <a:solidFill>
                  <a:srgbClr val="D98E54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09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762750" y="2909813"/>
            <a:ext cx="4462272" cy="2377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Pengalihan Hak dan Lisensi Digital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334125" y="3771900"/>
            <a:ext cx="476250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34125" y="3424238"/>
            <a:ext cx="32918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i="1" dirty="0">
                <a:solidFill>
                  <a:srgbClr val="D98E54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10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762750" y="3433688"/>
            <a:ext cx="4462272" cy="2377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Penegakan Hukum dan Pemblokiran Situs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334125" y="4295775"/>
            <a:ext cx="476250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34125" y="3948112"/>
            <a:ext cx="32918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i="1" dirty="0">
                <a:solidFill>
                  <a:srgbClr val="D98E54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11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6762750" y="3957563"/>
            <a:ext cx="4462272" cy="2377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Studi Kasus Pelanggaran Konten Kreator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334125" y="4819650"/>
            <a:ext cx="476250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34125" y="4471988"/>
            <a:ext cx="32918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i="1" dirty="0">
                <a:solidFill>
                  <a:srgbClr val="D98E54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12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6762750" y="4481438"/>
            <a:ext cx="4462272" cy="2377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Strategi Pencegahan Pelanggaran Hak Cipta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334125" y="5343525"/>
            <a:ext cx="476250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34125" y="4995863"/>
            <a:ext cx="32918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i="1" dirty="0">
                <a:solidFill>
                  <a:srgbClr val="D98E54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13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6762750" y="5005313"/>
            <a:ext cx="4462272" cy="2377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Kesimpulan dan Sesi Tanya Jawab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438525" y="1619250"/>
            <a:ext cx="5495544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Luckiest Guy" pitchFamily="34" charset="0"/>
                <a:ea typeface="Luckiest Guy" pitchFamily="34" charset="-122"/>
                <a:cs typeface="Luckiest Guy" pitchFamily="34" charset="-120"/>
              </a:rPr>
              <a:t>Sesi Pertemuan Keenam: Era Digital 2026</a:t>
            </a:r>
            <a:endParaRPr lang="en-US" sz="2100" dirty="0"/>
          </a:p>
        </p:txBody>
      </p:sp>
      <p:pic>
        <p:nvPicPr>
          <p:cNvPr id="4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48000" y="2286000"/>
            <a:ext cx="3771900" cy="2438400"/>
          </a:xfrm>
          <a:prstGeom prst="rect">
            <a:avLst/>
          </a:prstGeom>
        </p:spPr>
      </p:pic>
      <p:pic>
        <p:nvPicPr>
          <p:cNvPr id="5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239000" y="2286000"/>
            <a:ext cx="1905000" cy="24384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43000" y="5124450"/>
            <a:ext cx="4762500" cy="1392287"/>
          </a:xfrm>
          <a:prstGeom prst="roundRect">
            <a:avLst>
              <a:gd name="adj" fmla="val 10262"/>
            </a:avLst>
          </a:prstGeom>
          <a:noFill/>
          <a:ln w="19050">
            <a:solidFill>
              <a:srgbClr val="D98E5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476375" y="5457825"/>
            <a:ext cx="228600" cy="228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971675" y="5334000"/>
            <a:ext cx="3794760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Luckiest Guy" pitchFamily="34" charset="0"/>
                <a:ea typeface="Luckiest Guy" pitchFamily="34" charset="-122"/>
                <a:cs typeface="Luckiest Guy" pitchFamily="34" charset="-120"/>
              </a:rPr>
              <a:t>Pelindungan Karya Kreatif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1971675" y="5581650"/>
            <a:ext cx="381000" cy="9525"/>
          </a:xfrm>
          <a:prstGeom prst="rect">
            <a:avLst/>
          </a:prstGeom>
          <a:solidFill>
            <a:srgbClr val="D98E5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5"/>
          <p:cNvSpPr/>
          <p:nvPr/>
        </p:nvSpPr>
        <p:spPr>
          <a:xfrm>
            <a:off x="1971675" y="5668194"/>
            <a:ext cx="3712464" cy="6400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Selamat datang di sesi keenam. Di era digital 2026, pelindungan karya menjadi sangat krusial, sebagaimana peluncuran maskot tematik oleh pihak DJKI baru-baru ini.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6286500" y="5124450"/>
            <a:ext cx="4762500" cy="1392287"/>
          </a:xfrm>
          <a:prstGeom prst="roundRect">
            <a:avLst>
              <a:gd name="adj" fmla="val 10262"/>
            </a:avLst>
          </a:prstGeom>
          <a:noFill/>
          <a:ln w="19050">
            <a:solidFill>
              <a:srgbClr val="D98E5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2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619875" y="5457825"/>
            <a:ext cx="228600" cy="228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115175" y="5334000"/>
            <a:ext cx="3794760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Luckiest Guy" pitchFamily="34" charset="0"/>
                <a:ea typeface="Luckiest Guy" pitchFamily="34" charset="-122"/>
                <a:cs typeface="Luckiest Guy" pitchFamily="34" charset="-120"/>
              </a:rPr>
              <a:t>Analisis Objek Multimedia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7115175" y="5581650"/>
            <a:ext cx="381000" cy="9525"/>
          </a:xfrm>
          <a:prstGeom prst="rect">
            <a:avLst/>
          </a:prstGeom>
          <a:solidFill>
            <a:srgbClr val="D98E5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9"/>
          <p:cNvSpPr/>
          <p:nvPr/>
        </p:nvSpPr>
        <p:spPr>
          <a:xfrm>
            <a:off x="7115175" y="5668194"/>
            <a:ext cx="3712464" cy="6400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Sesi ini bertujuan menganalisis objek hak cipta pada multimedia dan desain UI/UX sesuai dengan tren regulasi terbaru yang berlaku dalam industri digital saat ini.</a:t>
            </a:r>
            <a:endParaRPr lang="en-US" sz="1050" dirty="0"/>
          </a:p>
        </p:txBody>
      </p:sp>
      <p:sp>
        <p:nvSpPr>
          <p:cNvPr id="16" name="Text 10"/>
          <p:cNvSpPr/>
          <p:nvPr/>
        </p:nvSpPr>
        <p:spPr>
          <a:xfrm>
            <a:off x="762000" y="571500"/>
            <a:ext cx="7580376" cy="4480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Luckiest Guy" pitchFamily="34" charset="0"/>
                <a:ea typeface="Luckiest Guy" pitchFamily="34" charset="-122"/>
                <a:cs typeface="Luckiest Guy" pitchFamily="34" charset="-120"/>
              </a:rPr>
              <a:t>Pendahuluan Hukum Hak Cipta Digital</a:t>
            </a:r>
            <a:endParaRPr lang="en-US" sz="3150" dirty="0"/>
          </a:p>
        </p:txBody>
      </p:sp>
      <p:sp>
        <p:nvSpPr>
          <p:cNvPr id="17" name="Text 11"/>
          <p:cNvSpPr/>
          <p:nvPr/>
        </p:nvSpPr>
        <p:spPr>
          <a:xfrm>
            <a:off x="762000" y="1114425"/>
            <a:ext cx="476250" cy="19050"/>
          </a:xfrm>
          <a:prstGeom prst="rect">
            <a:avLst/>
          </a:prstGeom>
          <a:solidFill>
            <a:srgbClr val="D98E5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2"/>
          <p:cNvSpPr/>
          <p:nvPr/>
        </p:nvSpPr>
        <p:spPr>
          <a:xfrm>
            <a:off x="762000" y="1276350"/>
            <a:ext cx="7360920" cy="173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kern="0" spc="150" dirty="0">
                <a:solidFill>
                  <a:srgbClr val="AAAAAA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HUKUM HAK CIPTA DIGITAL DAN PELINDUNGAN KARYA KREATIF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569565"/>
            <a:ext cx="10981944" cy="48463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3420"/>
              </a:lnSpc>
              <a:buNone/>
            </a:pPr>
            <a:r>
              <a:rPr lang="en-US" sz="2850" dirty="0">
                <a:solidFill>
                  <a:srgbClr val="FFFFFF"/>
                </a:solidFill>
                <a:latin typeface="Luckiest Guy" pitchFamily="34" charset="0"/>
                <a:ea typeface="Luckiest Guy" pitchFamily="34" charset="-122"/>
                <a:cs typeface="Luckiest Guy" pitchFamily="34" charset="-120"/>
              </a:rPr>
              <a:t>Hukum Hak Cipta Digital dan Pelindungan Karya Kreatif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762000" y="1243905"/>
            <a:ext cx="476250" cy="9525"/>
          </a:xfrm>
          <a:prstGeom prst="rect">
            <a:avLst/>
          </a:prstGeom>
          <a:solidFill>
            <a:srgbClr val="D98E5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381125" y="1148655"/>
            <a:ext cx="3584448" cy="2011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kern="0" spc="300" dirty="0">
                <a:solidFill>
                  <a:srgbClr val="AAAAAA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REGULASI KEKAYAAN INTELEKTUAL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67300" y="1243905"/>
            <a:ext cx="476250" cy="9525"/>
          </a:xfrm>
          <a:prstGeom prst="rect">
            <a:avLst/>
          </a:prstGeom>
          <a:solidFill>
            <a:srgbClr val="D98E5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477006" y="1729680"/>
            <a:ext cx="5312664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Luckiest Guy" pitchFamily="34" charset="0"/>
                <a:ea typeface="Luckiest Guy" pitchFamily="34" charset="-122"/>
                <a:cs typeface="Luckiest Guy" pitchFamily="34" charset="-120"/>
              </a:rPr>
              <a:t>Dasar Hukum Undang-Undang Hak Cipta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62000" y="2377380"/>
            <a:ext cx="5191125" cy="1524000"/>
          </a:xfrm>
          <a:prstGeom prst="roundRect">
            <a:avLst>
              <a:gd name="adj" fmla="val 12500"/>
            </a:avLst>
          </a:prstGeom>
          <a:noFill/>
          <a:ln w="9525">
            <a:solidFill>
              <a:srgbClr val="D98E5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62025" y="2672655"/>
            <a:ext cx="285750" cy="2857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90650" y="2625030"/>
            <a:ext cx="4498848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Luckiest Guy" pitchFamily="34" charset="0"/>
                <a:ea typeface="Luckiest Guy" pitchFamily="34" charset="-122"/>
                <a:cs typeface="Luckiest Guy" pitchFamily="34" charset="-120"/>
              </a:rPr>
              <a:t>Landasan Utama UU No. 28 Tahun 2014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390650" y="2890689"/>
            <a:ext cx="4398264" cy="4297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Industri kreatif wajib memahami hak cipta dan hak terkait guna melindungi karya digital secara komprehensif sesuai regulasi nasional.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238875" y="2377380"/>
            <a:ext cx="5191125" cy="1524000"/>
          </a:xfrm>
          <a:prstGeom prst="roundRect">
            <a:avLst>
              <a:gd name="adj" fmla="val 12500"/>
            </a:avLst>
          </a:prstGeom>
          <a:noFill/>
          <a:ln w="9525">
            <a:solidFill>
              <a:srgbClr val="D98E5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38900" y="2672655"/>
            <a:ext cx="285750" cy="2857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867525" y="2625030"/>
            <a:ext cx="4498848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Luckiest Guy" pitchFamily="34" charset="0"/>
                <a:ea typeface="Luckiest Guy" pitchFamily="34" charset="-122"/>
                <a:cs typeface="Luckiest Guy" pitchFamily="34" charset="-120"/>
              </a:rPr>
              <a:t>Peran Strategis DJKI &amp; Penegakan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6867525" y="2890689"/>
            <a:ext cx="4398264" cy="4297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DJKI aktif melakukan pengawasan dan operasi penegakan hukum untuk mengamankan bukti pelanggaran hak cipta di berbagai wilayah.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2063651" y="4377630"/>
            <a:ext cx="952500" cy="952500"/>
          </a:xfrm>
          <a:prstGeom prst="roundRect">
            <a:avLst>
              <a:gd name="adj" fmla="val 960000"/>
            </a:avLst>
          </a:prstGeom>
          <a:solidFill>
            <a:srgbClr val="1A1A1A"/>
          </a:solidFill>
          <a:ln w="19050">
            <a:solidFill>
              <a:srgbClr val="D98E5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7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301776" y="4663380"/>
            <a:ext cx="476250" cy="3810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87401" y="5520630"/>
            <a:ext cx="1938528" cy="347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UU No. 28 Tahun 2014 Sebagai Landasan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5619601" y="4377630"/>
            <a:ext cx="952500" cy="952500"/>
          </a:xfrm>
          <a:prstGeom prst="roundRect">
            <a:avLst>
              <a:gd name="adj" fmla="val 960000"/>
            </a:avLst>
          </a:prstGeom>
          <a:solidFill>
            <a:srgbClr val="1A1A1A"/>
          </a:solidFill>
          <a:ln w="19050">
            <a:solidFill>
              <a:srgbClr val="D98E5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0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881539" y="4663380"/>
            <a:ext cx="428625" cy="3810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143351" y="5520630"/>
            <a:ext cx="1938528" cy="347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Prinsip Pelindungan Deklaratif Otomatis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9175700" y="4377630"/>
            <a:ext cx="952500" cy="952500"/>
          </a:xfrm>
          <a:prstGeom prst="roundRect">
            <a:avLst>
              <a:gd name="adj" fmla="val 960000"/>
            </a:avLst>
          </a:prstGeom>
          <a:solidFill>
            <a:srgbClr val="1A1A1A"/>
          </a:solidFill>
          <a:ln w="19050">
            <a:solidFill>
              <a:srgbClr val="D98E5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3" name="Image 4" descr="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437638" y="4663380"/>
            <a:ext cx="428625" cy="3810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747075" y="5520630"/>
            <a:ext cx="1847088" cy="173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Pengawasan Aktif Oleh DJKI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695605" y="1905000"/>
            <a:ext cx="4873752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Luckiest Guy" pitchFamily="34" charset="0"/>
                <a:ea typeface="Luckiest Guy" pitchFamily="34" charset="-122"/>
                <a:cs typeface="Luckiest Guy" pitchFamily="34" charset="-120"/>
              </a:rPr>
              <a:t>Objek Hak Cipta dalam Bisnis Digital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57250" y="2552700"/>
            <a:ext cx="3301901" cy="2095500"/>
          </a:xfrm>
          <a:prstGeom prst="roundRect">
            <a:avLst>
              <a:gd name="adj" fmla="val 6818"/>
            </a:avLst>
          </a:prstGeom>
          <a:solidFill>
            <a:srgbClr val="0D0D0D"/>
          </a:solidFill>
          <a:ln w="9525">
            <a:solidFill>
              <a:srgbClr val="D98E5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23661" y="2943225"/>
            <a:ext cx="1819656" cy="201168"/>
          </a:xfrm>
          <a:prstGeom prst="rect">
            <a:avLst/>
          </a:prstGeom>
          <a:noFill/>
          <a:ln/>
        </p:spPr>
        <p:txBody>
          <a:bodyPr vert="horz" wrap="none" lIns="95250" tIns="0" rIns="95250" bIns="0" rtlCol="0" anchor="t">
            <a:normAutofit/>
          </a:bodyPr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350" dirty="0">
                <a:solidFill>
                  <a:srgbClr val="D98E54"/>
                </a:solidFill>
                <a:latin typeface="Luckiest Guy" pitchFamily="34" charset="0"/>
                <a:ea typeface="Luckiest Guy" pitchFamily="34" charset="-122"/>
                <a:cs typeface="Luckiest Guy" pitchFamily="34" charset="-120"/>
              </a:rPr>
              <a:t>Karya Tulis &amp; Blog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150888" y="3255466"/>
            <a:ext cx="2752344" cy="8595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Cakupan perlindungan karya tulis dan publikasi blog yang dikelola secara profesional pada berbagai platform digital saat ini.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444901" y="2552700"/>
            <a:ext cx="3302050" cy="2095500"/>
          </a:xfrm>
          <a:prstGeom prst="roundRect">
            <a:avLst>
              <a:gd name="adj" fmla="val 6818"/>
            </a:avLst>
          </a:prstGeom>
          <a:solidFill>
            <a:srgbClr val="0D0D0D"/>
          </a:solidFill>
          <a:ln w="9525">
            <a:solidFill>
              <a:srgbClr val="D98E5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201597" y="2943225"/>
            <a:ext cx="1837944" cy="201168"/>
          </a:xfrm>
          <a:prstGeom prst="rect">
            <a:avLst/>
          </a:prstGeom>
          <a:noFill/>
          <a:ln/>
        </p:spPr>
        <p:txBody>
          <a:bodyPr vert="horz" wrap="none" lIns="95250" tIns="0" rIns="95250" bIns="0" rtlCol="0" anchor="t">
            <a:normAutofit/>
          </a:bodyPr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350" dirty="0">
                <a:solidFill>
                  <a:srgbClr val="D98E54"/>
                </a:solidFill>
                <a:latin typeface="Luckiest Guy" pitchFamily="34" charset="0"/>
                <a:ea typeface="Luckiest Guy" pitchFamily="34" charset="-122"/>
                <a:cs typeface="Luckiest Guy" pitchFamily="34" charset="-120"/>
              </a:rPr>
              <a:t>Fotografi &amp; Grafis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38613" y="3255466"/>
            <a:ext cx="2752344" cy="8595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Karya fotografi serta seni grafis yang diciptakan khusus untuk mendukung kebutuhan komersial dalam ekosistem digital.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32700" y="2552700"/>
            <a:ext cx="3302050" cy="2095500"/>
          </a:xfrm>
          <a:prstGeom prst="roundRect">
            <a:avLst>
              <a:gd name="adj" fmla="val 6818"/>
            </a:avLst>
          </a:prstGeom>
          <a:solidFill>
            <a:srgbClr val="0D0D0D"/>
          </a:solidFill>
          <a:ln w="9525">
            <a:solidFill>
              <a:srgbClr val="D98E5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794254" y="2943225"/>
            <a:ext cx="1828800" cy="201168"/>
          </a:xfrm>
          <a:prstGeom prst="rect">
            <a:avLst/>
          </a:prstGeom>
          <a:noFill/>
          <a:ln/>
        </p:spPr>
        <p:txBody>
          <a:bodyPr vert="horz" wrap="none" lIns="95250" tIns="0" rIns="95250" bIns="0" rtlCol="0" anchor="t">
            <a:normAutofit/>
          </a:bodyPr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350" dirty="0">
                <a:solidFill>
                  <a:srgbClr val="D98E54"/>
                </a:solidFill>
                <a:latin typeface="Luckiest Guy" pitchFamily="34" charset="0"/>
                <a:ea typeface="Luckiest Guy" pitchFamily="34" charset="-122"/>
                <a:cs typeface="Luckiest Guy" pitchFamily="34" charset="-120"/>
              </a:rPr>
              <a:t>Videografi &amp; Audio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326413" y="3258369"/>
            <a:ext cx="2752344" cy="6400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Karya videografi dan konten audio visual yang kini menjadi elemen krusial dalam pertumbuhan industri kreatif modern.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333500" y="4838700"/>
            <a:ext cx="9525000" cy="1266825"/>
          </a:xfrm>
          <a:prstGeom prst="roundRect">
            <a:avLst>
              <a:gd name="adj" fmla="val 11278"/>
            </a:avLst>
          </a:prstGeom>
          <a:solidFill>
            <a:srgbClr val="150E08"/>
          </a:solidFill>
          <a:ln w="9525">
            <a:solidFill>
              <a:srgbClr val="D98E5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830419" y="5038725"/>
            <a:ext cx="8586216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dirty="0">
                <a:solidFill>
                  <a:srgbClr val="D98E54"/>
                </a:solidFill>
                <a:latin typeface="Luckiest Guy" pitchFamily="34" charset="0"/>
                <a:ea typeface="Luckiest Guy" pitchFamily="34" charset="-122"/>
                <a:cs typeface="Luckiest Guy" pitchFamily="34" charset="-120"/>
              </a:rPr>
              <a:t>Fokus Perlindungan Utama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914525" y="5372100"/>
            <a:ext cx="8403336" cy="49377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913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Pemerintah melalui DJKI terus memperkuat regulasi untuk memastikan aset digital mendapatkan perlindungan hukum yang maksimal bagi para kreator.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762000" y="762893"/>
            <a:ext cx="4791456" cy="4572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324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Luckiest Guy" pitchFamily="34" charset="0"/>
                <a:ea typeface="Luckiest Guy" pitchFamily="34" charset="-122"/>
                <a:cs typeface="Luckiest Guy" pitchFamily="34" charset="-120"/>
              </a:rPr>
              <a:t>Pelindungan Karya Kreatif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762000" y="1363861"/>
            <a:ext cx="476250" cy="19050"/>
          </a:xfrm>
          <a:prstGeom prst="rect">
            <a:avLst/>
          </a:prstGeom>
          <a:solidFill>
            <a:srgbClr val="D98E5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62000" y="1573411"/>
            <a:ext cx="4645152" cy="173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kern="0" spc="220" dirty="0">
                <a:solidFill>
                  <a:srgbClr val="AAAAAA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HUKUM HAK CIPTA DIGITAL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7181255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760065"/>
            <a:ext cx="10981944" cy="48463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3420"/>
              </a:lnSpc>
              <a:buNone/>
            </a:pPr>
            <a:r>
              <a:rPr lang="en-US" sz="2850" dirty="0">
                <a:solidFill>
                  <a:srgbClr val="FFFFFF"/>
                </a:solidFill>
                <a:latin typeface="Luckiest Guy" pitchFamily="34" charset="0"/>
                <a:ea typeface="Luckiest Guy" pitchFamily="34" charset="-122"/>
                <a:cs typeface="Luckiest Guy" pitchFamily="34" charset="-120"/>
              </a:rPr>
              <a:t>Hukum Hak Cipta Digital dan Pelindungan Karya Kreatif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762000" y="1434405"/>
            <a:ext cx="476250" cy="9525"/>
          </a:xfrm>
          <a:prstGeom prst="rect">
            <a:avLst/>
          </a:prstGeom>
          <a:solidFill>
            <a:srgbClr val="AAAA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381125" y="1339155"/>
            <a:ext cx="2651760" cy="2011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kern="0" spc="300" dirty="0">
                <a:solidFill>
                  <a:srgbClr val="AAAAAA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KEAMANAN ASET DIGITAL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33850" y="1434405"/>
            <a:ext cx="476250" cy="9525"/>
          </a:xfrm>
          <a:prstGeom prst="rect">
            <a:avLst/>
          </a:prstGeom>
          <a:solidFill>
            <a:srgbClr val="AAAA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54653" y="2015430"/>
            <a:ext cx="10954512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Luckiest Guy" pitchFamily="34" charset="0"/>
                <a:ea typeface="Luckiest Guy" pitchFamily="34" charset="-122"/>
                <a:cs typeface="Luckiest Guy" pitchFamily="34" charset="-120"/>
              </a:rPr>
              <a:t>Pelindungan Desain Antarmuka UI dan UX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62000" y="2663130"/>
            <a:ext cx="3810000" cy="2533650"/>
          </a:xfrm>
          <a:prstGeom prst="roundRect">
            <a:avLst>
              <a:gd name="adj" fmla="val 7519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2000" y="2663130"/>
            <a:ext cx="3810000" cy="25336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953000" y="2663130"/>
            <a:ext cx="6477000" cy="1093291"/>
          </a:xfrm>
          <a:prstGeom prst="roundRect">
            <a:avLst>
              <a:gd name="adj" fmla="val 52273"/>
            </a:avLst>
          </a:prstGeom>
          <a:noFill/>
          <a:ln w="9525">
            <a:solidFill>
              <a:srgbClr val="D98E5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248275" y="2863155"/>
            <a:ext cx="3429000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dirty="0">
                <a:solidFill>
                  <a:srgbClr val="D98E54"/>
                </a:solidFill>
                <a:latin typeface="Luckiest Guy" pitchFamily="34" charset="0"/>
                <a:ea typeface="Luckiest Guy" pitchFamily="34" charset="-122"/>
                <a:cs typeface="Luckiest Guy" pitchFamily="34" charset="-120"/>
              </a:rPr>
              <a:t>Aspek Visual UI sebagai Objek Hak Cipta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248275" y="3128814"/>
            <a:ext cx="5166360" cy="4297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Elemen visual seperti ikon dan tata letak dilindungi sebagai karya seni rupa. Industri menetapkan batasan ketat antara inspirasi dan modifikasi ilegal.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0563225" y="2876401"/>
            <a:ext cx="666750" cy="666750"/>
          </a:xfrm>
          <a:prstGeom prst="roundRect">
            <a:avLst>
              <a:gd name="adj" fmla="val 1371429"/>
            </a:avLst>
          </a:prstGeom>
          <a:solidFill>
            <a:srgbClr val="1A1400"/>
          </a:solidFill>
          <a:ln w="19050">
            <a:solidFill>
              <a:srgbClr val="D98E5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753725" y="3066901"/>
            <a:ext cx="285750" cy="28575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953000" y="3994547"/>
            <a:ext cx="6477000" cy="1093291"/>
          </a:xfrm>
          <a:prstGeom prst="roundRect">
            <a:avLst>
              <a:gd name="adj" fmla="val 52273"/>
            </a:avLst>
          </a:prstGeom>
          <a:noFill/>
          <a:ln w="9525">
            <a:solidFill>
              <a:srgbClr val="D98E5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5248275" y="4194572"/>
            <a:ext cx="4032504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dirty="0">
                <a:solidFill>
                  <a:srgbClr val="D98E54"/>
                </a:solidFill>
                <a:latin typeface="Luckiest Guy" pitchFamily="34" charset="0"/>
                <a:ea typeface="Luckiest Guy" pitchFamily="34" charset="-122"/>
                <a:cs typeface="Luckiest Guy" pitchFamily="34" charset="-120"/>
              </a:rPr>
              <a:t>Pelindungan Alur Pengalaman Pengguna (UX)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5248275" y="4460230"/>
            <a:ext cx="5166360" cy="4297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Pelindungan mencakup alur pengalaman pengguna yang orisinal dalam aplikasi untuk menghindari pelanggaran hak cipta atas struktur fungsional desain.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10563225" y="4207818"/>
            <a:ext cx="666750" cy="666750"/>
          </a:xfrm>
          <a:prstGeom prst="roundRect">
            <a:avLst>
              <a:gd name="adj" fmla="val 1371429"/>
            </a:avLst>
          </a:prstGeom>
          <a:solidFill>
            <a:srgbClr val="1A1400"/>
          </a:solidFill>
          <a:ln w="19050">
            <a:solidFill>
              <a:srgbClr val="D98E5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9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753725" y="4398318"/>
            <a:ext cx="285750" cy="28575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53000" y="5325963"/>
            <a:ext cx="6477000" cy="1093291"/>
          </a:xfrm>
          <a:prstGeom prst="roundRect">
            <a:avLst>
              <a:gd name="adj" fmla="val 52273"/>
            </a:avLst>
          </a:prstGeom>
          <a:noFill/>
          <a:ln w="9525">
            <a:solidFill>
              <a:srgbClr val="D98E5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5248275" y="5525988"/>
            <a:ext cx="3483864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dirty="0">
                <a:solidFill>
                  <a:srgbClr val="D98E54"/>
                </a:solidFill>
                <a:latin typeface="Luckiest Guy" pitchFamily="34" charset="0"/>
                <a:ea typeface="Luckiest Guy" pitchFamily="34" charset="-122"/>
                <a:cs typeface="Luckiest Guy" pitchFamily="34" charset="-120"/>
              </a:rPr>
              <a:t>Batasan Modifikasi dan Inspirasi Desain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5248275" y="5791646"/>
            <a:ext cx="5166360" cy="4297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Industri kreatif membedakan secara tegas antara mencari inspirasi dengan penyalinan struktur UX guna menjaga integritas karya kreatif digital.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10563225" y="5539234"/>
            <a:ext cx="666750" cy="666750"/>
          </a:xfrm>
          <a:prstGeom prst="roundRect">
            <a:avLst>
              <a:gd name="adj" fmla="val 1371429"/>
            </a:avLst>
          </a:prstGeom>
          <a:solidFill>
            <a:srgbClr val="1A1400"/>
          </a:solidFill>
          <a:ln w="19050">
            <a:solidFill>
              <a:srgbClr val="D98E5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4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753725" y="5729734"/>
            <a:ext cx="285750" cy="2857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1743075"/>
            <a:ext cx="5157216" cy="9692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Luckiest Guy" pitchFamily="34" charset="0"/>
                <a:ea typeface="Luckiest Guy" pitchFamily="34" charset="-122"/>
                <a:cs typeface="Luckiest Guy" pitchFamily="34" charset="-120"/>
              </a:rPr>
              <a:t>Hak Cipta bagi Konten Kreator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762000" y="2894558"/>
            <a:ext cx="476250" cy="19050"/>
          </a:xfrm>
          <a:prstGeom prst="rect">
            <a:avLst/>
          </a:prstGeom>
          <a:solidFill>
            <a:srgbClr val="D98E5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104108"/>
            <a:ext cx="5084064" cy="173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kern="0" spc="150" dirty="0">
                <a:solidFill>
                  <a:srgbClr val="AAAAAA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HUKUM HAK CIPTA DIGITAL DAN PELINDUNGAN KARYA KREATIF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62000" y="3751808"/>
            <a:ext cx="5221224" cy="2834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Luckiest Guy" pitchFamily="34" charset="0"/>
                <a:ea typeface="Luckiest Guy" pitchFamily="34" charset="-122"/>
                <a:cs typeface="Luckiest Guy" pitchFamily="34" charset="-120"/>
              </a:rPr>
              <a:t>Status Hukum Konten Media Sosial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62000" y="4142333"/>
            <a:ext cx="4800600" cy="9784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125" dirty="0">
                <a:solidFill>
                  <a:srgbClr val="999999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Setiap konten yang diunggah tetap dilindungi oleh Undang-Undang sebagai karya orisinal milik kreator. Pelindungan hukum ini mencakup berbagai bentuk ekspresi kreatif di platform digital modern secara otomatis sejak karya tersebut diciptakan.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6524625" y="1304330"/>
            <a:ext cx="4762500" cy="4249341"/>
          </a:xfrm>
          <a:prstGeom prst="roundRect">
            <a:avLst>
              <a:gd name="adj" fmla="val 5604"/>
            </a:avLst>
          </a:prstGeom>
          <a:noFill/>
          <a:ln w="19050">
            <a:solidFill>
              <a:srgbClr val="D98E5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829425" y="1631900"/>
            <a:ext cx="571500" cy="571500"/>
          </a:xfrm>
          <a:prstGeom prst="roundRect">
            <a:avLst>
              <a:gd name="adj" fmla="val 1600000"/>
            </a:avLst>
          </a:prstGeom>
          <a:noFill/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0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72300" y="1803350"/>
            <a:ext cx="285750" cy="228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591425" y="1608088"/>
            <a:ext cx="3429000" cy="6217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13" dirty="0">
                <a:solidFill>
                  <a:srgbClr val="999999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Status hukum konten media sosial secara resmi dilindungi UU sebagai hak eksklusif yang melekat pada diri setiap konten kreator.</a:t>
            </a:r>
            <a:endParaRPr lang="en-US" sz="1013" dirty="0"/>
          </a:p>
        </p:txBody>
      </p:sp>
      <p:sp>
        <p:nvSpPr>
          <p:cNvPr id="12" name="Text 9"/>
          <p:cNvSpPr/>
          <p:nvPr/>
        </p:nvSpPr>
        <p:spPr>
          <a:xfrm>
            <a:off x="6829425" y="2416671"/>
            <a:ext cx="4152900" cy="9525"/>
          </a:xfrm>
          <a:prstGeom prst="rect">
            <a:avLst/>
          </a:prstGeom>
          <a:solidFill>
            <a:srgbClr val="593A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829425" y="2639467"/>
            <a:ext cx="571500" cy="571500"/>
          </a:xfrm>
          <a:prstGeom prst="roundRect">
            <a:avLst>
              <a:gd name="adj" fmla="val 1600000"/>
            </a:avLst>
          </a:prstGeom>
          <a:noFill/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986588" y="2810917"/>
            <a:ext cx="257175" cy="2286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591425" y="2615654"/>
            <a:ext cx="3429000" cy="6217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13" dirty="0">
                <a:solidFill>
                  <a:srgbClr val="999999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Kepemilikan karya orisinal di platform digital diakui secara hukum untuk melindungi integritas dan nilai ekonomi dari sebuah konten kreatif.</a:t>
            </a:r>
            <a:endParaRPr lang="en-US" sz="1013" dirty="0"/>
          </a:p>
        </p:txBody>
      </p:sp>
      <p:sp>
        <p:nvSpPr>
          <p:cNvPr id="16" name="Text 12"/>
          <p:cNvSpPr/>
          <p:nvPr/>
        </p:nvSpPr>
        <p:spPr>
          <a:xfrm>
            <a:off x="6829425" y="3424238"/>
            <a:ext cx="4152900" cy="9525"/>
          </a:xfrm>
          <a:prstGeom prst="rect">
            <a:avLst/>
          </a:prstGeom>
          <a:solidFill>
            <a:srgbClr val="593A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6829425" y="3647033"/>
            <a:ext cx="571500" cy="571500"/>
          </a:xfrm>
          <a:prstGeom prst="roundRect">
            <a:avLst>
              <a:gd name="adj" fmla="val 1600000"/>
            </a:avLst>
          </a:prstGeom>
          <a:noFill/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986588" y="3818483"/>
            <a:ext cx="257175" cy="2286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591425" y="3623221"/>
            <a:ext cx="3429000" cy="6217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13" dirty="0">
                <a:solidFill>
                  <a:srgbClr val="999999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Dokumentasi proses kreatif sangat krusial sebagai bukti sah kepemilikan di ranah digital untuk mencegah klaim sepihak dari pihak lain.</a:t>
            </a:r>
            <a:endParaRPr lang="en-US" sz="1013" dirty="0"/>
          </a:p>
        </p:txBody>
      </p:sp>
      <p:sp>
        <p:nvSpPr>
          <p:cNvPr id="20" name="Text 15"/>
          <p:cNvSpPr/>
          <p:nvPr/>
        </p:nvSpPr>
        <p:spPr>
          <a:xfrm>
            <a:off x="6829425" y="4431804"/>
            <a:ext cx="4152900" cy="9525"/>
          </a:xfrm>
          <a:prstGeom prst="rect">
            <a:avLst/>
          </a:prstGeom>
          <a:solidFill>
            <a:srgbClr val="593A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6829425" y="4654600"/>
            <a:ext cx="571500" cy="571500"/>
          </a:xfrm>
          <a:prstGeom prst="roundRect">
            <a:avLst>
              <a:gd name="adj" fmla="val 1600000"/>
            </a:avLst>
          </a:prstGeom>
          <a:noFill/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2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000875" y="4826050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591425" y="4630787"/>
            <a:ext cx="3429000" cy="6217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13" dirty="0">
                <a:solidFill>
                  <a:srgbClr val="999999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Melindungi hak moral dan ekonomi melalui pemahaman hukum yang tepat guna memastikan keberlanjutan ekosistem ekonomi kreatif digital.</a:t>
            </a:r>
            <a:endParaRPr lang="en-US" sz="1013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2667000"/>
            <a:ext cx="4000500" cy="3429000"/>
          </a:xfrm>
          <a:prstGeom prst="roundRect">
            <a:avLst>
              <a:gd name="adj" fmla="val 4167"/>
            </a:avLst>
          </a:prstGeom>
          <a:noFill/>
          <a:ln w="19050">
            <a:solidFill>
              <a:srgbClr val="D98E5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19175" y="2924175"/>
            <a:ext cx="228600" cy="228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90650" y="2952750"/>
            <a:ext cx="1609344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Luckiest Guy" pitchFamily="34" charset="0"/>
                <a:ea typeface="Luckiest Guy" pitchFamily="34" charset="-122"/>
                <a:cs typeface="Luckiest Guy" pitchFamily="34" charset="-120"/>
              </a:rPr>
              <a:t>Prinsip Hak Moral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019175" y="3276600"/>
            <a:ext cx="146304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dirty="0">
                <a:solidFill>
                  <a:srgbClr val="D98E54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•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209675" y="3293790"/>
            <a:ext cx="3337560" cy="7315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Hak untuk tetap </a:t>
            </a:r>
            <a:r>
              <a:rPr lang="en-US" sz="1050" b="1" dirty="0">
                <a:solidFill>
                  <a:srgbClr val="FFFFFF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mencantumkan nama</a:t>
            </a:r>
            <a:r>
              <a:rPr lang="en-US" sz="1050" dirty="0">
                <a:solidFill>
                  <a:srgbClr val="999999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 pencipta pada setiap salinan karya yang digunakan secara publik.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019175" y="4139654"/>
            <a:ext cx="146304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dirty="0">
                <a:solidFill>
                  <a:srgbClr val="D98E54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•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209675" y="4156844"/>
            <a:ext cx="3337560" cy="7315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Hak untuk </a:t>
            </a:r>
            <a:r>
              <a:rPr lang="en-US" sz="1050" b="1" dirty="0">
                <a:solidFill>
                  <a:srgbClr val="FFFFFF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melarang perubahan</a:t>
            </a:r>
            <a:r>
              <a:rPr lang="en-US" sz="1050" dirty="0">
                <a:solidFill>
                  <a:srgbClr val="999999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 atau modifikasi karya yang dapat merusak kehormatan atau reputasi pencipta.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143500" y="2667000"/>
            <a:ext cx="6286500" cy="1524000"/>
          </a:xfrm>
          <a:prstGeom prst="roundRect">
            <a:avLst>
              <a:gd name="adj" fmla="val 9375"/>
            </a:avLst>
          </a:prstGeom>
          <a:noFill/>
          <a:ln w="19050">
            <a:solidFill>
              <a:srgbClr val="D98E5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400675" y="3068985"/>
            <a:ext cx="5934456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Luckiest Guy" pitchFamily="34" charset="0"/>
                <a:ea typeface="Luckiest Guy" pitchFamily="34" charset="-122"/>
                <a:cs typeface="Luckiest Guy" pitchFamily="34" charset="-120"/>
              </a:rPr>
              <a:t>Sifat Perlindungan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400675" y="3333750"/>
            <a:ext cx="580644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Berbeda dengan hak ekonomi, hak moral memiliki sifat yang </a:t>
            </a:r>
            <a:r>
              <a:rPr lang="en-US" sz="1050" b="1" dirty="0">
                <a:solidFill>
                  <a:srgbClr val="FFFFFF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kekal</a:t>
            </a:r>
            <a:r>
              <a:rPr lang="en-US" sz="1050" dirty="0">
                <a:solidFill>
                  <a:srgbClr val="999999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 dan secara hukum </a:t>
            </a:r>
            <a:r>
              <a:rPr lang="en-US" sz="1050" b="1" dirty="0">
                <a:solidFill>
                  <a:srgbClr val="FFFFFF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tidak dapat dialihkan</a:t>
            </a:r>
            <a:r>
              <a:rPr lang="en-US" sz="1050" dirty="0">
                <a:solidFill>
                  <a:srgbClr val="999999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 selama pencipta masih hidup atau sesuai regulasi.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143500" y="4572000"/>
            <a:ext cx="6286500" cy="1524000"/>
          </a:xfrm>
          <a:prstGeom prst="roundRect">
            <a:avLst>
              <a:gd name="adj" fmla="val 9375"/>
            </a:avLst>
          </a:prstGeom>
          <a:noFill/>
          <a:ln w="19050">
            <a:solidFill>
              <a:srgbClr val="D98E5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400675" y="4973985"/>
            <a:ext cx="5934456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Luckiest Guy" pitchFamily="34" charset="0"/>
                <a:ea typeface="Luckiest Guy" pitchFamily="34" charset="-122"/>
                <a:cs typeface="Luckiest Guy" pitchFamily="34" charset="-120"/>
              </a:rPr>
              <a:t>Tujuan Utama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400675" y="5238750"/>
            <a:ext cx="580644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Menjamin integritas karya kreatif dan melindungi hubungan emosional serta profesional antara </a:t>
            </a:r>
            <a:r>
              <a:rPr lang="en-US" sz="1050" b="1" dirty="0">
                <a:solidFill>
                  <a:srgbClr val="FFFFFF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pencipta dan karyanya</a:t>
            </a:r>
            <a:r>
              <a:rPr lang="en-US" sz="1050" dirty="0">
                <a:solidFill>
                  <a:srgbClr val="999999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 di era transformasi digital saat ini.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62000" y="762000"/>
            <a:ext cx="10991088" cy="4480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Luckiest Guy" pitchFamily="34" charset="0"/>
                <a:ea typeface="Luckiest Guy" pitchFamily="34" charset="-122"/>
                <a:cs typeface="Luckiest Guy" pitchFamily="34" charset="-120"/>
              </a:rPr>
              <a:t>Hukum Hak Cipta Digital</a:t>
            </a:r>
            <a:endParaRPr lang="en-US" sz="3150" dirty="0"/>
          </a:p>
        </p:txBody>
      </p:sp>
      <p:sp>
        <p:nvSpPr>
          <p:cNvPr id="17" name="Text 14"/>
          <p:cNvSpPr/>
          <p:nvPr/>
        </p:nvSpPr>
        <p:spPr>
          <a:xfrm>
            <a:off x="762000" y="1352550"/>
            <a:ext cx="476250" cy="19050"/>
          </a:xfrm>
          <a:prstGeom prst="rect">
            <a:avLst/>
          </a:prstGeom>
          <a:solidFill>
            <a:srgbClr val="D98E5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762000" y="1562100"/>
            <a:ext cx="10707624" cy="173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kern="0" spc="220" dirty="0">
                <a:solidFill>
                  <a:srgbClr val="AAAAAA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PELINDUNGAN KARYA KREATIF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62000" y="2019300"/>
            <a:ext cx="10954512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Luckiest Guy" pitchFamily="34" charset="0"/>
                <a:ea typeface="Luckiest Guy" pitchFamily="34" charset="-122"/>
                <a:cs typeface="Luckiest Guy" pitchFamily="34" charset="-120"/>
              </a:rPr>
              <a:t>Memahami Hak Moral Pencipta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0809" y="760958"/>
            <a:ext cx="4910328" cy="9692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Luckiest Guy" pitchFamily="34" charset="0"/>
                <a:ea typeface="Luckiest Guy" pitchFamily="34" charset="-122"/>
                <a:cs typeface="Luckiest Guy" pitchFamily="34" charset="-120"/>
              </a:rPr>
              <a:t>Memahami Hak Ekonomi Pencipta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762000" y="1912441"/>
            <a:ext cx="476250" cy="19050"/>
          </a:xfrm>
          <a:prstGeom prst="rect">
            <a:avLst/>
          </a:prstGeom>
          <a:solidFill>
            <a:srgbClr val="D98E5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0809" y="2121991"/>
            <a:ext cx="4846320" cy="347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kern="0" spc="150" dirty="0">
                <a:solidFill>
                  <a:srgbClr val="AAAAAA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HUKUM HAK CIPTA DIGITAL DAN PELINDUNGAN KARYA KREATIF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60809" y="3036391"/>
            <a:ext cx="4956048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Luckiest Guy" pitchFamily="34" charset="0"/>
                <a:ea typeface="Luckiest Guy" pitchFamily="34" charset="-122"/>
                <a:cs typeface="Luckiest Guy" pitchFamily="34" charset="-120"/>
              </a:rPr>
              <a:t>Distribusi Pemanfaatan Digital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62000" y="3379291"/>
            <a:ext cx="114300" cy="114300"/>
          </a:xfrm>
          <a:prstGeom prst="roundRect">
            <a:avLst>
              <a:gd name="adj" fmla="val 960000"/>
            </a:avLst>
          </a:prstGeom>
          <a:solidFill>
            <a:srgbClr val="D98E5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62000" y="3379291"/>
            <a:ext cx="155448" cy="14630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52500" y="3350716"/>
            <a:ext cx="1051560" cy="173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dirty="0">
                <a:solidFill>
                  <a:srgbClr val="AAAAAA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Komersial Digital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152650" y="3379291"/>
            <a:ext cx="114300" cy="114300"/>
          </a:xfrm>
          <a:prstGeom prst="roundRect">
            <a:avLst>
              <a:gd name="adj" fmla="val 960000"/>
            </a:avLst>
          </a:prstGeom>
          <a:solidFill>
            <a:srgbClr val="6666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152650" y="3379291"/>
            <a:ext cx="155448" cy="14630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343150" y="3350716"/>
            <a:ext cx="950976" cy="173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dirty="0">
                <a:solidFill>
                  <a:srgbClr val="AAAAAA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Non-Komersial</a:t>
            </a:r>
            <a:endParaRPr lang="en-US" sz="1050" dirty="0"/>
          </a:p>
        </p:txBody>
      </p:sp>
      <p:pic>
        <p:nvPicPr>
          <p:cNvPr id="13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2000" y="3712666"/>
            <a:ext cx="3048000" cy="30480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141244" y="1826121"/>
            <a:ext cx="5288756" cy="3870424"/>
          </a:xfrm>
          <a:prstGeom prst="roundRect">
            <a:avLst>
              <a:gd name="adj" fmla="val 6152"/>
            </a:avLst>
          </a:prstGeom>
          <a:solidFill>
            <a:srgbClr val="000000"/>
          </a:solidFill>
          <a:ln w="19050">
            <a:solidFill>
              <a:srgbClr val="D98E5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493669" y="2258467"/>
            <a:ext cx="571500" cy="571500"/>
          </a:xfrm>
          <a:prstGeom prst="roundRect">
            <a:avLst>
              <a:gd name="adj" fmla="val 1600000"/>
            </a:avLst>
          </a:prstGeom>
          <a:noFill/>
          <a:ln w="19050">
            <a:solidFill>
              <a:srgbClr val="D98E5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646069" y="2410867"/>
            <a:ext cx="266700" cy="2667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256859" y="2177504"/>
            <a:ext cx="3858768" cy="7406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999999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Hak eksklusif untuk mendapatkan imbalan finansial secara sah atas setiap penggunaan karya oleh pihak lain.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493669" y="3148013"/>
            <a:ext cx="4583906" cy="9525"/>
          </a:xfrm>
          <a:prstGeom prst="rect">
            <a:avLst/>
          </a:prstGeom>
          <a:solidFill>
            <a:srgbClr val="D98E54">
              <a:alpha val="3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6493669" y="3475583"/>
            <a:ext cx="571500" cy="571500"/>
          </a:xfrm>
          <a:prstGeom prst="roundRect">
            <a:avLst>
              <a:gd name="adj" fmla="val 1600000"/>
            </a:avLst>
          </a:prstGeom>
          <a:noFill/>
          <a:ln w="19050">
            <a:solidFill>
              <a:srgbClr val="D98E5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0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627019" y="3627983"/>
            <a:ext cx="304800" cy="2667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256859" y="3394621"/>
            <a:ext cx="3858768" cy="7406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999999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Mencakup berbagai jenis hak ekonomi seperti penerbitan, penggandaan, serta pendistribusian karya secara luas.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493669" y="4365129"/>
            <a:ext cx="4583906" cy="9525"/>
          </a:xfrm>
          <a:prstGeom prst="rect">
            <a:avLst/>
          </a:prstGeom>
          <a:solidFill>
            <a:srgbClr val="D98E54">
              <a:alpha val="3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6493669" y="4692700"/>
            <a:ext cx="571500" cy="571500"/>
          </a:xfrm>
          <a:prstGeom prst="roundRect">
            <a:avLst>
              <a:gd name="adj" fmla="val 1600000"/>
            </a:avLst>
          </a:prstGeom>
          <a:noFill/>
          <a:ln w="19050">
            <a:solidFill>
              <a:srgbClr val="D98E5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4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646069" y="4845100"/>
            <a:ext cx="266700" cy="2667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256859" y="4611737"/>
            <a:ext cx="3858768" cy="7406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999999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Fokus utama pada pemanfaatan karya untuk tujuan komersial yang dilakukan sepenuhnya di ranah digital saat ini.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2667000"/>
            <a:ext cx="4000500" cy="2764334"/>
          </a:xfrm>
          <a:prstGeom prst="roundRect">
            <a:avLst>
              <a:gd name="adj" fmla="val 5169"/>
            </a:avLst>
          </a:prstGeom>
          <a:solidFill>
            <a:srgbClr val="000000"/>
          </a:solidFill>
          <a:ln w="19050">
            <a:solidFill>
              <a:srgbClr val="D98E5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76325" y="2924175"/>
            <a:ext cx="114300" cy="114300"/>
          </a:xfrm>
          <a:prstGeom prst="roundRect">
            <a:avLst>
              <a:gd name="adj" fmla="val 960000"/>
            </a:avLst>
          </a:prstGeom>
          <a:solidFill>
            <a:srgbClr val="D98E5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19175" y="3067050"/>
            <a:ext cx="228600" cy="209550"/>
          </a:xfrm>
          <a:prstGeom prst="roundRect">
            <a:avLst>
              <a:gd name="adj" fmla="val 54545"/>
            </a:avLst>
          </a:prstGeom>
          <a:solidFill>
            <a:srgbClr val="D98E5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390650" y="3028950"/>
            <a:ext cx="2688336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Luckiest Guy" pitchFamily="34" charset="0"/>
                <a:ea typeface="Luckiest Guy" pitchFamily="34" charset="-122"/>
                <a:cs typeface="Luckiest Guy" pitchFamily="34" charset="-120"/>
              </a:rPr>
              <a:t>Ketentuan Umum Pelindungan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19175" y="3429000"/>
            <a:ext cx="146304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dirty="0">
                <a:solidFill>
                  <a:srgbClr val="D98E54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•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62050" y="3449985"/>
            <a:ext cx="3383280" cy="48463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Masa berlaku hak cipta seumur hidup ditambah 70 tahun setelah wafat sesuai UU No. 28 Tahun 2014.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19175" y="4004370"/>
            <a:ext cx="146304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dirty="0">
                <a:solidFill>
                  <a:srgbClr val="D98E54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•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62050" y="4025354"/>
            <a:ext cx="3383280" cy="48463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Durasi pelindungan khusus untuk karya program komputer dan sinematografi selama 50 tahun.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19175" y="4579739"/>
            <a:ext cx="146304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dirty="0">
                <a:solidFill>
                  <a:srgbClr val="D98E54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•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62050" y="4600724"/>
            <a:ext cx="3383280" cy="48463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Ketentuan durasi untuk karya seni terapan berlaku selama 25 tahun sejak pengumuman.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238750" y="2286000"/>
            <a:ext cx="2667000" cy="1905000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8750" y="2286000"/>
            <a:ext cx="2667000" cy="19050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096250" y="2286000"/>
            <a:ext cx="3333750" cy="1905000"/>
          </a:xfrm>
          <a:prstGeom prst="roundRect">
            <a:avLst>
              <a:gd name="adj" fmla="val 7500"/>
            </a:avLst>
          </a:prstGeom>
          <a:solidFill>
            <a:srgbClr val="000000"/>
          </a:solidFill>
          <a:ln w="19050">
            <a:solidFill>
              <a:srgbClr val="D98E5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8353425" y="2543175"/>
            <a:ext cx="2926080" cy="201168"/>
          </a:xfrm>
          <a:prstGeom prst="rect">
            <a:avLst/>
          </a:prstGeom>
          <a:noFill/>
          <a:ln/>
        </p:spPr>
        <p:txBody>
          <a:bodyPr vert="horz" wrap="none" lIns="0" tIns="0" rIns="19050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Luckiest Guy" pitchFamily="34" charset="0"/>
                <a:ea typeface="Luckiest Guy" pitchFamily="34" charset="-122"/>
                <a:cs typeface="Luckiest Guy" pitchFamily="34" charset="-120"/>
              </a:rPr>
              <a:t>Pelindungan Seumur Hidup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8353425" y="2810768"/>
            <a:ext cx="2852928" cy="90525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Berdasarkan UU Hak Cipta, pelindungan berlaku selama masa hidup pencipta hingga 70 tahun setelah meninggal dunia untuk karya kreatif standar.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238750" y="4476750"/>
            <a:ext cx="2667000" cy="1905000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9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238750" y="4476750"/>
            <a:ext cx="2667000" cy="19050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096250" y="4476750"/>
            <a:ext cx="3333750" cy="1905000"/>
          </a:xfrm>
          <a:prstGeom prst="roundRect">
            <a:avLst>
              <a:gd name="adj" fmla="val 7500"/>
            </a:avLst>
          </a:prstGeom>
          <a:solidFill>
            <a:srgbClr val="000000"/>
          </a:solidFill>
          <a:ln w="19050">
            <a:solidFill>
              <a:srgbClr val="D98E5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8353425" y="4733925"/>
            <a:ext cx="2926080" cy="201168"/>
          </a:xfrm>
          <a:prstGeom prst="rect">
            <a:avLst/>
          </a:prstGeom>
          <a:noFill/>
          <a:ln/>
        </p:spPr>
        <p:txBody>
          <a:bodyPr vert="horz" wrap="none" lIns="0" tIns="0" rIns="19050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Luckiest Guy" pitchFamily="34" charset="0"/>
                <a:ea typeface="Luckiest Guy" pitchFamily="34" charset="-122"/>
                <a:cs typeface="Luckiest Guy" pitchFamily="34" charset="-120"/>
              </a:rPr>
              <a:t>Karya Digital &amp; Fotografi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8353425" y="5001518"/>
            <a:ext cx="2852928" cy="90525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Program komputer, sinematografi, dan fotografi dilindungi 50 tahun sejak pengumuman, sementara seni terapan memiliki durasi 25 tahun.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762000" y="762000"/>
            <a:ext cx="6885432" cy="5120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432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Luckiest Guy" pitchFamily="34" charset="0"/>
                <a:ea typeface="Luckiest Guy" pitchFamily="34" charset="-122"/>
                <a:cs typeface="Luckiest Guy" pitchFamily="34" charset="-120"/>
              </a:rPr>
              <a:t>Durasi Pelindungan Hak Cipta</a:t>
            </a:r>
            <a:endParaRPr lang="en-US" sz="3600" dirty="0"/>
          </a:p>
        </p:txBody>
      </p:sp>
      <p:sp>
        <p:nvSpPr>
          <p:cNvPr id="24" name="Text 20"/>
          <p:cNvSpPr/>
          <p:nvPr/>
        </p:nvSpPr>
        <p:spPr>
          <a:xfrm>
            <a:off x="762000" y="1409700"/>
            <a:ext cx="476250" cy="19050"/>
          </a:xfrm>
          <a:prstGeom prst="rect">
            <a:avLst/>
          </a:prstGeom>
          <a:solidFill>
            <a:srgbClr val="D98E5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762000" y="1619250"/>
            <a:ext cx="6665976" cy="173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kern="0" spc="220" dirty="0">
                <a:solidFill>
                  <a:srgbClr val="AAAAAA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HUKUM HAK CIPTA DIGITAL DAN PELINDUNGAN KARYA KREATIF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2667000"/>
            <a:ext cx="4000500" cy="3429000"/>
          </a:xfrm>
          <a:prstGeom prst="roundRect">
            <a:avLst>
              <a:gd name="adj" fmla="val 4167"/>
            </a:avLst>
          </a:prstGeom>
          <a:noFill/>
          <a:ln w="19050">
            <a:solidFill>
              <a:srgbClr val="D98E5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76325" y="2924175"/>
            <a:ext cx="114300" cy="114300"/>
          </a:xfrm>
          <a:prstGeom prst="roundRect">
            <a:avLst>
              <a:gd name="adj" fmla="val 960000"/>
            </a:avLst>
          </a:prstGeom>
          <a:solidFill>
            <a:srgbClr val="D98E5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19175" y="3067050"/>
            <a:ext cx="228600" cy="209550"/>
          </a:xfrm>
          <a:prstGeom prst="roundRect">
            <a:avLst>
              <a:gd name="adj" fmla="val 54545"/>
            </a:avLst>
          </a:prstGeom>
          <a:solidFill>
            <a:srgbClr val="D98E5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390650" y="3028950"/>
            <a:ext cx="2002536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Luckiest Guy" pitchFamily="34" charset="0"/>
                <a:ea typeface="Luckiest Guy" pitchFamily="34" charset="-122"/>
                <a:cs typeface="Luckiest Guy" pitchFamily="34" charset="-120"/>
              </a:rPr>
              <a:t>Copyright Assignment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19175" y="3429000"/>
            <a:ext cx="146304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dirty="0">
                <a:solidFill>
                  <a:srgbClr val="D98E54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•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09675" y="3446190"/>
            <a:ext cx="3337560" cy="7315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Mekanisme ini mencakup </a:t>
            </a:r>
            <a:r>
              <a:rPr lang="en-US" sz="1050" b="1" dirty="0">
                <a:solidFill>
                  <a:srgbClr val="FFFFFF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pengalihan hak eksklusif</a:t>
            </a:r>
            <a:r>
              <a:rPr lang="en-US" sz="1050" dirty="0">
                <a:solidFill>
                  <a:srgbClr val="999999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 secara penuh dari pencipta kepada pihak lain dalam ekosistem digital.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19175" y="4292054"/>
            <a:ext cx="146304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dirty="0">
                <a:solidFill>
                  <a:srgbClr val="D98E54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•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09675" y="4309244"/>
            <a:ext cx="3337560" cy="7315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Memahami </a:t>
            </a:r>
            <a:r>
              <a:rPr lang="en-US" sz="1050" b="1" dirty="0">
                <a:solidFill>
                  <a:srgbClr val="FFFFFF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perbedaan mendasar</a:t>
            </a:r>
            <a:r>
              <a:rPr lang="en-US" sz="1050" dirty="0">
                <a:solidFill>
                  <a:srgbClr val="999999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 antara menjual seluruh hak karya secara permanen dengan hanya memberikan izin penggunaan.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143500" y="2667000"/>
            <a:ext cx="6286500" cy="1524000"/>
          </a:xfrm>
          <a:prstGeom prst="roundRect">
            <a:avLst>
              <a:gd name="adj" fmla="val 9375"/>
            </a:avLst>
          </a:prstGeom>
          <a:noFill/>
          <a:ln w="19050">
            <a:solidFill>
              <a:srgbClr val="D98E5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400675" y="3068985"/>
            <a:ext cx="5934456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Luckiest Guy" pitchFamily="34" charset="0"/>
                <a:ea typeface="Luckiest Guy" pitchFamily="34" charset="-122"/>
                <a:cs typeface="Luckiest Guy" pitchFamily="34" charset="-120"/>
              </a:rPr>
              <a:t>Perjanjian Lisensi Digital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00675" y="3333750"/>
            <a:ext cx="580644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Memberikan izin penggunaan </a:t>
            </a:r>
            <a:r>
              <a:rPr lang="en-US" sz="1050" b="1" dirty="0">
                <a:solidFill>
                  <a:srgbClr val="FFFFFF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karya digital secara terbatas</a:t>
            </a:r>
            <a:r>
              <a:rPr lang="en-US" sz="1050" dirty="0">
                <a:solidFill>
                  <a:srgbClr val="999999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. Pemegang hak tetap memegang kendali penuh tanpa harus melepas hak cipta aslinya.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143500" y="4572000"/>
            <a:ext cx="6286500" cy="1524000"/>
          </a:xfrm>
          <a:prstGeom prst="roundRect">
            <a:avLst>
              <a:gd name="adj" fmla="val 9375"/>
            </a:avLst>
          </a:prstGeom>
          <a:noFill/>
          <a:ln w="19050">
            <a:solidFill>
              <a:srgbClr val="D98E5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400675" y="4973985"/>
            <a:ext cx="5934456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Luckiest Guy" pitchFamily="34" charset="0"/>
                <a:ea typeface="Luckiest Guy" pitchFamily="34" charset="-122"/>
                <a:cs typeface="Luckiest Guy" pitchFamily="34" charset="-120"/>
              </a:rPr>
              <a:t>Pemanfaatan Ekosistem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00675" y="5238750"/>
            <a:ext cx="580644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Penting bagi kreator untuk mengidentifikasi apakah mereka melakukan </a:t>
            </a:r>
            <a:r>
              <a:rPr lang="en-US" sz="1050" b="1" dirty="0">
                <a:solidFill>
                  <a:srgbClr val="FFFFFF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penjualan hak sepenuhnya</a:t>
            </a:r>
            <a:r>
              <a:rPr lang="en-US" sz="1050" dirty="0">
                <a:solidFill>
                  <a:srgbClr val="999999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 atau sekadar </a:t>
            </a:r>
            <a:r>
              <a:rPr lang="en-US" sz="1050" b="1" dirty="0">
                <a:solidFill>
                  <a:srgbClr val="FFFFFF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izin pakai</a:t>
            </a:r>
            <a:r>
              <a:rPr lang="en-US" sz="1050" dirty="0">
                <a:solidFill>
                  <a:srgbClr val="999999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 guna melindungi nilai ekonomi karya.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62000" y="760958"/>
            <a:ext cx="8677656" cy="9692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Luckiest Guy" pitchFamily="34" charset="0"/>
                <a:ea typeface="Luckiest Guy" pitchFamily="34" charset="-122"/>
                <a:cs typeface="Luckiest Guy" pitchFamily="34" charset="-120"/>
              </a:rPr>
              <a:t>Hukum Hak Cipta Digital dan Pelindungan Karya Kreatif</a:t>
            </a:r>
            <a:endParaRPr lang="en-US" sz="3150" dirty="0"/>
          </a:p>
        </p:txBody>
      </p:sp>
      <p:sp>
        <p:nvSpPr>
          <p:cNvPr id="18" name="Text 16"/>
          <p:cNvSpPr/>
          <p:nvPr/>
        </p:nvSpPr>
        <p:spPr>
          <a:xfrm>
            <a:off x="762000" y="1912441"/>
            <a:ext cx="476250" cy="19050"/>
          </a:xfrm>
          <a:prstGeom prst="rect">
            <a:avLst/>
          </a:prstGeom>
          <a:solidFill>
            <a:srgbClr val="D98E5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62000" y="2121991"/>
            <a:ext cx="8613648" cy="173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kern="0" spc="220" dirty="0">
                <a:solidFill>
                  <a:srgbClr val="AAAAAA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MEKANISME PERLINDUNGAN ASET DIGITAL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62000" y="2579191"/>
            <a:ext cx="8814816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Luckiest Guy" pitchFamily="34" charset="0"/>
                <a:ea typeface="Luckiest Guy" pitchFamily="34" charset="-122"/>
                <a:cs typeface="Luckiest Guy" pitchFamily="34" charset="-120"/>
              </a:rPr>
              <a:t>Pengalihan Hak dan Lisensi Digital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762000"/>
            <a:ext cx="10981944" cy="5120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Luckiest Guy" pitchFamily="34" charset="0"/>
                <a:ea typeface="Luckiest Guy" pitchFamily="34" charset="-122"/>
                <a:cs typeface="Luckiest Guy" pitchFamily="34" charset="-120"/>
              </a:rPr>
              <a:t>Hukum Hak Cipta Digital dan Pelindungan Karya Kreatif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62000" y="1471613"/>
            <a:ext cx="476250" cy="9525"/>
          </a:xfrm>
          <a:prstGeom prst="rect">
            <a:avLst/>
          </a:prstGeom>
          <a:solidFill>
            <a:srgbClr val="D98E5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381125" y="1362075"/>
            <a:ext cx="341071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kern="0" spc="300" dirty="0">
                <a:solidFill>
                  <a:srgbClr val="AAAAAA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REGULASI EKOSISTEM DIGITAL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886325" y="1471613"/>
            <a:ext cx="476250" cy="9525"/>
          </a:xfrm>
          <a:prstGeom prst="rect">
            <a:avLst/>
          </a:prstGeom>
          <a:solidFill>
            <a:srgbClr val="D98E5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54653" y="2066925"/>
            <a:ext cx="10954512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Luckiest Guy" pitchFamily="34" charset="0"/>
                <a:ea typeface="Luckiest Guy" pitchFamily="34" charset="-122"/>
                <a:cs typeface="Luckiest Guy" pitchFamily="34" charset="-120"/>
              </a:rPr>
              <a:t>Penegakan Hukum dan Pemblokiran Situs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62000" y="2714625"/>
            <a:ext cx="5191125" cy="1162050"/>
          </a:xfrm>
          <a:prstGeom prst="roundRect">
            <a:avLst>
              <a:gd name="adj" fmla="val 49180"/>
            </a:avLst>
          </a:prstGeom>
          <a:noFill/>
          <a:ln w="9525">
            <a:solidFill>
              <a:srgbClr val="D98E5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057275" y="2976488"/>
            <a:ext cx="3785616" cy="6400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DJKI mengambil tindakan tegas dengan memblokir 1.004 situs bajakan untuk memperkuat sistem pelindungan ekosistem digital nasional secara menyeluruh.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991100" y="2914650"/>
            <a:ext cx="762000" cy="762000"/>
          </a:xfrm>
          <a:prstGeom prst="roundRect">
            <a:avLst>
              <a:gd name="adj" fmla="val 1200000"/>
            </a:avLst>
          </a:prstGeom>
          <a:solidFill>
            <a:srgbClr val="1A1410"/>
          </a:solidFill>
          <a:ln w="19050">
            <a:solidFill>
              <a:srgbClr val="D98E5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19700" y="3143250"/>
            <a:ext cx="304800" cy="3048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238875" y="2714625"/>
            <a:ext cx="5191125" cy="1162050"/>
          </a:xfrm>
          <a:prstGeom prst="roundRect">
            <a:avLst>
              <a:gd name="adj" fmla="val 49180"/>
            </a:avLst>
          </a:prstGeom>
          <a:noFill/>
          <a:ln w="9525">
            <a:solidFill>
              <a:srgbClr val="D98E5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534150" y="2976488"/>
            <a:ext cx="3785616" cy="6400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Pemerintah aktif membahas regulasi AI dan kebijakan hak cipta bersama platform global guna memastikan keamanan konten di ruang digital Indonesia.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0467975" y="2914650"/>
            <a:ext cx="762000" cy="762000"/>
          </a:xfrm>
          <a:prstGeom prst="roundRect">
            <a:avLst>
              <a:gd name="adj" fmla="val 1200000"/>
            </a:avLst>
          </a:prstGeom>
          <a:solidFill>
            <a:srgbClr val="1A1410"/>
          </a:solidFill>
          <a:ln w="19050">
            <a:solidFill>
              <a:srgbClr val="D98E5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5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696575" y="3143250"/>
            <a:ext cx="304800" cy="3048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62000" y="4162425"/>
            <a:ext cx="5191125" cy="1162050"/>
          </a:xfrm>
          <a:prstGeom prst="roundRect">
            <a:avLst>
              <a:gd name="adj" fmla="val 49180"/>
            </a:avLst>
          </a:prstGeom>
          <a:noFill/>
          <a:ln w="9525">
            <a:solidFill>
              <a:srgbClr val="D98E5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1057275" y="4424288"/>
            <a:ext cx="3785616" cy="6400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Terdapat konsekuensi hukum yang berat bagi pengelola platform konten ilegal yang melanggar aturan distribusi karya kreatif di wilayah hukum Indonesia.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4991100" y="4362450"/>
            <a:ext cx="762000" cy="762000"/>
          </a:xfrm>
          <a:prstGeom prst="roundRect">
            <a:avLst>
              <a:gd name="adj" fmla="val 1200000"/>
            </a:avLst>
          </a:prstGeom>
          <a:solidFill>
            <a:srgbClr val="1A1410"/>
          </a:solidFill>
          <a:ln w="19050">
            <a:solidFill>
              <a:srgbClr val="D98E5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9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181600" y="4591050"/>
            <a:ext cx="381000" cy="3048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38875" y="4162425"/>
            <a:ext cx="5191125" cy="1162050"/>
          </a:xfrm>
          <a:prstGeom prst="roundRect">
            <a:avLst>
              <a:gd name="adj" fmla="val 49180"/>
            </a:avLst>
          </a:prstGeom>
          <a:noFill/>
          <a:ln w="9525">
            <a:solidFill>
              <a:srgbClr val="D98E5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6534150" y="4424288"/>
            <a:ext cx="3785616" cy="6400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Langkah penegakan ini bertujuan meningkatkan kepercayaan kreator lokal dan menjaga keberlanjutan ekonomi kreatif berbasis digital di masa depan.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10467975" y="4362450"/>
            <a:ext cx="762000" cy="762000"/>
          </a:xfrm>
          <a:prstGeom prst="roundRect">
            <a:avLst>
              <a:gd name="adj" fmla="val 1200000"/>
            </a:avLst>
          </a:prstGeom>
          <a:solidFill>
            <a:srgbClr val="1A1410"/>
          </a:solidFill>
          <a:ln w="19050">
            <a:solidFill>
              <a:srgbClr val="D98E5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3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696575" y="4591050"/>
            <a:ext cx="3048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97230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57250" y="2000250"/>
            <a:ext cx="10762488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Luckiest Guy" pitchFamily="34" charset="0"/>
                <a:ea typeface="Luckiest Guy" pitchFamily="34" charset="-122"/>
                <a:cs typeface="Luckiest Guy" pitchFamily="34" charset="-120"/>
              </a:rPr>
              <a:t>Studi Kasus Pelanggaran Konten Kreator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57250" y="2552700"/>
            <a:ext cx="3810000" cy="1733550"/>
          </a:xfrm>
          <a:prstGeom prst="roundRect">
            <a:avLst>
              <a:gd name="adj" fmla="val 8242"/>
            </a:avLst>
          </a:prstGeom>
          <a:solidFill>
            <a:srgbClr val="1A1A1A"/>
          </a:solidFill>
          <a:ln w="9525">
            <a:solidFill>
              <a:srgbClr val="D98E5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Image 0" descr="image.png"/>
          <p:cNvPicPr>
            <a:picLocks noChangeAspect="1"/>
          </p:cNvPicPr>
          <p:nvPr/>
        </p:nvPicPr>
        <p:blipFill>
          <a:blip r:embed="rId3"/>
          <a:srcRect b="19598"/>
          <a:stretch/>
        </p:blipFill>
        <p:spPr>
          <a:xfrm>
            <a:off x="866775" y="2562225"/>
            <a:ext cx="3790950" cy="1714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6775" y="3962400"/>
            <a:ext cx="3790950" cy="314325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866775" y="3962400"/>
            <a:ext cx="3822192" cy="320040"/>
          </a:xfrm>
          <a:prstGeom prst="rect">
            <a:avLst/>
          </a:prstGeom>
          <a:noFill/>
          <a:ln/>
        </p:spPr>
        <p:txBody>
          <a:bodyPr vert="horz" wrap="square" lIns="142875" tIns="76200" rIns="142875" bIns="76200" rtlCol="0" anchor="t"/>
          <a:lstStyle/>
          <a:p>
            <a:pPr marL="0" indent="0" algn="ctr">
              <a:lnSpc>
                <a:spcPts val="117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Analisis Fenomena Re-upload Ilegal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857250" y="4524375"/>
            <a:ext cx="3810000" cy="1733550"/>
          </a:xfrm>
          <a:prstGeom prst="roundRect">
            <a:avLst>
              <a:gd name="adj" fmla="val 8242"/>
            </a:avLst>
          </a:prstGeom>
          <a:solidFill>
            <a:srgbClr val="1A1A1A"/>
          </a:solidFill>
          <a:ln w="9525">
            <a:solidFill>
              <a:srgbClr val="D98E5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" name="Image 1" descr="image.png"/>
          <p:cNvPicPr>
            <a:picLocks noChangeAspect="1"/>
          </p:cNvPicPr>
          <p:nvPr/>
        </p:nvPicPr>
        <p:blipFill>
          <a:blip r:embed="rId4"/>
          <a:srcRect b="54774"/>
          <a:stretch/>
        </p:blipFill>
        <p:spPr>
          <a:xfrm>
            <a:off x="866775" y="4533900"/>
            <a:ext cx="3790950" cy="17145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6775" y="5934075"/>
            <a:ext cx="3790950" cy="314325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866775" y="5934075"/>
            <a:ext cx="3822192" cy="320040"/>
          </a:xfrm>
          <a:prstGeom prst="rect">
            <a:avLst/>
          </a:prstGeom>
          <a:noFill/>
          <a:ln/>
        </p:spPr>
        <p:txBody>
          <a:bodyPr vert="horz" wrap="square" lIns="142875" tIns="76200" rIns="142875" bIns="76200" rtlCol="0" anchor="t"/>
          <a:lstStyle/>
          <a:p>
            <a:pPr marL="0" indent="0" algn="ctr">
              <a:lnSpc>
                <a:spcPts val="117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Pelindungan Hak Cipta Lagu Viral</a:t>
            </a:r>
            <a:endParaRPr lang="en-US" sz="975" dirty="0"/>
          </a:p>
        </p:txBody>
      </p:sp>
      <p:sp>
        <p:nvSpPr>
          <p:cNvPr id="12" name="Text 8"/>
          <p:cNvSpPr/>
          <p:nvPr/>
        </p:nvSpPr>
        <p:spPr>
          <a:xfrm>
            <a:off x="5143500" y="2552700"/>
            <a:ext cx="6382512" cy="283464"/>
          </a:xfrm>
          <a:prstGeom prst="rect">
            <a:avLst/>
          </a:prstGeom>
          <a:noFill/>
          <a:ln/>
        </p:spPr>
        <p:txBody>
          <a:bodyPr vert="horz" wrap="none" lIns="0" tIns="0" rIns="28575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950" dirty="0">
                <a:solidFill>
                  <a:srgbClr val="D98E54"/>
                </a:solidFill>
                <a:latin typeface="Luckiest Guy" pitchFamily="34" charset="0"/>
                <a:ea typeface="Luckiest Guy" pitchFamily="34" charset="-122"/>
                <a:cs typeface="Luckiest Guy" pitchFamily="34" charset="-120"/>
              </a:rPr>
              <a:t>Analisis Re-upload Ilegal </a:t>
            </a:r>
            <a:endParaRPr lang="en-US" sz="1950" dirty="0"/>
          </a:p>
        </p:txBody>
      </p:sp>
      <p:sp>
        <p:nvSpPr>
          <p:cNvPr id="13" name="Text 9"/>
          <p:cNvSpPr/>
          <p:nvPr/>
        </p:nvSpPr>
        <p:spPr>
          <a:xfrm>
            <a:off x="5143500" y="2941141"/>
            <a:ext cx="6236208" cy="7863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200" dirty="0">
                <a:solidFill>
                  <a:srgbClr val="999999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Fenomena re-upload tanpa izin di TikTok dan Instagram melanggar hukum hak cipta digital. Tindakan pembajakan konten ini merugikan kreator asli secara ekonomi serta melanggar hak moral pemilik karya.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143500" y="3910608"/>
            <a:ext cx="6382512" cy="283464"/>
          </a:xfrm>
          <a:prstGeom prst="rect">
            <a:avLst/>
          </a:prstGeom>
          <a:noFill/>
          <a:ln/>
        </p:spPr>
        <p:txBody>
          <a:bodyPr vert="horz" wrap="none" lIns="0" tIns="0" rIns="28575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950" dirty="0">
                <a:solidFill>
                  <a:srgbClr val="D98E54"/>
                </a:solidFill>
                <a:latin typeface="Luckiest Guy" pitchFamily="34" charset="0"/>
                <a:ea typeface="Luckiest Guy" pitchFamily="34" charset="-122"/>
                <a:cs typeface="Luckiest Guy" pitchFamily="34" charset="-120"/>
              </a:rPr>
              <a:t>Langkah Hukum Kreator </a:t>
            </a:r>
            <a:endParaRPr lang="en-US" sz="1950" dirty="0"/>
          </a:p>
        </p:txBody>
      </p:sp>
      <p:sp>
        <p:nvSpPr>
          <p:cNvPr id="15" name="Text 11"/>
          <p:cNvSpPr/>
          <p:nvPr/>
        </p:nvSpPr>
        <p:spPr>
          <a:xfrm>
            <a:off x="5143500" y="4299049"/>
            <a:ext cx="6236208" cy="7863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200" dirty="0">
                <a:solidFill>
                  <a:srgbClr val="999999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Pahami batasan hak cipta pada lagu dan video viral. Kreator dapat mengambil langkah hukum tegas seperti mengirimkan somasi atau melakukan pelaporan pelanggaran melalui fitur resmi yang disediakan platform.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143500" y="5268516"/>
            <a:ext cx="1209675" cy="360015"/>
          </a:xfrm>
          <a:prstGeom prst="roundRect">
            <a:avLst>
              <a:gd name="adj" fmla="val 52914"/>
            </a:avLst>
          </a:prstGeom>
          <a:solidFill>
            <a:srgbClr val="1A1A1A"/>
          </a:solidFill>
          <a:ln w="9525">
            <a:solidFill>
              <a:srgbClr val="D98E5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5153025" y="5277073"/>
            <a:ext cx="1225296" cy="347472"/>
          </a:xfrm>
          <a:prstGeom prst="rect">
            <a:avLst/>
          </a:prstGeom>
          <a:noFill/>
          <a:ln/>
        </p:spPr>
        <p:txBody>
          <a:bodyPr vert="horz" wrap="square" lIns="142875" tIns="57150" rIns="142875" bIns="57150" rtlCol="0" anchor="t"/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050" dirty="0">
                <a:solidFill>
                  <a:srgbClr val="D98E54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Somasi Hukum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6496050" y="5268516"/>
            <a:ext cx="1228725" cy="360015"/>
          </a:xfrm>
          <a:prstGeom prst="roundRect">
            <a:avLst>
              <a:gd name="adj" fmla="val 52914"/>
            </a:avLst>
          </a:prstGeom>
          <a:solidFill>
            <a:srgbClr val="1A1A1A"/>
          </a:solidFill>
          <a:ln w="9525">
            <a:solidFill>
              <a:srgbClr val="D98E5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6505575" y="5277073"/>
            <a:ext cx="1243584" cy="347472"/>
          </a:xfrm>
          <a:prstGeom prst="rect">
            <a:avLst/>
          </a:prstGeom>
          <a:noFill/>
          <a:ln/>
        </p:spPr>
        <p:txBody>
          <a:bodyPr vert="horz" wrap="square" lIns="142875" tIns="57150" rIns="142875" bIns="57150" rtlCol="0" anchor="t"/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050" dirty="0">
                <a:solidFill>
                  <a:srgbClr val="D98E54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Fitur Pelaporan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7867650" y="5268516"/>
            <a:ext cx="1600200" cy="360015"/>
          </a:xfrm>
          <a:prstGeom prst="roundRect">
            <a:avLst>
              <a:gd name="adj" fmla="val 52914"/>
            </a:avLst>
          </a:prstGeom>
          <a:solidFill>
            <a:srgbClr val="1A1A1A"/>
          </a:solidFill>
          <a:ln w="9525">
            <a:solidFill>
              <a:srgbClr val="D98E5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7877175" y="5277073"/>
            <a:ext cx="1618488" cy="347472"/>
          </a:xfrm>
          <a:prstGeom prst="rect">
            <a:avLst/>
          </a:prstGeom>
          <a:noFill/>
          <a:ln/>
        </p:spPr>
        <p:txBody>
          <a:bodyPr vert="horz" wrap="square" lIns="142875" tIns="57150" rIns="142875" bIns="57150" rtlCol="0" anchor="t"/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050" dirty="0">
                <a:solidFill>
                  <a:srgbClr val="D98E54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Hak Moral &amp; Ekonomi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762000" y="762000"/>
            <a:ext cx="4828032" cy="4480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Luckiest Guy" pitchFamily="34" charset="0"/>
                <a:ea typeface="Luckiest Guy" pitchFamily="34" charset="-122"/>
                <a:cs typeface="Luckiest Guy" pitchFamily="34" charset="-120"/>
              </a:rPr>
              <a:t>Hukum Hak Cipta Digital</a:t>
            </a:r>
            <a:endParaRPr lang="en-US" sz="3150" dirty="0"/>
          </a:p>
        </p:txBody>
      </p:sp>
      <p:sp>
        <p:nvSpPr>
          <p:cNvPr id="23" name="Text 19"/>
          <p:cNvSpPr/>
          <p:nvPr/>
        </p:nvSpPr>
        <p:spPr>
          <a:xfrm>
            <a:off x="762000" y="1304925"/>
            <a:ext cx="476250" cy="19050"/>
          </a:xfrm>
          <a:prstGeom prst="rect">
            <a:avLst/>
          </a:prstGeom>
          <a:solidFill>
            <a:srgbClr val="D98E5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762000" y="1466850"/>
            <a:ext cx="4663440" cy="173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kern="0" spc="150" dirty="0">
                <a:solidFill>
                  <a:srgbClr val="AAAAAA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PELINDUNGAN KARYA KREATIF DI ERA DIGITAL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68955" y="2000250"/>
            <a:ext cx="6126480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Luckiest Guy" pitchFamily="34" charset="0"/>
                <a:ea typeface="Luckiest Guy" pitchFamily="34" charset="-122"/>
                <a:cs typeface="Luckiest Guy" pitchFamily="34" charset="-120"/>
              </a:rPr>
              <a:t>Strategi Pencegahan Pelanggaran Hak Cipta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047875" y="2506935"/>
            <a:ext cx="8147304" cy="8229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350" dirty="0">
                <a:solidFill>
                  <a:srgbClr val="AAAAAA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Melindungi karya kreatif memerlukan langkah proaktif melalui teknologi dan hukum. Implementasi strategi ini sangat krusial untuk mencegah re-upload ilegal dan memastikan keamanan aset digital di internet.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57250" y="3804196"/>
            <a:ext cx="3365450" cy="1990725"/>
          </a:xfrm>
          <a:prstGeom prst="roundRect">
            <a:avLst>
              <a:gd name="adj" fmla="val 7177"/>
            </a:avLst>
          </a:prstGeom>
          <a:solidFill>
            <a:srgbClr val="0D0D0D"/>
          </a:solidFill>
          <a:ln w="9525">
            <a:solidFill>
              <a:srgbClr val="D98E5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54088" y="4099471"/>
            <a:ext cx="2880360" cy="219456"/>
          </a:xfrm>
          <a:prstGeom prst="rect">
            <a:avLst/>
          </a:prstGeom>
          <a:noFill/>
          <a:ln/>
        </p:spPr>
        <p:txBody>
          <a:bodyPr vert="horz" wrap="none" lIns="0" tIns="0" rIns="19050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D98E54"/>
                </a:solidFill>
                <a:latin typeface="Luckiest Guy" pitchFamily="34" charset="0"/>
                <a:ea typeface="Luckiest Guy" pitchFamily="34" charset="-122"/>
                <a:cs typeface="Luckiest Guy" pitchFamily="34" charset="-120"/>
              </a:rPr>
              <a:t>Watermark &amp; Metadata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52525" y="4432846"/>
            <a:ext cx="381000" cy="9525"/>
          </a:xfrm>
          <a:prstGeom prst="rect">
            <a:avLst/>
          </a:prstGeom>
          <a:solidFill>
            <a:srgbClr val="D98E5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54088" y="4585246"/>
            <a:ext cx="2816352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5" dirty="0">
                <a:solidFill>
                  <a:srgbClr val="999999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Penerapan identitas visual dan informasi teknis tersembunyi pada aset digital untuk melacak kepemilikan dan membatasi penyalahgunaan pihak lain.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4413200" y="3804196"/>
            <a:ext cx="3365599" cy="1990725"/>
          </a:xfrm>
          <a:prstGeom prst="roundRect">
            <a:avLst>
              <a:gd name="adj" fmla="val 7177"/>
            </a:avLst>
          </a:prstGeom>
          <a:solidFill>
            <a:srgbClr val="0D0D0D"/>
          </a:solidFill>
          <a:ln w="9525">
            <a:solidFill>
              <a:srgbClr val="D98E5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10113" y="4099471"/>
            <a:ext cx="2880360" cy="219456"/>
          </a:xfrm>
          <a:prstGeom prst="rect">
            <a:avLst/>
          </a:prstGeom>
          <a:noFill/>
          <a:ln/>
        </p:spPr>
        <p:txBody>
          <a:bodyPr vert="horz" wrap="none" lIns="0" tIns="0" rIns="19050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D98E54"/>
                </a:solidFill>
                <a:latin typeface="Luckiest Guy" pitchFamily="34" charset="0"/>
                <a:ea typeface="Luckiest Guy" pitchFamily="34" charset="-122"/>
                <a:cs typeface="Luckiest Guy" pitchFamily="34" charset="-120"/>
              </a:rPr>
              <a:t>Sistem e-Hak Cipta DJKI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8475" y="4432846"/>
            <a:ext cx="381000" cy="9525"/>
          </a:xfrm>
          <a:prstGeom prst="rect">
            <a:avLst/>
          </a:prstGeom>
          <a:solidFill>
            <a:srgbClr val="D98E5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10113" y="4585246"/>
            <a:ext cx="2816352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5" dirty="0">
                <a:solidFill>
                  <a:srgbClr val="999999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Melakukan pendaftaran resmi melalui portal pemerintah untuk mendapatkan perlindungan hukum yang kuat dan prioritas hak dalam ekosistem digital.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7969300" y="3804196"/>
            <a:ext cx="3365450" cy="1990725"/>
          </a:xfrm>
          <a:prstGeom prst="roundRect">
            <a:avLst>
              <a:gd name="adj" fmla="val 7177"/>
            </a:avLst>
          </a:prstGeom>
          <a:solidFill>
            <a:srgbClr val="0D0D0D"/>
          </a:solidFill>
          <a:ln w="9525">
            <a:solidFill>
              <a:srgbClr val="D98E5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266137" y="4099471"/>
            <a:ext cx="2880360" cy="219456"/>
          </a:xfrm>
          <a:prstGeom prst="rect">
            <a:avLst/>
          </a:prstGeom>
          <a:noFill/>
          <a:ln/>
        </p:spPr>
        <p:txBody>
          <a:bodyPr vert="horz" wrap="none" lIns="0" tIns="0" rIns="19050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D98E54"/>
                </a:solidFill>
                <a:latin typeface="Luckiest Guy" pitchFamily="34" charset="0"/>
                <a:ea typeface="Luckiest Guy" pitchFamily="34" charset="-122"/>
                <a:cs typeface="Luckiest Guy" pitchFamily="34" charset="-120"/>
              </a:rPr>
              <a:t>Syarat &amp; Ketentuan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64575" y="4432846"/>
            <a:ext cx="381000" cy="9525"/>
          </a:xfrm>
          <a:prstGeom prst="rect">
            <a:avLst/>
          </a:prstGeom>
          <a:solidFill>
            <a:srgbClr val="D98E5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66137" y="4585246"/>
            <a:ext cx="2816352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5" dirty="0">
                <a:solidFill>
                  <a:srgbClr val="999999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Menetapkan Terms of Use yang jelas untuk mengatur batasan lisensi, hak reproduksi, dan sanksi bagi pelanggar demi mencegah distribusi ilegal.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762000" y="762000"/>
            <a:ext cx="4828032" cy="4480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Luckiest Guy" pitchFamily="34" charset="0"/>
                <a:ea typeface="Luckiest Guy" pitchFamily="34" charset="-122"/>
                <a:cs typeface="Luckiest Guy" pitchFamily="34" charset="-120"/>
              </a:rPr>
              <a:t>Hukum Hak Cipta Digital</a:t>
            </a:r>
            <a:endParaRPr lang="en-US" sz="3150" dirty="0"/>
          </a:p>
        </p:txBody>
      </p:sp>
      <p:sp>
        <p:nvSpPr>
          <p:cNvPr id="18" name="Text 16"/>
          <p:cNvSpPr/>
          <p:nvPr/>
        </p:nvSpPr>
        <p:spPr>
          <a:xfrm>
            <a:off x="762000" y="1352550"/>
            <a:ext cx="476250" cy="19050"/>
          </a:xfrm>
          <a:prstGeom prst="rect">
            <a:avLst/>
          </a:prstGeom>
          <a:solidFill>
            <a:srgbClr val="D98E5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62000" y="1562100"/>
            <a:ext cx="4663440" cy="173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kern="0" spc="150" dirty="0">
                <a:solidFill>
                  <a:srgbClr val="AAAAAA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PELINDUNGAN KARYA KREATIF DI ERA MODERN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424238" y="2381250"/>
            <a:ext cx="5522976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Luckiest Guy" pitchFamily="34" charset="0"/>
                <a:ea typeface="Luckiest Guy" pitchFamily="34" charset="-122"/>
                <a:cs typeface="Luckiest Guy" pitchFamily="34" charset="-120"/>
              </a:rPr>
              <a:t>Ringkasan Materi Pelindungan Hak Cipta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62000" y="2933700"/>
            <a:ext cx="2524125" cy="1057275"/>
          </a:xfrm>
          <a:prstGeom prst="roundRect">
            <a:avLst>
              <a:gd name="adj" fmla="val 45045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52500" y="3081338"/>
            <a:ext cx="762000" cy="762000"/>
          </a:xfrm>
          <a:prstGeom prst="roundRect">
            <a:avLst>
              <a:gd name="adj" fmla="val 1200000"/>
            </a:avLst>
          </a:prstGeom>
          <a:solidFill>
            <a:srgbClr val="D98E5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09650" y="3138488"/>
            <a:ext cx="647700" cy="647700"/>
          </a:xfrm>
          <a:prstGeom prst="roundRect">
            <a:avLst>
              <a:gd name="adj" fmla="val 1411765"/>
            </a:avLst>
          </a:prstGeom>
          <a:solidFill>
            <a:srgbClr val="2828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290638" y="3314700"/>
            <a:ext cx="146304" cy="30175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1</a:t>
            </a:r>
            <a:endParaRPr lang="en-US" sz="1800" dirty="0"/>
          </a:p>
        </p:txBody>
      </p:sp>
      <p:pic>
        <p:nvPicPr>
          <p:cNvPr id="9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333625" y="3124200"/>
            <a:ext cx="285750" cy="2857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57375" y="3505200"/>
            <a:ext cx="1280160" cy="347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Penegakan Hukum Intensif</a:t>
            </a:r>
            <a:endParaRPr lang="en-US" sz="1125" dirty="0"/>
          </a:p>
        </p:txBody>
      </p:sp>
      <p:sp>
        <p:nvSpPr>
          <p:cNvPr id="11" name="Text 8"/>
          <p:cNvSpPr/>
          <p:nvPr/>
        </p:nvSpPr>
        <p:spPr>
          <a:xfrm>
            <a:off x="3476625" y="2933700"/>
            <a:ext cx="2524125" cy="1057275"/>
          </a:xfrm>
          <a:prstGeom prst="roundRect">
            <a:avLst>
              <a:gd name="adj" fmla="val 45045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667125" y="3081338"/>
            <a:ext cx="762000" cy="762000"/>
          </a:xfrm>
          <a:prstGeom prst="roundRect">
            <a:avLst>
              <a:gd name="adj" fmla="val 1200000"/>
            </a:avLst>
          </a:prstGeom>
          <a:solidFill>
            <a:srgbClr val="D98E5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724275" y="3138488"/>
            <a:ext cx="647700" cy="647700"/>
          </a:xfrm>
          <a:prstGeom prst="roundRect">
            <a:avLst>
              <a:gd name="adj" fmla="val 1411765"/>
            </a:avLst>
          </a:prstGeom>
          <a:solidFill>
            <a:srgbClr val="2828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3981450" y="3314700"/>
            <a:ext cx="192024" cy="30175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2</a:t>
            </a:r>
            <a:endParaRPr lang="en-US" sz="1800" dirty="0"/>
          </a:p>
        </p:txBody>
      </p:sp>
      <p:pic>
        <p:nvPicPr>
          <p:cNvPr id="15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10150" y="3124200"/>
            <a:ext cx="361950" cy="28575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72000" y="3505200"/>
            <a:ext cx="1280160" cy="347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Edukasi Publik Krusial</a:t>
            </a:r>
            <a:endParaRPr lang="en-US" sz="1125" dirty="0"/>
          </a:p>
        </p:txBody>
      </p:sp>
      <p:sp>
        <p:nvSpPr>
          <p:cNvPr id="17" name="Text 13"/>
          <p:cNvSpPr/>
          <p:nvPr/>
        </p:nvSpPr>
        <p:spPr>
          <a:xfrm>
            <a:off x="6191250" y="2933700"/>
            <a:ext cx="2524125" cy="1057275"/>
          </a:xfrm>
          <a:prstGeom prst="roundRect">
            <a:avLst>
              <a:gd name="adj" fmla="val 45045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6381750" y="3081338"/>
            <a:ext cx="762000" cy="762000"/>
          </a:xfrm>
          <a:prstGeom prst="roundRect">
            <a:avLst>
              <a:gd name="adj" fmla="val 1200000"/>
            </a:avLst>
          </a:prstGeom>
          <a:solidFill>
            <a:srgbClr val="D98E5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6438900" y="3138488"/>
            <a:ext cx="647700" cy="647700"/>
          </a:xfrm>
          <a:prstGeom prst="roundRect">
            <a:avLst>
              <a:gd name="adj" fmla="val 1411765"/>
            </a:avLst>
          </a:prstGeom>
          <a:solidFill>
            <a:srgbClr val="2828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6696075" y="3314700"/>
            <a:ext cx="192024" cy="30175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3</a:t>
            </a:r>
            <a:endParaRPr lang="en-US" sz="1800" dirty="0"/>
          </a:p>
        </p:txBody>
      </p:sp>
      <p:pic>
        <p:nvPicPr>
          <p:cNvPr id="21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796212" y="3124200"/>
            <a:ext cx="219075" cy="28575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286625" y="3505200"/>
            <a:ext cx="1280160" cy="347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Pendorong Inovasi Baru</a:t>
            </a:r>
            <a:endParaRPr lang="en-US" sz="1125" dirty="0"/>
          </a:p>
        </p:txBody>
      </p:sp>
      <p:sp>
        <p:nvSpPr>
          <p:cNvPr id="23" name="Text 18"/>
          <p:cNvSpPr/>
          <p:nvPr/>
        </p:nvSpPr>
        <p:spPr>
          <a:xfrm>
            <a:off x="8905875" y="2933700"/>
            <a:ext cx="2524125" cy="1057275"/>
          </a:xfrm>
          <a:prstGeom prst="roundRect">
            <a:avLst>
              <a:gd name="adj" fmla="val 45045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9096375" y="3081338"/>
            <a:ext cx="762000" cy="762000"/>
          </a:xfrm>
          <a:prstGeom prst="roundRect">
            <a:avLst>
              <a:gd name="adj" fmla="val 1200000"/>
            </a:avLst>
          </a:prstGeom>
          <a:solidFill>
            <a:srgbClr val="D98E5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9153525" y="3138488"/>
            <a:ext cx="647700" cy="647700"/>
          </a:xfrm>
          <a:prstGeom prst="roundRect">
            <a:avLst>
              <a:gd name="adj" fmla="val 1411765"/>
            </a:avLst>
          </a:prstGeom>
          <a:solidFill>
            <a:srgbClr val="2828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1"/>
          <p:cNvSpPr/>
          <p:nvPr/>
        </p:nvSpPr>
        <p:spPr>
          <a:xfrm>
            <a:off x="9401175" y="3314700"/>
            <a:ext cx="210312" cy="30175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4</a:t>
            </a:r>
            <a:endParaRPr lang="en-US" sz="1800" dirty="0"/>
          </a:p>
        </p:txBody>
      </p:sp>
      <p:pic>
        <p:nvPicPr>
          <p:cNvPr id="27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477500" y="3124200"/>
            <a:ext cx="285750" cy="28575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001250" y="3505200"/>
            <a:ext cx="1280160" cy="347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Ekosistem Kreatif Aman</a:t>
            </a:r>
            <a:endParaRPr lang="en-US" sz="1125" dirty="0"/>
          </a:p>
        </p:txBody>
      </p:sp>
      <p:sp>
        <p:nvSpPr>
          <p:cNvPr id="29" name="Text 23"/>
          <p:cNvSpPr/>
          <p:nvPr/>
        </p:nvSpPr>
        <p:spPr>
          <a:xfrm>
            <a:off x="762000" y="4371975"/>
            <a:ext cx="5191125" cy="1565821"/>
          </a:xfrm>
          <a:prstGeom prst="roundRect">
            <a:avLst>
              <a:gd name="adj" fmla="val 9125"/>
            </a:avLst>
          </a:prstGeom>
          <a:noFill/>
          <a:ln w="19050">
            <a:solidFill>
              <a:srgbClr val="D98E5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0" name="Image 4" descr="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47750" y="4724400"/>
            <a:ext cx="323850" cy="28575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590675" y="4629150"/>
            <a:ext cx="4233672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Luckiest Guy" pitchFamily="34" charset="0"/>
                <a:ea typeface="Luckiest Guy" pitchFamily="34" charset="-122"/>
                <a:cs typeface="Luckiest Guy" pitchFamily="34" charset="-120"/>
              </a:rPr>
              <a:t>Pentingnya Kekayaan Intelektual</a:t>
            </a:r>
            <a:endParaRPr lang="en-US" sz="1350" dirty="0"/>
          </a:p>
        </p:txBody>
      </p:sp>
      <p:sp>
        <p:nvSpPr>
          <p:cNvPr id="32" name="Text 25"/>
          <p:cNvSpPr/>
          <p:nvPr/>
        </p:nvSpPr>
        <p:spPr>
          <a:xfrm>
            <a:off x="1590675" y="4895850"/>
            <a:ext cx="381000" cy="9525"/>
          </a:xfrm>
          <a:prstGeom prst="rect">
            <a:avLst/>
          </a:prstGeom>
          <a:solidFill>
            <a:srgbClr val="D98E5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6"/>
          <p:cNvSpPr/>
          <p:nvPr/>
        </p:nvSpPr>
        <p:spPr>
          <a:xfrm>
            <a:off x="1590675" y="5002485"/>
            <a:ext cx="4142232" cy="67665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Pelindungan melalui </a:t>
            </a:r>
            <a:r>
              <a:rPr lang="en-US" sz="1050" b="1" dirty="0">
                <a:solidFill>
                  <a:srgbClr val="FFFFFF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penegakan hukum</a:t>
            </a:r>
            <a:r>
              <a:rPr lang="en-US" sz="1050" dirty="0">
                <a:solidFill>
                  <a:srgbClr val="999999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 dan edukasi sangat krusial untuk menjaga ekosistem kreatif. Menghargai KI adalah kunci pendorong inovasi berkelanjutan.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6238875" y="4371975"/>
            <a:ext cx="5191125" cy="1565821"/>
          </a:xfrm>
          <a:prstGeom prst="roundRect">
            <a:avLst>
              <a:gd name="adj" fmla="val 9125"/>
            </a:avLst>
          </a:prstGeom>
          <a:noFill/>
          <a:ln w="19050">
            <a:solidFill>
              <a:srgbClr val="D98E5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5" name="Image 5" descr="image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505575" y="4724400"/>
            <a:ext cx="361950" cy="28575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7067550" y="4629150"/>
            <a:ext cx="4233672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Luckiest Guy" pitchFamily="34" charset="0"/>
                <a:ea typeface="Luckiest Guy" pitchFamily="34" charset="-122"/>
                <a:cs typeface="Luckiest Guy" pitchFamily="34" charset="-120"/>
              </a:rPr>
              <a:t>Diskusi Terbuka Tantangan Masa Depan</a:t>
            </a:r>
            <a:endParaRPr lang="en-US" sz="1350" dirty="0"/>
          </a:p>
        </p:txBody>
      </p:sp>
      <p:sp>
        <p:nvSpPr>
          <p:cNvPr id="37" name="Text 29"/>
          <p:cNvSpPr/>
          <p:nvPr/>
        </p:nvSpPr>
        <p:spPr>
          <a:xfrm>
            <a:off x="7067550" y="4895850"/>
            <a:ext cx="381000" cy="9525"/>
          </a:xfrm>
          <a:prstGeom prst="rect">
            <a:avLst/>
          </a:prstGeom>
          <a:solidFill>
            <a:srgbClr val="D98E5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0"/>
          <p:cNvSpPr/>
          <p:nvPr/>
        </p:nvSpPr>
        <p:spPr>
          <a:xfrm>
            <a:off x="7067550" y="5002485"/>
            <a:ext cx="4142232" cy="67665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Mari berdiskusi mengenai strategi menghadapi tantangan </a:t>
            </a:r>
            <a:r>
              <a:rPr lang="en-US" sz="1050" b="1" dirty="0">
                <a:solidFill>
                  <a:srgbClr val="FFFFFF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pelanggaran konten</a:t>
            </a:r>
            <a:r>
              <a:rPr lang="en-US" sz="1050" dirty="0">
                <a:solidFill>
                  <a:srgbClr val="999999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 di masa depan. Gunakan kesempatan ini untuk memperjelas strategi pelindungan karya.</a:t>
            </a:r>
            <a:endParaRPr lang="en-US" sz="1050" dirty="0"/>
          </a:p>
        </p:txBody>
      </p:sp>
      <p:sp>
        <p:nvSpPr>
          <p:cNvPr id="39" name="Text 31"/>
          <p:cNvSpPr/>
          <p:nvPr/>
        </p:nvSpPr>
        <p:spPr>
          <a:xfrm>
            <a:off x="762000" y="762000"/>
            <a:ext cx="6766560" cy="5120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432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Luckiest Guy" pitchFamily="34" charset="0"/>
                <a:ea typeface="Luckiest Guy" pitchFamily="34" charset="-122"/>
                <a:cs typeface="Luckiest Guy" pitchFamily="34" charset="-120"/>
              </a:rPr>
              <a:t>Kesimpulan dan Tanya Jawab</a:t>
            </a:r>
            <a:endParaRPr lang="en-US" sz="3600" dirty="0"/>
          </a:p>
        </p:txBody>
      </p:sp>
      <p:sp>
        <p:nvSpPr>
          <p:cNvPr id="40" name="Text 32"/>
          <p:cNvSpPr/>
          <p:nvPr/>
        </p:nvSpPr>
        <p:spPr>
          <a:xfrm>
            <a:off x="762000" y="1409700"/>
            <a:ext cx="476250" cy="19050"/>
          </a:xfrm>
          <a:prstGeom prst="rect">
            <a:avLst/>
          </a:prstGeom>
          <a:solidFill>
            <a:srgbClr val="D98E5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3"/>
          <p:cNvSpPr/>
          <p:nvPr/>
        </p:nvSpPr>
        <p:spPr>
          <a:xfrm>
            <a:off x="762000" y="1619250"/>
            <a:ext cx="6556248" cy="173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kern="0" spc="220" dirty="0">
                <a:solidFill>
                  <a:srgbClr val="AAAAAA"/>
                </a:solidFill>
                <a:latin typeface="DM Sans 9pt" pitchFamily="34" charset="0"/>
                <a:ea typeface="DM Sans 9pt" pitchFamily="34" charset="-122"/>
                <a:cs typeface="DM Sans 9pt" pitchFamily="34" charset="-120"/>
              </a:rPr>
              <a:t>HUKUM HAK CIPTA DIGITAL DAN PELINDUNGAN KARYA KREATIF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1382</Words>
  <Application>Microsoft Office PowerPoint</Application>
  <PresentationFormat>Widescreen</PresentationFormat>
  <Paragraphs>184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DM Sans 9pt</vt:lpstr>
      <vt:lpstr>Arial</vt:lpstr>
      <vt:lpstr>Calibri</vt:lpstr>
      <vt:lpstr>Luckiest Guy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百度文库 v1.0.0</dc:creator>
  <cp:lastModifiedBy>intan .</cp:lastModifiedBy>
  <cp:revision>2</cp:revision>
  <dcterms:created xsi:type="dcterms:W3CDTF">2026-09-25T07:36:59Z</dcterms:created>
  <dcterms:modified xsi:type="dcterms:W3CDTF">2026-09-25T08:02:28Z</dcterms:modified>
</cp:coreProperties>
</file>