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Noto Sans" panose="020B0502040504020204" pitchFamily="34" charset="0"/>
      <p:regular r:id="rId18"/>
      <p:bold r:id="rId19"/>
      <p:italic r:id="rId20"/>
    </p:embeddedFont>
    <p:embeddedFont>
      <p:font typeface="Poppins" panose="00000500000000000000" pitchFamily="2" charset="0"/>
      <p:regular r:id="rId21"/>
      <p:bold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510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2B744-1F5D-C043-301E-FDD5B5112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5DFE12-9F2D-5C02-CB4E-F751FE8F5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BCF58-121B-07D5-A815-26D8F07A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A86961-DCD7-4645-629C-CA20538B3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BD3A4-947F-334B-D97A-4F9F3DD1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5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D0380-950D-0EB3-F821-03F4508FB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035F00-FD85-51C4-43B5-7F049F590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1B2DB4-D29F-9C6A-5999-72150C15B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4DC32-465E-F753-963C-7B7C96850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EBFEF8-E4F3-D916-581F-219CD8410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5085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9207A4-E570-9A26-41C4-3ABA7F38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78DFE1-769D-C827-9998-F44CEA38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AAB41-3DDB-1920-EDE7-45768C2B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B322CD-8F7B-88BA-A2A3-A3A45821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3F1C7-D3F0-2A37-B94E-239E8447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4634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0752-9F6C-2508-AE2B-3F7A7EF36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CC9D8-3C56-F907-B56A-E5B8589E5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C444C7-103E-FD3F-090E-FDB5759D2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217FCF-2142-E0CA-6C18-6C95D434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4D8E9F-253E-1D82-97A9-15CA65474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77128A-737C-CA38-3862-20CEA44F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29208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56D1A-FB16-5E31-A106-DCF02DAC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B02E7C-260D-60C5-FCCA-DFC01F14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BAA659-ACC6-6F45-429A-9678890E7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3D315E-F577-54BA-0BC7-11B2F9E497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699DE7-3CB8-893F-47F6-D80F369F8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0DFB00-0D40-DE77-E458-EEAD8647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3B62EA-C11C-ED4C-E412-13015E94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B67572-C038-B8EE-3F4A-66F2EB5BC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795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9ACFB3-6E7C-10C3-4227-DCC2359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EFDC94-EB77-1206-3206-1B33F78EA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FB27BA-C6C4-956D-BB12-8D4F16B5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D0AACD-7B23-7A5E-6C34-7DCB44F6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2499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546190-2158-46F8-6A32-12FE189EC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3512C2-3838-72C2-51DD-8E9040126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007A5F-B186-54C0-5D19-2284F293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775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B735BD-C3BB-8927-3AF4-94F9438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616762-3893-E59B-CB9B-C02C1AA3B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AA56D-7451-C3C5-6D51-B2650A454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28E855-990E-30E6-3512-97221C46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7DA99E-7FBF-A00D-442B-2D8D7E78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1B805B-BFA9-DDA6-CEEA-6ADEA1A0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1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BD84F-84C9-AF27-1A59-8346212BD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BB0A76F-B479-8050-2AD7-B9A011F11B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0EFA31-6C28-3C82-9363-FE2CAD862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0E6CE-098C-0ED3-86A0-E120929D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0CC86E-6091-D81E-FA00-BF21FA580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3DE2F81-7731-1152-9792-87A036E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853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11DD4-0674-E844-9E12-5F2805D47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F851AA-3284-5ED7-C023-2D29A3898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1C3777-D1E7-BA80-B662-AF007330B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D95CC9-AF53-F0AA-FD40-F3E2CCEC5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1B16D-B121-595D-C223-CB5F9D124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341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10C1838-1DC8-7579-5F22-B30187479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670889-BEC7-D29F-E1AC-BF218674A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5CB33-44D0-A76C-3FF3-EEA9A801C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78635D-6139-9A84-B3F9-9BCA8035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41DB96-ECF2-C664-F90E-E7B4E08A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3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6C56813-2AEB-CC25-B5BE-39156AC4A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5FFF8B-ED7D-4F9C-5CD8-CC3E43D1D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1D59E3-C823-D4DA-54BF-4D8DB9BF0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DBEE3-4AC2-F046-910D-39992CB67F1C}" type="datetimeFigureOut">
              <a:rPr kumimoji="1" lang="zh-CN" altLang="en-US" smtClean="0"/>
              <a:t>2026/9/25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C1EF5F-1486-06C8-051E-7B825CAD5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6A3C8D-E9F0-A63A-F26B-7851D262D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20602D-AD6A-214B-ACCA-D81B2D28FAA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345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120580" cy="6858000"/>
          </a:xfrm>
          <a:prstGeom prst="rect">
            <a:avLst/>
          </a:prstGeom>
          <a:solidFill>
            <a:srgbClr val="F592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-190500" y="4572000"/>
            <a:ext cx="2523744" cy="31455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000000">
                    <a:alpha val="5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10307389" y="571500"/>
            <a:ext cx="1884462" cy="34290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306645" y="571500"/>
            <a:ext cx="1920240" cy="347472"/>
          </a:xfrm>
          <a:prstGeom prst="rect">
            <a:avLst/>
          </a:prstGeom>
          <a:noFill/>
          <a:ln/>
        </p:spPr>
        <p:txBody>
          <a:bodyPr vert="horz" wrap="square" lIns="285750" tIns="95250" rIns="285750" bIns="9525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50" b="1" kern="0" spc="7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SEMINAR HUKUM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82580" y="1168896"/>
            <a:ext cx="1143000" cy="76200"/>
          </a:xfrm>
          <a:prstGeom prst="rect">
            <a:avLst/>
          </a:prstGeom>
          <a:solidFill>
            <a:srgbClr val="2222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84441" y="1624013"/>
            <a:ext cx="5669280" cy="16459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900" b="1" kern="0" spc="-80" dirty="0">
                <a:solidFill>
                  <a:srgbClr val="1A1A1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Hukum Perusahaan
 Startup dan Aspek
</a:t>
            </a:r>
            <a:r>
              <a:rPr lang="en-US" sz="3900" b="1" kern="0" spc="-80" dirty="0">
                <a:solidFill>
                  <a:srgbClr val="F5923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OSS RBA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5882580" y="3498354"/>
            <a:ext cx="0" cy="876151"/>
          </a:xfrm>
          <a:prstGeom prst="line">
            <a:avLst/>
          </a:prstGeom>
          <a:noFill/>
          <a:ln w="47625">
            <a:solidFill>
              <a:srgbClr val="F592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0191" y="3498279"/>
            <a:ext cx="5312664" cy="877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Navigasi Regulasi dan Kepatuhan Perizinan Berusaha </a:t>
            </a:r>
            <a:endParaRPr lang="en-US" sz="165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INTEGRASI SISTEM BERBASIS RISIKO DALAM EKOSISTEM DIGITAL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882580" y="4950768"/>
            <a:ext cx="5547271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83473" y="5241280"/>
            <a:ext cx="2670048" cy="1737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b="1" kern="0" spc="15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DISAJIKAN OLEH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82579" y="5460354"/>
            <a:ext cx="3857161" cy="2285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Dr. </a:t>
            </a:r>
            <a:r>
              <a:rPr lang="en-US" sz="1350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Apik</a:t>
            </a: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Anitasari</a:t>
            </a: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Intan </a:t>
            </a:r>
            <a:r>
              <a:rPr lang="en-US" sz="1350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Saputri</a:t>
            </a: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S.H.,M.H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82579" y="6399163"/>
            <a:ext cx="353850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Universitas </a:t>
            </a:r>
            <a:r>
              <a:rPr lang="en-US" sz="1350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Amikom</a:t>
            </a: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350" b="1" dirty="0" err="1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Purwokerto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71500" y="3429000"/>
            <a:ext cx="381000" cy="762000"/>
          </a:xfrm>
          <a:prstGeom prst="rect">
            <a:avLst/>
          </a:prstGeom>
          <a:solidFill>
            <a:srgbClr val="222222"/>
          </a:solidFill>
          <a:ln/>
          <a:effectLst>
            <a:outerShdw dist="134704" dir="2700000" algn="bl" rotWithShape="0">
              <a:srgbClr val="FFFFFF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5375" y="2762250"/>
            <a:ext cx="381000" cy="1428750"/>
          </a:xfrm>
          <a:prstGeom prst="rect">
            <a:avLst/>
          </a:prstGeom>
          <a:solidFill>
            <a:srgbClr val="FFFFFF"/>
          </a:solidFill>
          <a:ln/>
          <a:effectLst>
            <a:outerShdw dist="134704" dir="2700000" algn="bl" rotWithShape="0">
              <a:srgbClr val="FFFFFF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619250" y="3143250"/>
            <a:ext cx="381000" cy="1047750"/>
          </a:xfrm>
          <a:prstGeom prst="rect">
            <a:avLst/>
          </a:prstGeom>
          <a:solidFill>
            <a:srgbClr val="222222"/>
          </a:solidFill>
          <a:ln/>
          <a:effectLst>
            <a:outerShdw dist="134704" dir="2700000" algn="bl" rotWithShape="0">
              <a:srgbClr val="FFFFFF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143125" y="2476500"/>
            <a:ext cx="381000" cy="1714500"/>
          </a:xfrm>
          <a:prstGeom prst="rect">
            <a:avLst/>
          </a:prstGeom>
          <a:solidFill>
            <a:srgbClr val="222222"/>
          </a:solidFill>
          <a:ln/>
          <a:effectLst>
            <a:outerShdw dist="134704" dir="2700000" algn="bl" rotWithShape="0">
              <a:srgbClr val="FFFFFF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33500" y="638175"/>
            <a:ext cx="9628632" cy="9692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Daftar Isi: Hukum Perusahaan Startup &amp; Perizinan OSS RBA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571500" y="2075408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71500" y="208017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27450" y="2075408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" y="278502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1500" y="2075408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2488" y="2289721"/>
            <a:ext cx="256032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9813" y="2246858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Pendahuluan Pertemuan Hukum Startup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71500" y="2904083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71500" y="2908846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27450" y="2904083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" y="3613696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1500" y="2904083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438" y="3118396"/>
            <a:ext cx="292608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9813" y="3075533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Perbandingan Bentuk Badan Usaha Startup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571500" y="3732758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71500" y="373752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7450" y="3732758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" y="444237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1500" y="3732758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3438" y="3947071"/>
            <a:ext cx="292608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9813" y="3904208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Mengenal PT Perorangan bagi Pendiri Tunggal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71500" y="4561433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71500" y="4566196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27450" y="4561433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" y="5271046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" y="4561433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913" y="4775746"/>
            <a:ext cx="310896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9813" y="4732883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Proses Pendirian Badan Usaha melalui AHU Online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571500" y="5390108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71500" y="539487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27450" y="5390108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" y="609972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" y="5390108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8675" y="5604421"/>
            <a:ext cx="301752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39813" y="5561558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Konsep Dasar OSS Risk-Based Approach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4317950" y="2075408"/>
            <a:ext cx="3556099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317950" y="2080171"/>
            <a:ext cx="3556099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74050" y="2075408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17950" y="2785021"/>
            <a:ext cx="3556099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17950" y="2075408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5125" y="2289721"/>
            <a:ext cx="301752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4986338" y="2246858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Skala Risiko Usaha 1 sampai 6 dalam OSS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4317950" y="2904083"/>
            <a:ext cx="3556099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317950" y="2908846"/>
            <a:ext cx="3556099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74050" y="2904083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17950" y="3613696"/>
            <a:ext cx="3556099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17950" y="2904083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9888" y="3118396"/>
            <a:ext cx="292608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4986338" y="3166021"/>
            <a:ext cx="2825496" cy="2194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Jenis-Jenis Perizinan Berusaha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4317950" y="3732758"/>
            <a:ext cx="3556099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317950" y="3737521"/>
            <a:ext cx="3556099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74050" y="3732758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317950" y="4442371"/>
            <a:ext cx="3556099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17950" y="3732758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5125" y="3947071"/>
            <a:ext cx="301752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4986338" y="3904208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Perizinan Khusus Sektor Digital dan E-Commerce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4317950" y="4561433"/>
            <a:ext cx="3556099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4317950" y="4566196"/>
            <a:ext cx="3556099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874050" y="4561433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17950" y="5271046"/>
            <a:ext cx="3556099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317950" y="4561433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9888" y="4775746"/>
            <a:ext cx="292608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4986338" y="4732883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Regulasi Spesifik Sektor Fintech dan SaaS</a:t>
            </a:r>
            <a:endParaRPr lang="en-US" sz="1125" dirty="0"/>
          </a:p>
        </p:txBody>
      </p:sp>
      <p:sp>
        <p:nvSpPr>
          <p:cNvPr id="67" name="Text 65"/>
          <p:cNvSpPr/>
          <p:nvPr/>
        </p:nvSpPr>
        <p:spPr>
          <a:xfrm>
            <a:off x="8064550" y="2075408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8064550" y="208017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620500" y="2075408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064550" y="278502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64550" y="2075408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45537" y="2289721"/>
            <a:ext cx="256032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500" dirty="0"/>
          </a:p>
        </p:txBody>
      </p:sp>
      <p:sp>
        <p:nvSpPr>
          <p:cNvPr id="73" name="Text 71"/>
          <p:cNvSpPr/>
          <p:nvPr/>
        </p:nvSpPr>
        <p:spPr>
          <a:xfrm>
            <a:off x="8732862" y="2246858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Penentuan KBLI yang Tepat untuk Startup</a:t>
            </a:r>
            <a:endParaRPr lang="en-US" sz="1125" dirty="0"/>
          </a:p>
        </p:txBody>
      </p:sp>
      <p:sp>
        <p:nvSpPr>
          <p:cNvPr id="74" name="Text 72"/>
          <p:cNvSpPr/>
          <p:nvPr/>
        </p:nvSpPr>
        <p:spPr>
          <a:xfrm>
            <a:off x="8064550" y="2904083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8064550" y="2908846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620500" y="2904083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4550" y="3613696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64550" y="2904083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369350" y="3118396"/>
            <a:ext cx="201168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8732862" y="3075533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Simulasi Praktis Pembuatan NIB Fiktif</a:t>
            </a:r>
            <a:endParaRPr lang="en-US" sz="1125" dirty="0"/>
          </a:p>
        </p:txBody>
      </p:sp>
      <p:sp>
        <p:nvSpPr>
          <p:cNvPr id="81" name="Text 79"/>
          <p:cNvSpPr/>
          <p:nvPr/>
        </p:nvSpPr>
        <p:spPr>
          <a:xfrm>
            <a:off x="8064550" y="3732758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8064550" y="373752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620500" y="3732758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64550" y="4442371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064550" y="3732758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50300" y="3947071"/>
            <a:ext cx="246888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8732862" y="3904208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Studi Kasus Startup E-Commerce dan Fintech</a:t>
            </a:r>
            <a:endParaRPr lang="en-US" sz="1125" dirty="0"/>
          </a:p>
        </p:txBody>
      </p:sp>
      <p:sp>
        <p:nvSpPr>
          <p:cNvPr id="88" name="Text 86"/>
          <p:cNvSpPr/>
          <p:nvPr/>
        </p:nvSpPr>
        <p:spPr>
          <a:xfrm>
            <a:off x="8064550" y="4561433"/>
            <a:ext cx="3555950" cy="71437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9" name="Shape 87"/>
          <p:cNvSpPr/>
          <p:nvPr/>
        </p:nvSpPr>
        <p:spPr>
          <a:xfrm>
            <a:off x="8064550" y="4566196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20500" y="4561433"/>
            <a:ext cx="0" cy="714375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064550" y="5271046"/>
            <a:ext cx="3555950" cy="0"/>
          </a:xfrm>
          <a:prstGeom prst="line">
            <a:avLst/>
          </a:prstGeom>
          <a:noFill/>
          <a:ln w="9525">
            <a:solidFill>
              <a:srgbClr val="000000">
                <a:alpha val="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064550" y="4561433"/>
            <a:ext cx="0" cy="714375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350300" y="4775746"/>
            <a:ext cx="246888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8732862" y="4732883"/>
            <a:ext cx="2770632" cy="3749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Ringkasan dan Kesiapan Legalitas Startup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71563" y="571500"/>
            <a:ext cx="10168128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Pendahuluan Pertemuan Hukum Startup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071563" y="1390650"/>
            <a:ext cx="10104120" cy="320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Selamat datang di materi Pertemuan 3: Skalabilitas dan Regulasi Bisnis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19125" y="2181225"/>
            <a:ext cx="3460700" cy="30861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19125" y="2209800"/>
            <a:ext cx="3460700" cy="0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6438" y="2524125"/>
            <a:ext cx="2944368" cy="33832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Badan Usaha Ideal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06438" y="3000375"/>
            <a:ext cx="2935224" cy="10332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Memilih entitas hukum yang tepat sangat krusial untuk mendukung </a:t>
            </a:r>
            <a:r>
              <a:rPr lang="en-US" sz="13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skalabilitas bisnis</a:t>
            </a: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digital secara berkelanjutan.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04875" y="4171950"/>
            <a:ext cx="100584" cy="219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906438" y="4171950"/>
            <a:ext cx="2935224" cy="219456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Mendukung ekspansi operasional.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904875" y="4467225"/>
            <a:ext cx="100584" cy="219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75" dirty="0"/>
          </a:p>
        </p:txBody>
      </p:sp>
      <p:sp>
        <p:nvSpPr>
          <p:cNvPr id="12" name="Text 10"/>
          <p:cNvSpPr/>
          <p:nvPr/>
        </p:nvSpPr>
        <p:spPr>
          <a:xfrm>
            <a:off x="906438" y="4467225"/>
            <a:ext cx="2935224" cy="219456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Perlindungan aset pendiri startup.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365575" y="2181225"/>
            <a:ext cx="3460849" cy="30861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65575" y="2209800"/>
            <a:ext cx="3460849" cy="0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52963" y="2524125"/>
            <a:ext cx="2944368" cy="33832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Sistem OSS RBA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52963" y="3000375"/>
            <a:ext cx="2935224" cy="10332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Implementasi standar baru perizinan berbasis risiko di Indonesia memberikan </a:t>
            </a:r>
            <a:r>
              <a:rPr lang="en-US" sz="13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kepastian hukum</a:t>
            </a: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bagi para pelaku usaha.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51325" y="4171950"/>
            <a:ext cx="100584" cy="219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4652963" y="4171950"/>
            <a:ext cx="2935224" cy="219456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Penyederhanaan proses birokrasi.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4651325" y="4467225"/>
            <a:ext cx="100584" cy="219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4652963" y="4467225"/>
            <a:ext cx="2935224" cy="438912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Klasifikasi risiko usaha yang akurat.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8112175" y="2181225"/>
            <a:ext cx="3460700" cy="3086100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8112175" y="2209800"/>
            <a:ext cx="3460700" cy="0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9487" y="2524125"/>
            <a:ext cx="2944368" cy="33832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Pembelajaran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99487" y="3000375"/>
            <a:ext cx="2935224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Peserta diharapkan mampu menguasai aspek legalitas melalui pemahaman: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97925" y="3914775"/>
            <a:ext cx="100584" cy="219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8399487" y="3914775"/>
            <a:ext cx="2935224" cy="219456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Struktur badan usaha startup.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8397925" y="4210050"/>
            <a:ext cx="100584" cy="219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8399487" y="4210050"/>
            <a:ext cx="2935224" cy="219456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Mekanisme perizinan digital.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8397925" y="4505325"/>
            <a:ext cx="100584" cy="21945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•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8399487" y="4505325"/>
            <a:ext cx="2935224" cy="219456"/>
          </a:xfrm>
          <a:prstGeom prst="rect">
            <a:avLst/>
          </a:prstGeom>
          <a:noFill/>
          <a:ln/>
        </p:spPr>
        <p:txBody>
          <a:bodyPr vert="horz" wrap="square" lIns="190500" tIns="0" rIns="0" bIns="0" rtlCol="0" anchor="t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Peningkatan </a:t>
            </a: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kepatuhan regulasi</a:t>
            </a: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923038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6364" y="1860"/>
            <a:ext cx="11284804" cy="6126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Perbandingan:</a:t>
            </a:r>
            <a:r>
              <a:rPr lang="en-US" sz="39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Bentuk Badan Usaha Startup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000125" y="899071"/>
            <a:ext cx="3123009" cy="6023967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37655" y="2672730"/>
            <a:ext cx="2761488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PT: Standar Emas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7655" y="3090863"/>
            <a:ext cx="2697480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PT adalah standar emas startup karena adanya </a:t>
            </a: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pemisahan aset pribadi</a:t>
            </a:r>
            <a:r>
              <a:rPr lang="en-US" sz="12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yang melindungi pendiri secara hukum.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1237655" y="4176712"/>
            <a:ext cx="2697480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Struktur ini memungkinkan </a:t>
            </a: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akses modal luas</a:t>
            </a:r>
            <a:r>
              <a:rPr lang="en-US" sz="12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memudahkan pendanaan dari berbagai investor ventura.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4408884" y="899071"/>
            <a:ext cx="3374231" cy="6023967"/>
          </a:xfrm>
          <a:prstGeom prst="roundRect">
            <a:avLst>
              <a:gd name="adj" fmla="val 282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08884" y="899071"/>
            <a:ext cx="3371850" cy="6019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68866" y="899071"/>
            <a:ext cx="3123009" cy="6023967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306395" y="2672730"/>
            <a:ext cx="2761488" cy="3108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Risiko &amp; Kredibilitas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306395" y="3090863"/>
            <a:ext cx="2697480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Berbeda dengan CV, usaha perorangan memiliki </a:t>
            </a: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risiko harta pribadi tersita</a:t>
            </a:r>
            <a:r>
              <a:rPr lang="en-US" sz="12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jika terjadi kerugian bisnis.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8306395" y="4176712"/>
            <a:ext cx="2697480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PT menawarkan </a:t>
            </a:r>
            <a:r>
              <a:rPr lang="en-US" sz="1275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kredibilitas tinggi</a:t>
            </a:r>
            <a:r>
              <a:rPr lang="en-US" sz="1275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bagi mitra digital, menjadikannya pilihan utama bagi ekosistem startup.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140773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11365992" cy="1490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Mengenal PT Perorangan bagi Pendiri Tunggal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476250" y="2057400"/>
            <a:ext cx="11301984" cy="33832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Aspek Hukum dan Perizinan Berusaha Startup melalui Sistem OSS RBA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738" y="2867025"/>
            <a:ext cx="3933825" cy="3797498"/>
          </a:xfrm>
          <a:prstGeom prst="roundRect">
            <a:avLst>
              <a:gd name="adj" fmla="val 2508"/>
            </a:avLst>
          </a:prstGeom>
          <a:solidFill>
            <a:srgbClr val="FFFFFF"/>
          </a:solidFill>
          <a:ln/>
          <a:effectLst>
            <a:outerShdw blurRad="142875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2488" y="3152775"/>
            <a:ext cx="3362325" cy="781050"/>
          </a:xfrm>
          <a:prstGeom prst="roundRect">
            <a:avLst>
              <a:gd name="adj" fmla="val 9756"/>
            </a:avLst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2988" y="3343275"/>
            <a:ext cx="3054096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UU Cipta Kerja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52488" y="4124325"/>
            <a:ext cx="3410712" cy="10881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38"/>
              </a:lnSpc>
              <a:buNone/>
            </a:pPr>
            <a:r>
              <a:rPr lang="en-US" sz="1425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PT Perorangan memungkinkan pendiri tunggal menjalankan badan hukum dengan proses pendirian yang sangat sederhana dan efisien.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4881563" y="2867025"/>
            <a:ext cx="6743700" cy="1138833"/>
          </a:xfrm>
          <a:prstGeom prst="roundRect">
            <a:avLst>
              <a:gd name="adj" fmla="val 6691"/>
            </a:avLst>
          </a:prstGeom>
          <a:solidFill>
            <a:srgbClr val="FFFFFF"/>
          </a:solidFill>
          <a:ln/>
          <a:effectLst>
            <a:outerShdw blurRad="9525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881563" y="2867025"/>
            <a:ext cx="0" cy="1138833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9213" y="3203079"/>
            <a:ext cx="292608" cy="475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519738" y="3058418"/>
            <a:ext cx="608076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Konsep PT Perorangan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519738" y="3334643"/>
            <a:ext cx="5961888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Entitas hukum baru untuk UMK yang didirikan oleh satu orang tanpa memerlukan akta notaris yang rumit.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81563" y="4196358"/>
            <a:ext cx="6743700" cy="1138833"/>
          </a:xfrm>
          <a:prstGeom prst="roundRect">
            <a:avLst>
              <a:gd name="adj" fmla="val 6691"/>
            </a:avLst>
          </a:prstGeom>
          <a:solidFill>
            <a:srgbClr val="FFFFFF"/>
          </a:solidFill>
          <a:ln/>
          <a:effectLst>
            <a:outerShdw blurRad="9525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881563" y="4196358"/>
            <a:ext cx="0" cy="1138833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213" y="4532412"/>
            <a:ext cx="292608" cy="475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5519738" y="4387751"/>
            <a:ext cx="608076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Kriteria &amp; Batasan Modal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519738" y="4663976"/>
            <a:ext cx="5961888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Modal wajib memenuhi kriteria usaha mikro/kecil dengan batasan tanggung jawab hukum sesuai setoran modal.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81563" y="5525691"/>
            <a:ext cx="6743700" cy="1138833"/>
          </a:xfrm>
          <a:prstGeom prst="roundRect">
            <a:avLst>
              <a:gd name="adj" fmla="val 6691"/>
            </a:avLst>
          </a:prstGeom>
          <a:solidFill>
            <a:srgbClr val="FFFFFF"/>
          </a:solidFill>
          <a:ln/>
          <a:effectLst>
            <a:outerShdw blurRad="9525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81563" y="5525691"/>
            <a:ext cx="0" cy="1138833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213" y="5861745"/>
            <a:ext cx="292608" cy="475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5519738" y="5717084"/>
            <a:ext cx="6080760" cy="274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Pemisahan Kekayaan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519738" y="5993309"/>
            <a:ext cx="5961888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Melindungi aset pribadi founder startup dari risiko operasional bisnis melalui pemisahan harta yang sah secara hukum.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97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2667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2647950"/>
            <a:ext cx="12192000" cy="0"/>
          </a:xfrm>
          <a:prstGeom prst="line">
            <a:avLst/>
          </a:prstGeom>
          <a:noFill/>
          <a:ln w="38100">
            <a:solidFill>
              <a:srgbClr val="E89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000" y="1058317"/>
            <a:ext cx="10799064" cy="11978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Proses Pendirian Badan Usaha melalui AHU Online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62000" y="3238500"/>
            <a:ext cx="4953000" cy="3049786"/>
          </a:xfrm>
          <a:prstGeom prst="roundRect">
            <a:avLst>
              <a:gd name="adj" fmla="val 24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3524250"/>
            <a:ext cx="4453128" cy="804672"/>
          </a:xfrm>
          <a:prstGeom prst="rect">
            <a:avLst/>
          </a:prstGeom>
          <a:noFill/>
          <a:ln/>
        </p:spPr>
        <p:txBody>
          <a:bodyPr vert="horz" wrap="square" lIns="0" tIns="0" rIns="238125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Langkah &amp; Dokumen Persyaratan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7750" y="4638675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04925" y="4560540"/>
            <a:ext cx="4169664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Proses digital meliputi pengajuan nama, data perusahaan, dan input pemegang saham.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47750" y="5358705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04925" y="5280571"/>
            <a:ext cx="4169664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Menyiapkan dokumen wajib seperti KTP, NPWP, serta pernyataan pendirian resmi.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77000" y="3238500"/>
            <a:ext cx="4953000" cy="3049786"/>
          </a:xfrm>
          <a:prstGeom prst="roundRect">
            <a:avLst>
              <a:gd name="adj" fmla="val 24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62750" y="3524250"/>
            <a:ext cx="4453128" cy="402336"/>
          </a:xfrm>
          <a:prstGeom prst="rect">
            <a:avLst/>
          </a:prstGeom>
          <a:noFill/>
          <a:ln/>
        </p:spPr>
        <p:txBody>
          <a:bodyPr vert="horz" wrap="square" lIns="0" tIns="0" rIns="238125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Pengesahan Hukum Digital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62750" y="4238625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19925" y="4160490"/>
            <a:ext cx="4169664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Pengesahan badan hukum dilakukan secara otomatis melalui sistem terintegrasi AHU.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62750" y="4958655"/>
            <a:ext cx="114300" cy="114300"/>
          </a:xfrm>
          <a:prstGeom prst="roundRect">
            <a:avLst>
              <a:gd name="adj" fmla="val 960000"/>
            </a:avLst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19925" y="4880521"/>
            <a:ext cx="4169664" cy="55778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Mendukung aspek legalitas startup melalui layanan perseroan perorangan digital.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571500"/>
            <a:ext cx="10799064" cy="7498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Konsep Dasar </a:t>
            </a:r>
            <a:r>
              <a:rPr lang="en-US" sz="39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OSS RBA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62000" y="1409700"/>
            <a:ext cx="10725912" cy="320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Transformasi regulasi untuk kemudahan legalitas startup.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200275"/>
            <a:ext cx="3301901" cy="333375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blurRad="142875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5638" y="2590800"/>
            <a:ext cx="2944368" cy="740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5250" b="1" dirty="0">
                <a:solidFill>
                  <a:srgbClr val="E8964A">
                    <a:alpha val="2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5250" dirty="0"/>
          </a:p>
        </p:txBody>
      </p:sp>
      <p:sp>
        <p:nvSpPr>
          <p:cNvPr id="7" name="Text 5"/>
          <p:cNvSpPr/>
          <p:nvPr/>
        </p:nvSpPr>
        <p:spPr>
          <a:xfrm>
            <a:off x="1055638" y="2800350"/>
            <a:ext cx="2779776" cy="722376"/>
          </a:xfrm>
          <a:prstGeom prst="rect">
            <a:avLst/>
          </a:prstGeom>
          <a:noFill/>
          <a:ln/>
        </p:spPr>
        <p:txBody>
          <a:bodyPr vert="horz" wrap="square" lIns="0" tIns="47625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Perubahan Paradigma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5638" y="3706118"/>
            <a:ext cx="2761488" cy="10972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Mengubah sistem dari berbasis izin tradisional menjadi </a:t>
            </a:r>
            <a:r>
              <a:rPr lang="en-US" sz="13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berbasis risiko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untuk menyederhanakan proses legalitas usaha.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44901" y="2200275"/>
            <a:ext cx="3302050" cy="333375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blurRad="142875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38613" y="2590800"/>
            <a:ext cx="2944368" cy="740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5250" b="1" dirty="0">
                <a:solidFill>
                  <a:srgbClr val="E8964A">
                    <a:alpha val="2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5250" dirty="0"/>
          </a:p>
        </p:txBody>
      </p:sp>
      <p:sp>
        <p:nvSpPr>
          <p:cNvPr id="11" name="Text 9"/>
          <p:cNvSpPr/>
          <p:nvPr/>
        </p:nvSpPr>
        <p:spPr>
          <a:xfrm>
            <a:off x="4738613" y="2800350"/>
            <a:ext cx="2779776" cy="384048"/>
          </a:xfrm>
          <a:prstGeom prst="rect">
            <a:avLst/>
          </a:prstGeom>
          <a:noFill/>
          <a:ln/>
        </p:spPr>
        <p:txBody>
          <a:bodyPr vert="horz" wrap="square" lIns="0" tIns="47625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Tujuan Implementasi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38613" y="3371776"/>
            <a:ext cx="2761488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Meningkatkan </a:t>
            </a:r>
            <a:r>
              <a:rPr lang="en-US" sz="13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efisiensi birokrasi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serta menciptakan ekosistem bisnis yang lebih transparan dan akuntabel bagi pelaku startup.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127950" y="2200275"/>
            <a:ext cx="3302050" cy="333375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blurRad="142875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21663" y="2590800"/>
            <a:ext cx="2944368" cy="7406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5250" b="1" dirty="0">
                <a:solidFill>
                  <a:srgbClr val="E8964A">
                    <a:alpha val="2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endParaRPr lang="en-US" sz="5250" dirty="0"/>
          </a:p>
        </p:txBody>
      </p:sp>
      <p:sp>
        <p:nvSpPr>
          <p:cNvPr id="15" name="Text 13"/>
          <p:cNvSpPr/>
          <p:nvPr/>
        </p:nvSpPr>
        <p:spPr>
          <a:xfrm>
            <a:off x="8421663" y="2800350"/>
            <a:ext cx="2779776" cy="384048"/>
          </a:xfrm>
          <a:prstGeom prst="rect">
            <a:avLst/>
          </a:prstGeom>
          <a:noFill/>
          <a:ln/>
        </p:spPr>
        <p:txBody>
          <a:bodyPr vert="horz" wrap="square" lIns="0" tIns="47625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Legalitas Utama NIB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21663" y="3371776"/>
            <a:ext cx="2761488" cy="1371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Penggunaan </a:t>
            </a:r>
            <a:r>
              <a:rPr lang="en-US" sz="13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Nomor Induk Berusaha (NIB)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sebagai identitas hukum tunggal yang wajib dimiliki oleh setiap pelaku usaha.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33500" y="882253"/>
            <a:ext cx="9656064" cy="12344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Skala Risiko Usaha </a:t>
            </a:r>
            <a:r>
              <a:rPr lang="en-US" sz="39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sampai 6 dalam OSS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1333500" y="2205186"/>
            <a:ext cx="9582912" cy="6309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Penjelasan tingkat risiko rendah, menengah rendah, menengah tinggi, dan tinggi dalam sistem perizinan.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3405336"/>
            <a:ext cx="3619500" cy="2569369"/>
          </a:xfrm>
          <a:prstGeom prst="roundRect">
            <a:avLst>
              <a:gd name="adj" fmla="val 5561"/>
            </a:avLst>
          </a:prstGeom>
          <a:solidFill>
            <a:srgbClr val="FFFFFF"/>
          </a:solidFill>
          <a:ln/>
          <a:effectLst>
            <a:outerShdw blurRad="190500" dist="952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1000" y="3433911"/>
            <a:ext cx="3619500" cy="0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05000" y="3795861"/>
            <a:ext cx="571500" cy="571500"/>
          </a:xfrm>
          <a:prstGeom prst="roundRect">
            <a:avLst>
              <a:gd name="adj" fmla="val 1600000"/>
            </a:avLst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14550" y="3900636"/>
            <a:ext cx="219456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14375" y="4604296"/>
            <a:ext cx="2999232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Tingkat risiko menentukan dokumen: Rendah (NIB), Menengah (NIB+Sertifikat Standar), dan Tinggi (NIB+Izin Utama).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4286250" y="3405336"/>
            <a:ext cx="3619500" cy="2569369"/>
          </a:xfrm>
          <a:prstGeom prst="roundRect">
            <a:avLst>
              <a:gd name="adj" fmla="val 5561"/>
            </a:avLst>
          </a:prstGeom>
          <a:solidFill>
            <a:srgbClr val="FFFFFF"/>
          </a:solidFill>
          <a:ln/>
          <a:effectLst>
            <a:outerShdw blurRad="190500" dist="952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86250" y="3433911"/>
            <a:ext cx="3619500" cy="0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10250" y="3795861"/>
            <a:ext cx="571500" cy="571500"/>
          </a:xfrm>
          <a:prstGeom prst="roundRect">
            <a:avLst>
              <a:gd name="adj" fmla="val 1600000"/>
            </a:avLst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19800" y="3900636"/>
            <a:ext cx="219456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619625" y="4604296"/>
            <a:ext cx="2999232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 melakukan validasi otomatis berdasarkan skala usaha dan KBLI untuk memastikan efisiensi proses perizinan digital.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8191500" y="3405336"/>
            <a:ext cx="3619500" cy="2569369"/>
          </a:xfrm>
          <a:prstGeom prst="roundRect">
            <a:avLst>
              <a:gd name="adj" fmla="val 5561"/>
            </a:avLst>
          </a:prstGeom>
          <a:solidFill>
            <a:srgbClr val="FFFFFF"/>
          </a:solidFill>
          <a:ln/>
          <a:effectLst>
            <a:outerShdw blurRad="190500" dist="952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191500" y="3433911"/>
            <a:ext cx="3619500" cy="0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15500" y="3795861"/>
            <a:ext cx="571500" cy="571500"/>
          </a:xfrm>
          <a:prstGeom prst="roundRect">
            <a:avLst>
              <a:gd name="adj" fmla="val 1600000"/>
            </a:avLst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925050" y="3900636"/>
            <a:ext cx="219456" cy="3657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524875" y="4604296"/>
            <a:ext cx="2999232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04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Integrasi dokumen elektronik mempercepat legalitas startup, menciptakan ekosistem bisnis yang lebih transparan dan terstruktur.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524500" cy="6858000"/>
          </a:xfrm>
          <a:prstGeom prst="rect">
            <a:avLst/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1500" y="762000"/>
            <a:ext cx="4507992" cy="15727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Jenis-Jenis</a:t>
            </a:r>
            <a:endParaRPr lang="en-US" sz="3750" dirty="0"/>
          </a:p>
          <a:p>
            <a:pPr marL="0" indent="0" algn="l">
              <a:lnSpc>
                <a:spcPts val="4125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Perizinan Berusaha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571500" y="2714625"/>
            <a:ext cx="4381500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9625" y="2973586"/>
            <a:ext cx="210312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2906911"/>
            <a:ext cx="3621024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NIB sebagai identitas tunggal bagi seluruh pelaku usaha startup di Indonesia.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71500" y="3813572"/>
            <a:ext cx="4381500" cy="860822"/>
          </a:xfrm>
          <a:prstGeom prst="roundRect">
            <a:avLst>
              <a:gd name="adj" fmla="val 132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09625" y="4072533"/>
            <a:ext cx="210312" cy="347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4005858"/>
            <a:ext cx="3621024" cy="484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Sertifikat Standar untuk risiko menengah dan Izin untuk sektor risiko tinggi.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15125" y="571500"/>
            <a:ext cx="4286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15125" y="571500"/>
            <a:ext cx="4286250" cy="2667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15125" y="3619500"/>
            <a:ext cx="4286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1" descr="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15125" y="3619500"/>
            <a:ext cx="428625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34398" y="1247775"/>
            <a:ext cx="12042648" cy="61264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Perizinan Khusus:</a:t>
            </a:r>
            <a:r>
              <a:rPr lang="en-US" sz="36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Sektor Digital dan E-Commerce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04875" y="2084040"/>
            <a:ext cx="3048000" cy="352425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04875" y="2103090"/>
            <a:ext cx="3048000" cy="0"/>
          </a:xfrm>
          <a:prstGeom prst="line">
            <a:avLst/>
          </a:prstGeom>
          <a:noFill/>
          <a:ln w="38100">
            <a:solidFill>
              <a:srgbClr val="E89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604343"/>
            <a:ext cx="2624328" cy="320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Klasifikasi KBLI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43000" y="3063329"/>
            <a:ext cx="2615184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Legalitas startup di Indonesia berfokus pada </a:t>
            </a:r>
            <a:r>
              <a:rPr lang="en-US" sz="120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KBLI 63122</a:t>
            </a: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untuk E-Commerce guna menjamin kepatuhan operasional.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4152751"/>
            <a:ext cx="2615184" cy="9784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Setiap platform wajib melalui sistem </a:t>
            </a:r>
            <a:r>
              <a:rPr lang="en-US" sz="120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OSS RBA</a:t>
            </a: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untuk memenuhi standar legalitas dan melindungi data pengguna secara sah.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91000" y="2084040"/>
            <a:ext cx="3810000" cy="3524250"/>
          </a:xfrm>
          <a:prstGeom prst="roundRect">
            <a:avLst>
              <a:gd name="adj" fmla="val 2703"/>
            </a:avLst>
          </a:prstGeom>
          <a:solidFill>
            <a:srgbClr val="CCCC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1000" y="2084040"/>
            <a:ext cx="3810000" cy="35242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39125" y="2084040"/>
            <a:ext cx="3048000" cy="352425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8239125" y="2103090"/>
            <a:ext cx="3048000" cy="0"/>
          </a:xfrm>
          <a:prstGeom prst="line">
            <a:avLst/>
          </a:prstGeom>
          <a:noFill/>
          <a:ln w="38100">
            <a:solidFill>
              <a:srgbClr val="E896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77250" y="2360563"/>
            <a:ext cx="2624328" cy="320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Kewajiban PSE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477250" y="2817614"/>
            <a:ext cx="261518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Pendaftaran </a:t>
            </a:r>
            <a:r>
              <a:rPr lang="en-US" sz="120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Penyelenggara Sistem Elektronik (PSE)</a:t>
            </a: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di Kominfo sangat penting untuk menjamin keamanan operasional platform.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77250" y="4150816"/>
            <a:ext cx="2615184" cy="12252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Kepatuhan terhadap regulasi </a:t>
            </a:r>
            <a:r>
              <a:rPr lang="en-US" sz="120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teknologi yang dinamis</a:t>
            </a: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memastikan startup memiliki aspek legalitas yang kokoh dan terpercaya.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95475" y="1191667"/>
            <a:ext cx="8522208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Regulasi Spesifik </a:t>
            </a:r>
            <a:r>
              <a:rPr lang="en-US" sz="375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Fintech dan SaaS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857250" y="2487067"/>
            <a:ext cx="3238500" cy="3179266"/>
          </a:xfrm>
          <a:prstGeom prst="roundRect">
            <a:avLst>
              <a:gd name="adj" fmla="val 359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95500" y="2820442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FCE6D4"/>
          </a:solidFill>
          <a:ln w="19050">
            <a:solidFill>
              <a:srgbClr val="E896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95538" y="2877592"/>
            <a:ext cx="274320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3375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375" dirty="0"/>
          </a:p>
        </p:txBody>
      </p:sp>
      <p:sp>
        <p:nvSpPr>
          <p:cNvPr id="7" name="Text 5"/>
          <p:cNvSpPr/>
          <p:nvPr/>
        </p:nvSpPr>
        <p:spPr>
          <a:xfrm>
            <a:off x="1095375" y="3771900"/>
            <a:ext cx="2816352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Klasifikasi KBLI Bisnis SaaS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5375" y="4418558"/>
            <a:ext cx="280720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Pemilihan kode KBLI yang tepat (seperti 62029 atau 63111) sangat krusial bagi operasional software perusahaan.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76750" y="2487067"/>
            <a:ext cx="3238500" cy="3179266"/>
          </a:xfrm>
          <a:prstGeom prst="roundRect">
            <a:avLst>
              <a:gd name="adj" fmla="val 359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0" y="2820442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FCE6D4"/>
          </a:solidFill>
          <a:ln w="19050">
            <a:solidFill>
              <a:srgbClr val="E896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72175" y="2877592"/>
            <a:ext cx="356616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3375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375" dirty="0"/>
          </a:p>
        </p:txBody>
      </p:sp>
      <p:sp>
        <p:nvSpPr>
          <p:cNvPr id="12" name="Text 10"/>
          <p:cNvSpPr/>
          <p:nvPr/>
        </p:nvSpPr>
        <p:spPr>
          <a:xfrm>
            <a:off x="4876181" y="3774802"/>
            <a:ext cx="2496312" cy="2834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t">
            <a:normAutofit/>
          </a:bodyPr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Kepatuhan OJK dan BI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14875" y="4167188"/>
            <a:ext cx="280720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Fintech wajib terdaftar dan memenuhi standar regulasi OJK serta Bank Indonesia untuk akses sistem pembayaran resmi.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6250" y="2487067"/>
            <a:ext cx="3238500" cy="3179266"/>
          </a:xfrm>
          <a:prstGeom prst="roundRect">
            <a:avLst>
              <a:gd name="adj" fmla="val 3595"/>
            </a:avLst>
          </a:prstGeom>
          <a:solidFill>
            <a:srgbClr val="FFFFFF"/>
          </a:solidFill>
          <a:ln/>
          <a:effectLst>
            <a:outerShdw blurRad="190500" dist="762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334500" y="2820442"/>
            <a:ext cx="762000" cy="762000"/>
          </a:xfrm>
          <a:prstGeom prst="roundRect">
            <a:avLst>
              <a:gd name="adj" fmla="val 1200000"/>
            </a:avLst>
          </a:prstGeom>
          <a:solidFill>
            <a:srgbClr val="FCE6D4"/>
          </a:solidFill>
          <a:ln w="19050">
            <a:solidFill>
              <a:srgbClr val="E8964A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586913" y="2877592"/>
            <a:ext cx="365760" cy="649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3375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375" dirty="0"/>
          </a:p>
        </p:txBody>
      </p:sp>
      <p:sp>
        <p:nvSpPr>
          <p:cNvPr id="17" name="Text 15"/>
          <p:cNvSpPr/>
          <p:nvPr/>
        </p:nvSpPr>
        <p:spPr>
          <a:xfrm>
            <a:off x="8334375" y="3771900"/>
            <a:ext cx="2816352" cy="5120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Persyaratan Modal Minimum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34375" y="4418558"/>
            <a:ext cx="2807208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Pemenuhan syarat modal disetor minimum sesuai klasifikasi risiko sektor keuangan digital untuk izin usaha.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71550" y="571500"/>
            <a:ext cx="10369296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Penentuan KBLI yang </a:t>
            </a:r>
            <a:r>
              <a:rPr lang="en-US" sz="375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Tepat untuk Startup</a:t>
            </a:r>
            <a:endParaRPr lang="en-US" sz="3750" dirty="0"/>
          </a:p>
        </p:txBody>
      </p:sp>
      <p:sp>
        <p:nvSpPr>
          <p:cNvPr id="5" name="Text 3"/>
          <p:cNvSpPr/>
          <p:nvPr/>
        </p:nvSpPr>
        <p:spPr>
          <a:xfrm>
            <a:off x="971550" y="1390650"/>
            <a:ext cx="10305288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Hukum Perusahaan Startup dan Aspek Perizinan Berusaha OSS RBA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7250" y="2152650"/>
            <a:ext cx="2952750" cy="3876675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57250" y="2181225"/>
            <a:ext cx="2952750" cy="0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2590800"/>
            <a:ext cx="2258568" cy="8046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Metode Pemilihan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00163" y="3533775"/>
            <a:ext cx="2157984" cy="475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Kode 5 Digit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238250" y="4191000"/>
            <a:ext cx="2240280" cy="1463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Pilih kode sesuai model bisnis digital untuk menentukan struktur pajak dan izin operasional secara akurat agar legalitas terjamin.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191000" y="2152650"/>
            <a:ext cx="38100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91000" y="2152650"/>
            <a:ext cx="3810000" cy="3810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82000" y="2152650"/>
            <a:ext cx="2952750" cy="3876675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8382000" y="2181225"/>
            <a:ext cx="2952750" cy="0"/>
          </a:xfrm>
          <a:prstGeom prst="line">
            <a:avLst/>
          </a:prstGeom>
          <a:noFill/>
          <a:ln w="57150">
            <a:solidFill>
              <a:srgbClr val="E896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34463" y="2590800"/>
            <a:ext cx="1719072" cy="402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Studi Kasus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834438" y="3133725"/>
            <a:ext cx="2139696" cy="475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Izin Spesifik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8763000" y="3790950"/>
            <a:ext cx="2240280" cy="1463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Marketplace menggunakan KBLI 63122, sedangkan Aplikasi Payment memerlukan izin khusus sektor keuangan dari otoritas terkait.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225742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2247900"/>
            <a:ext cx="12192000" cy="0"/>
          </a:xfrm>
          <a:prstGeom prst="line">
            <a:avLst/>
          </a:prstGeom>
          <a:noFill/>
          <a:ln w="19050">
            <a:solidFill>
              <a:srgbClr val="E89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571500"/>
            <a:ext cx="10405872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Simulasi Praktis </a:t>
            </a:r>
            <a:r>
              <a:rPr lang="en-US" sz="36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Pembuatan NIB</a:t>
            </a:r>
            <a:r>
              <a:rPr lang="en-US" sz="36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Fiktif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52500" y="1352550"/>
            <a:ext cx="10341864" cy="320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Panduan komprehensif langkah-langkah teknis perizinan berusaha melalui platform digital.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2828925"/>
            <a:ext cx="3365450" cy="3457575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62000" y="2852738"/>
            <a:ext cx="3365450" cy="0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9313" y="3209925"/>
            <a:ext cx="2852928" cy="33832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Navigasi Dashboard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9313" y="3732609"/>
            <a:ext cx="2834640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Eksplorasi antarmuka </a:t>
            </a:r>
            <a:r>
              <a:rPr lang="en-US" sz="1275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sistem OSS RBA terbaru</a:t>
            </a: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untuk memahami alur kerja pendaftaran secara mandiri dan efisien.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4413200" y="2828925"/>
            <a:ext cx="3365599" cy="3457575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413200" y="2852738"/>
            <a:ext cx="3365599" cy="0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588" y="3209925"/>
            <a:ext cx="2852928" cy="33832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Input Data Proyek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0588" y="3732609"/>
            <a:ext cx="2834640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Prosedur pengisian data </a:t>
            </a:r>
            <a:r>
              <a:rPr lang="en-US" sz="1275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pelaku usaha</a:t>
            </a: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serta rincian spesifik mengenai rencana proyek startup digital Anda secara akurat.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8064550" y="2828925"/>
            <a:ext cx="3365450" cy="3457575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  <a:effectLst>
            <a:outerShdw blurRad="5715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064550" y="2852738"/>
            <a:ext cx="3365450" cy="0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1862" y="3209925"/>
            <a:ext cx="2852928" cy="338328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Penerbitan Real-Time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1862" y="3732609"/>
            <a:ext cx="2834640" cy="10424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Mempercepat operasional melalui </a:t>
            </a:r>
            <a:r>
              <a:rPr lang="en-US" sz="1275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penerbitan NIB instan</a:t>
            </a: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untuk legalitas bisnis yang adaptif di era transformasi digital.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66750" y="1038225"/>
            <a:ext cx="3346704" cy="15453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33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Startup </a:t>
            </a:r>
            <a:r>
              <a:rPr lang="en-US" sz="337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E-Commerce</a:t>
            </a:r>
            <a:r>
              <a:rPr lang="en-US" sz="33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&amp; Fintech</a:t>
            </a:r>
            <a:endParaRPr lang="en-US" sz="3375" dirty="0"/>
          </a:p>
        </p:txBody>
      </p:sp>
      <p:pic>
        <p:nvPicPr>
          <p:cNvPr id="5" name="Image 0" descr="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" y="3009900"/>
            <a:ext cx="3143250" cy="2762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57838" y="966788"/>
            <a:ext cx="5733288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Analisis Perizinan &amp; Mitigasi Hukum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143500" y="1804988"/>
            <a:ext cx="64770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143500" y="1804988"/>
            <a:ext cx="76200" cy="990600"/>
          </a:xfrm>
          <a:prstGeom prst="rect">
            <a:avLst/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505450" y="2043113"/>
            <a:ext cx="5879592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Izin OSS RBA: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Analisis dokumen NIB dan izin usaha berbasis risiko melalui platform resmi </a:t>
            </a:r>
            <a:r>
              <a:rPr lang="en-US" sz="13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OSS RBA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untuk legalitas marketplace.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143500" y="3081338"/>
            <a:ext cx="647700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43500" y="3081338"/>
            <a:ext cx="76200" cy="990600"/>
          </a:xfrm>
          <a:prstGeom prst="rect">
            <a:avLst/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05450" y="3319463"/>
            <a:ext cx="5879592" cy="5212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Pendaftaran PSE: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Langkah krusial pendaftaran izin </a:t>
            </a:r>
            <a:r>
              <a:rPr lang="en-US" sz="13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PSE Kominfo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guna menjamin operasional dan keamanan platform digital.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143500" y="4357688"/>
            <a:ext cx="6477000" cy="1247775"/>
          </a:xfrm>
          <a:prstGeom prst="roundRect">
            <a:avLst>
              <a:gd name="adj" fmla="val 763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143500" y="4357688"/>
            <a:ext cx="76200" cy="1247775"/>
          </a:xfrm>
          <a:prstGeom prst="rect">
            <a:avLst/>
          </a:prstGeom>
          <a:solidFill>
            <a:srgbClr val="E896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505450" y="4595813"/>
            <a:ext cx="5879592" cy="77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Mitigasi Risiko: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Perlindungan entitas bisnis sejak dini untuk menghindari </a:t>
            </a:r>
            <a:r>
              <a:rPr lang="en-US" sz="1350" b="1" dirty="0">
                <a:solidFill>
                  <a:srgbClr val="E896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sengketa kepatuhan</a:t>
            </a:r>
            <a:r>
              <a:rPr lang="en-US" sz="1350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hukum di masa depan secara efektif.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23241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76200">
            <a:solidFill>
              <a:srgbClr val="E89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571500"/>
            <a:ext cx="10415016" cy="7315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Ringkasan &amp; Kesiapan </a:t>
            </a:r>
            <a:r>
              <a:rPr lang="en-US" sz="375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Legalitas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952500" y="1390650"/>
            <a:ext cx="10341864" cy="29260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Integrasi entitas bisnis dan sistem OSS RBA sebagai fondasi kepatuhan hukum startup.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2000" y="2800350"/>
            <a:ext cx="5214938" cy="1671638"/>
          </a:xfrm>
          <a:prstGeom prst="roundRect">
            <a:avLst>
              <a:gd name="adj" fmla="val 5698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62000" y="2824163"/>
            <a:ext cx="5214938" cy="0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7744" y="3086100"/>
            <a:ext cx="4800600" cy="320040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Struktur &amp; Lisensi OSS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97744" y="3493294"/>
            <a:ext cx="4791456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Pemilihan badan usaha (PT/CV) dan lisensi OSS RBA sangat krusial untuk memastikan kepatuhan hukum yang menyeluruh dan tepat sasaran.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6215063" y="2800350"/>
            <a:ext cx="5214938" cy="1671638"/>
          </a:xfrm>
          <a:prstGeom prst="roundRect">
            <a:avLst>
              <a:gd name="adj" fmla="val 5698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215063" y="2824163"/>
            <a:ext cx="5214938" cy="0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0806" y="3086100"/>
            <a:ext cx="4800600" cy="320040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Daya Tarik Investasi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50806" y="3493294"/>
            <a:ext cx="4791456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Kepatuhan legalitas menjadi faktor vital untuk menarik kepercayaan investor dan memfasilitasi kebutuhan scaling bisnis di era digital.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762000" y="4710113"/>
            <a:ext cx="5214938" cy="1671638"/>
          </a:xfrm>
          <a:prstGeom prst="roundRect">
            <a:avLst>
              <a:gd name="adj" fmla="val 5698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62000" y="4733925"/>
            <a:ext cx="5214938" cy="0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744" y="4995863"/>
            <a:ext cx="4800600" cy="320040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Mitigasi Risiko Bisnis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97744" y="5403056"/>
            <a:ext cx="4791456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Pemenuhan aspek perizinan melindungi startup dari sanksi administratif dan memberikan kepastian operasional dalam jangka panjang.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6215063" y="4710113"/>
            <a:ext cx="5214938" cy="1671638"/>
          </a:xfrm>
          <a:prstGeom prst="roundRect">
            <a:avLst>
              <a:gd name="adj" fmla="val 5698"/>
            </a:avLst>
          </a:prstGeom>
          <a:solidFill>
            <a:srgbClr val="FFFFFF"/>
          </a:solidFill>
          <a:ln/>
          <a:effectLst>
            <a:outerShdw blurRad="95250" dist="3810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215063" y="4733925"/>
            <a:ext cx="5214938" cy="0"/>
          </a:xfrm>
          <a:prstGeom prst="line">
            <a:avLst/>
          </a:prstGeom>
          <a:noFill/>
          <a:ln w="47625">
            <a:solidFill>
              <a:srgbClr val="E896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0806" y="4995863"/>
            <a:ext cx="4800600" cy="320040"/>
          </a:xfrm>
          <a:prstGeom prst="rect">
            <a:avLst/>
          </a:prstGeom>
          <a:noFill/>
          <a:ln/>
        </p:spPr>
        <p:txBody>
          <a:bodyPr vert="horz" wrap="square" lIns="0" tIns="0" rIns="19050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E896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Sesi Tanya Jawab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50806" y="5403056"/>
            <a:ext cx="4791456" cy="74066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275" dirty="0">
                <a:solidFill>
                  <a:srgbClr val="55555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Diskusi interaktif mengenai implementasi praktis regulasi perusahaan dan penutupan sesi materi kesiapan legalitas startup.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1129</Words>
  <Application>Microsoft Office PowerPoint</Application>
  <PresentationFormat>Widescreen</PresentationFormat>
  <Paragraphs>172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Times New Roman</vt:lpstr>
      <vt:lpstr>Arial</vt:lpstr>
      <vt:lpstr>Poppins</vt:lpstr>
      <vt:lpstr>Noto Sans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百度文库 v1.0.0</dc:creator>
  <cp:lastModifiedBy>intan .</cp:lastModifiedBy>
  <cp:revision>3</cp:revision>
  <dcterms:created xsi:type="dcterms:W3CDTF">2026-09-25T07:20:36Z</dcterms:created>
  <dcterms:modified xsi:type="dcterms:W3CDTF">2026-09-25T07:54:49Z</dcterms:modified>
</cp:coreProperties>
</file>