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embeddedFontLst>
    <p:embeddedFont>
      <p:font typeface="MiSans Normal" panose="020B0604020202020204" charset="-122"/>
      <p:regular r:id="rId22"/>
    </p:embeddedFont>
    <p:embeddedFont>
      <p:font typeface="Inter" panose="020B0604020202020204" charset="0"/>
      <p:regular r:id="rId23"/>
    </p:embeddedFont>
    <p:embeddedFont>
      <p:font typeface="Oswald" panose="020F0502020204030204" pitchFamily="2" charset="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8861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2B744-1F5D-C043-301E-FDD5B51129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5DFE12-9F2D-5C02-CB4E-F751FE8F5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EBCF58-121B-07D5-A815-26D8F07A5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A86961-DCD7-4645-629C-CA20538B3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BD3A4-947F-334B-D97A-4F9F3DD18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552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D0380-950D-0EB3-F821-03F4508FB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035F00-FD85-51C4-43B5-7F049F590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1B2DB4-D29F-9C6A-5999-72150C15B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74DC32-465E-F753-963C-7B7C96850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EBFEF8-E4F3-D916-581F-219CD8410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5085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207A4-E570-9A26-41C4-3ABA7F385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78DFE1-769D-C827-9998-F44CEA38F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1AAB41-3DDB-1920-EDE7-45768C2B8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B322CD-8F7B-88BA-A2A3-A3A458215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33F1C7-D3F0-2A37-B94E-239E84477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4634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3A0752-9F6C-2508-AE2B-3F7A7EF36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9CC9D8-3C56-F907-B56A-E5B8589E5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C444C7-103E-FD3F-090E-FDB5759D2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217FCF-2142-E0CA-6C18-6C95D434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4D8E9F-253E-1D82-97A9-15CA65474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77128A-737C-CA38-3862-20CEA44F6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9208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C56D1A-FB16-5E31-A106-DCF02DAC9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B02E7C-260D-60C5-FCCA-DFC01F142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BAA659-ACC6-6F45-429A-9678890E7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3D315E-F577-54BA-0BC7-11B2F9E497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699DE7-3CB8-893F-47F6-D80F369F8B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B0DFB00-0D40-DE77-E458-EEAD8647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E3B62EA-C11C-ED4C-E412-13015E94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0B67572-C038-B8EE-3F4A-66F2EB5BC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795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9ACFB3-6E7C-10C3-4227-DCC23590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DEFDC94-EB77-1206-3206-1B33F78EA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FB27BA-C6C4-956D-BB12-8D4F16B5C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DD0AACD-7B23-7A5E-6C34-7DCB44F64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2499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546190-2158-46F8-6A32-12FE189E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D3512C2-3838-72C2-51DD-8E9040126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007A5F-B186-54C0-5D19-2284F293A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7751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B735BD-C3BB-8927-3AF4-94F9438CB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616762-3893-E59B-CB9B-C02C1AA3B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0AA56D-7451-C3C5-6D51-B2650A454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28E855-990E-30E6-3512-97221C46C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7DA99E-7FBF-A00D-442B-2D8D7E789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1B805B-BFA9-DDA6-CEEA-6ADEA1A0E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919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7BD84F-84C9-AF27-1A59-8346212BD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BB0A76F-B479-8050-2AD7-B9A011F11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0EFA31-6C28-3C82-9363-FE2CAD862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00E6CE-098C-0ED3-86A0-E120929DD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0CC86E-6091-D81E-FA00-BF21FA580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DE2F81-7731-1152-9792-87A036E1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8534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11DD4-0674-E844-9E12-5F2805D47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F851AA-3284-5ED7-C023-2D29A38989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1C3777-D1E7-BA80-B662-AF007330B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D95CC9-AF53-F0AA-FD40-F3E2CCEC5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D1B16D-B121-595D-C223-CB5F9D124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3416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0C1838-1DC8-7579-5F22-B30187479B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670889-BEC7-D29F-E1AC-BF218674A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15CB33-44D0-A76C-3FF3-EEA9A801C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78635D-6139-9A84-B3F9-9BCA80355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41DB96-ECF2-C664-F90E-E7B4E08A6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33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6C56813-2AEB-CC25-B5BE-39156AC4A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5FFF8B-ED7D-4F9C-5CD8-CC3E43D1D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1D59E3-C823-D4DA-54BF-4D8DB9BF0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C1EF5F-1486-06C8-051E-7B825CAD5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6A3C8D-E9F0-A63A-F26B-7851D262D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3459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7" Type="http://schemas.openxmlformats.org/officeDocument/2006/relationships/image" Target="../media/image2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82000" y="0"/>
            <a:ext cx="3810000" cy="3810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919537" y="1924050"/>
            <a:ext cx="809625" cy="266700"/>
          </a:xfrm>
          <a:prstGeom prst="roundRect">
            <a:avLst>
              <a:gd name="adj" fmla="val 14286"/>
            </a:avLst>
          </a:prstGeom>
          <a:solidFill>
            <a:srgbClr val="666AF6">
              <a:alpha val="10000"/>
            </a:srgbClr>
          </a:solidFill>
          <a:ln w="9525">
            <a:solidFill>
              <a:srgbClr val="666AF6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3919537" y="1924050"/>
            <a:ext cx="841248" cy="274320"/>
          </a:xfrm>
          <a:prstGeom prst="rect">
            <a:avLst/>
          </a:prstGeom>
          <a:noFill/>
          <a:ln/>
        </p:spPr>
        <p:txBody>
          <a:bodyPr vert="horz" wrap="square" lIns="152400" tIns="38100" rIns="152400" bIns="3810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150" dirty="0">
                <a:solidFill>
                  <a:srgbClr val="B5C0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LISENSI</a:t>
            </a:r>
            <a:endParaRPr lang="en-US" sz="900" dirty="0"/>
          </a:p>
        </p:txBody>
      </p:sp>
      <p:sp>
        <p:nvSpPr>
          <p:cNvPr id="7" name="Text 2"/>
          <p:cNvSpPr/>
          <p:nvPr/>
        </p:nvSpPr>
        <p:spPr>
          <a:xfrm>
            <a:off x="4881563" y="1924050"/>
            <a:ext cx="1809750" cy="266700"/>
          </a:xfrm>
          <a:prstGeom prst="roundRect">
            <a:avLst>
              <a:gd name="adj" fmla="val 14286"/>
            </a:avLst>
          </a:prstGeom>
          <a:solidFill>
            <a:srgbClr val="666AF6">
              <a:alpha val="10000"/>
            </a:srgbClr>
          </a:solidFill>
          <a:ln w="9525">
            <a:solidFill>
              <a:srgbClr val="666AF6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4881563" y="1924050"/>
            <a:ext cx="1847088" cy="274320"/>
          </a:xfrm>
          <a:prstGeom prst="rect">
            <a:avLst/>
          </a:prstGeom>
          <a:noFill/>
          <a:ln/>
        </p:spPr>
        <p:txBody>
          <a:bodyPr vert="horz" wrap="square" lIns="152400" tIns="38100" rIns="152400" bIns="3810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150" dirty="0">
                <a:solidFill>
                  <a:srgbClr val="B5C0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KEKAYAAN INTELEKTUAL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6843713" y="1924050"/>
            <a:ext cx="1428750" cy="266700"/>
          </a:xfrm>
          <a:prstGeom prst="roundRect">
            <a:avLst>
              <a:gd name="adj" fmla="val 14286"/>
            </a:avLst>
          </a:prstGeom>
          <a:solidFill>
            <a:srgbClr val="666AF6">
              <a:alpha val="10000"/>
            </a:srgbClr>
          </a:solidFill>
          <a:ln w="9525">
            <a:solidFill>
              <a:srgbClr val="666AF6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6843713" y="1924050"/>
            <a:ext cx="1463040" cy="274320"/>
          </a:xfrm>
          <a:prstGeom prst="rect">
            <a:avLst/>
          </a:prstGeom>
          <a:noFill/>
          <a:ln/>
        </p:spPr>
        <p:txBody>
          <a:bodyPr vert="horz" wrap="square" lIns="152400" tIns="38100" rIns="152400" bIns="3810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150" dirty="0">
                <a:solidFill>
                  <a:srgbClr val="B5C0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SUMBER TERBUKA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950672" y="2571750"/>
            <a:ext cx="8458200" cy="7406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5250" b="1" i="1" kern="0" spc="-27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HUKUM HAK CIPTA</a:t>
            </a:r>
            <a:endParaRPr lang="en-US" sz="5250" dirty="0"/>
          </a:p>
        </p:txBody>
      </p:sp>
      <p:sp>
        <p:nvSpPr>
          <p:cNvPr id="12" name="Text 7"/>
          <p:cNvSpPr/>
          <p:nvPr/>
        </p:nvSpPr>
        <p:spPr>
          <a:xfrm>
            <a:off x="1950791" y="3162300"/>
            <a:ext cx="8449056" cy="6858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4875"/>
              </a:lnSpc>
              <a:buNone/>
            </a:pPr>
            <a:r>
              <a:rPr lang="en-US" sz="4875" b="1" i="1" kern="0" spc="-2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PERANGKAT LUNAK &amp; OPEN SOURCE</a:t>
            </a:r>
            <a:endParaRPr lang="en-US" sz="4875" dirty="0"/>
          </a:p>
        </p:txBody>
      </p:sp>
      <p:pic>
        <p:nvPicPr>
          <p:cNvPr id="13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914900" y="4238625"/>
            <a:ext cx="914400" cy="9525"/>
          </a:xfrm>
          <a:prstGeom prst="rect">
            <a:avLst/>
          </a:prstGeom>
        </p:spPr>
      </p:pic>
      <p:pic>
        <p:nvPicPr>
          <p:cNvPr id="14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62700" y="4238625"/>
            <a:ext cx="914400" cy="95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367367" y="4705350"/>
            <a:ext cx="1527048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900" b="1" kern="0" spc="1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4367082" y="4914900"/>
            <a:ext cx="1545336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50" b="1" kern="0" spc="30" dirty="0">
                <a:solidFill>
                  <a:srgbClr val="B5C0FF"/>
                </a:solidFill>
                <a:latin typeface="Oswald" pitchFamily="34" charset="0"/>
              </a:rPr>
              <a:t>Dr. </a:t>
            </a:r>
            <a:r>
              <a:rPr lang="en-US" sz="1350" b="1" kern="0" spc="30" dirty="0" err="1">
                <a:solidFill>
                  <a:srgbClr val="B5C0FF"/>
                </a:solidFill>
                <a:latin typeface="Oswald" pitchFamily="34" charset="0"/>
              </a:rPr>
              <a:t>Apik</a:t>
            </a:r>
            <a:r>
              <a:rPr lang="en-US" sz="1350" b="1" kern="0" spc="30" dirty="0">
                <a:solidFill>
                  <a:srgbClr val="B5C0FF"/>
                </a:solidFill>
                <a:latin typeface="Oswald" pitchFamily="34" charset="0"/>
              </a:rPr>
              <a:t> </a:t>
            </a:r>
            <a:r>
              <a:rPr lang="en-US" sz="1350" b="1" kern="0" spc="30" dirty="0" err="1">
                <a:solidFill>
                  <a:srgbClr val="B5C0FF"/>
                </a:solidFill>
                <a:latin typeface="Oswald" pitchFamily="34" charset="0"/>
              </a:rPr>
              <a:t>Anitasari</a:t>
            </a:r>
            <a:r>
              <a:rPr lang="en-US" sz="1350" b="1" kern="0" spc="30" dirty="0">
                <a:solidFill>
                  <a:srgbClr val="B5C0FF"/>
                </a:solidFill>
                <a:latin typeface="Oswald" pitchFamily="34" charset="0"/>
              </a:rPr>
              <a:t> Intan </a:t>
            </a:r>
            <a:r>
              <a:rPr lang="en-US" sz="1350" b="1" kern="0" spc="30" dirty="0" err="1">
                <a:solidFill>
                  <a:srgbClr val="B5C0FF"/>
                </a:solidFill>
                <a:latin typeface="Oswald" pitchFamily="34" charset="0"/>
              </a:rPr>
              <a:t>Saputri</a:t>
            </a:r>
            <a:r>
              <a:rPr lang="en-US" sz="1350" b="1" kern="0" spc="30" dirty="0">
                <a:solidFill>
                  <a:srgbClr val="B5C0FF"/>
                </a:solidFill>
                <a:latin typeface="Oswald" pitchFamily="34" charset="0"/>
              </a:rPr>
              <a:t> S.H.,M.H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6166842" y="4752975"/>
            <a:ext cx="9525" cy="3810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1"/>
          <p:cNvSpPr/>
          <p:nvPr/>
        </p:nvSpPr>
        <p:spPr>
          <a:xfrm>
            <a:off x="6479530" y="4705350"/>
            <a:ext cx="1371600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1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DEPARTEMEN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6479530" y="4914900"/>
            <a:ext cx="1389888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kern="0" spc="30" dirty="0">
                <a:solidFill>
                  <a:srgbClr val="B5C0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Kepatuhan Digital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4329038" y="5524500"/>
            <a:ext cx="3639312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i="1" kern="0" spc="300" dirty="0">
                <a:solidFill>
                  <a:srgbClr val="4B5563"/>
                </a:solidFill>
                <a:latin typeface="Monaco" pitchFamily="34" charset="0"/>
                <a:ea typeface="Monaco" pitchFamily="34" charset="-122"/>
              </a:rPr>
              <a:t>UNIVERSITAS AMIKOM PURWOKERTO</a:t>
            </a:r>
            <a:endParaRPr lang="en-US" sz="900" dirty="0"/>
          </a:p>
        </p:txBody>
      </p:sp>
      <p:pic>
        <p:nvPicPr>
          <p:cNvPr id="21" name="Image 5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71500" y="381000"/>
            <a:ext cx="11049000" cy="952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076950" y="238125"/>
            <a:ext cx="38100" cy="38100"/>
          </a:xfrm>
          <a:prstGeom prst="roundRect">
            <a:avLst>
              <a:gd name="adj" fmla="val 960000"/>
            </a:avLst>
          </a:prstGeom>
          <a:solidFill>
            <a:srgbClr val="666AF6"/>
          </a:solidFill>
          <a:ln/>
          <a:effectLst>
            <a:outerShdw blurRad="95250" dist="50800" dir="16200000" algn="bl" rotWithShape="0">
              <a:srgbClr val="666AF6">
                <a:alpha val="10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5"/>
          <p:cNvSpPr/>
          <p:nvPr/>
        </p:nvSpPr>
        <p:spPr>
          <a:xfrm>
            <a:off x="5481638" y="352425"/>
            <a:ext cx="130759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4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HUKUM TI</a:t>
            </a:r>
            <a:endParaRPr lang="en-US" sz="1500" dirty="0"/>
          </a:p>
        </p:txBody>
      </p:sp>
      <p:sp>
        <p:nvSpPr>
          <p:cNvPr id="24" name="Text 16"/>
          <p:cNvSpPr/>
          <p:nvPr/>
        </p:nvSpPr>
        <p:spPr>
          <a:xfrm>
            <a:off x="5038725" y="616744"/>
            <a:ext cx="2185416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30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PRESENTASI LEGAL DIGITAL</a:t>
            </a:r>
            <a:endParaRPr lang="en-US" sz="6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122158" y="6334125"/>
            <a:ext cx="12463272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kern="0" spc="7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DITERBITKAN PADA 25 SEPTEMBER 2026</a:t>
            </a:r>
            <a:endParaRPr lang="en-US" sz="750" dirty="0"/>
          </a:p>
        </p:txBody>
      </p:sp>
      <p:pic>
        <p:nvPicPr>
          <p:cNvPr id="4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58250" y="0"/>
            <a:ext cx="3333750" cy="3333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0" y="1219200"/>
            <a:ext cx="12289536" cy="8412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3000" b="1" kern="0" spc="-7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DAFTAR ISI
</a:t>
            </a:r>
            <a:r>
              <a:rPr lang="en-US" sz="1440" b="1" kern="0" spc="-70" dirty="0">
                <a:solidFill>
                  <a:srgbClr val="FFFFFF">
                    <a:alpha val="70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HUKUM HAK CIPTA &amp; OPEN SOURCE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609600" y="2789783"/>
            <a:ext cx="3403550" cy="0"/>
          </a:xfrm>
          <a:prstGeom prst="line">
            <a:avLst/>
          </a:prstGeom>
          <a:noFill/>
          <a:ln w="9525">
            <a:solidFill>
              <a:srgbClr val="666AF6">
                <a:alpha val="20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85800" y="2478286"/>
            <a:ext cx="182880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980554" y="2478360"/>
            <a:ext cx="1435608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020" kern="0" spc="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JUDUL PRESENTASI</a:t>
            </a:r>
            <a:endParaRPr lang="en-US" sz="1020" dirty="0"/>
          </a:p>
        </p:txBody>
      </p:sp>
      <p:sp>
        <p:nvSpPr>
          <p:cNvPr id="9" name="Shape 5"/>
          <p:cNvSpPr/>
          <p:nvPr/>
        </p:nvSpPr>
        <p:spPr>
          <a:xfrm>
            <a:off x="609600" y="3222129"/>
            <a:ext cx="3403550" cy="0"/>
          </a:xfrm>
          <a:prstGeom prst="line">
            <a:avLst/>
          </a:prstGeom>
          <a:noFill/>
          <a:ln w="9525">
            <a:solidFill>
              <a:srgbClr val="666AF6">
                <a:alpha val="2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800" y="2910632"/>
            <a:ext cx="21031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009278" y="2910706"/>
            <a:ext cx="179222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020" kern="0" spc="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TUJUAN PEMBELAJARAN</a:t>
            </a:r>
            <a:endParaRPr lang="en-US" sz="1020" dirty="0"/>
          </a:p>
        </p:txBody>
      </p:sp>
      <p:sp>
        <p:nvSpPr>
          <p:cNvPr id="12" name="Shape 8"/>
          <p:cNvSpPr/>
          <p:nvPr/>
        </p:nvSpPr>
        <p:spPr>
          <a:xfrm>
            <a:off x="609600" y="3650754"/>
            <a:ext cx="3403550" cy="0"/>
          </a:xfrm>
          <a:prstGeom prst="line">
            <a:avLst/>
          </a:prstGeom>
          <a:noFill/>
          <a:ln w="9525">
            <a:solidFill>
              <a:srgbClr val="666AF6">
                <a:alpha val="20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5800" y="3341191"/>
            <a:ext cx="21031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008757" y="3350716"/>
            <a:ext cx="2286000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kern="0" spc="4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HUKUM PERANGKAT LUNAK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09600" y="4083100"/>
            <a:ext cx="3403550" cy="0"/>
          </a:xfrm>
          <a:prstGeom prst="line">
            <a:avLst/>
          </a:prstGeom>
          <a:noFill/>
          <a:ln w="9525">
            <a:solidFill>
              <a:srgbClr val="666AF6">
                <a:alpha val="2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85800" y="3771602"/>
            <a:ext cx="21031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1011213" y="3771677"/>
            <a:ext cx="222199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020" kern="0" spc="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PERLINDUNGAN KODE SUMBER</a:t>
            </a:r>
            <a:endParaRPr lang="en-US" sz="1020" dirty="0"/>
          </a:p>
        </p:txBody>
      </p:sp>
      <p:sp>
        <p:nvSpPr>
          <p:cNvPr id="18" name="Shape 14"/>
          <p:cNvSpPr/>
          <p:nvPr/>
        </p:nvSpPr>
        <p:spPr>
          <a:xfrm>
            <a:off x="609600" y="4515445"/>
            <a:ext cx="3403550" cy="0"/>
          </a:xfrm>
          <a:prstGeom prst="line">
            <a:avLst/>
          </a:prstGeom>
          <a:noFill/>
          <a:ln w="9525">
            <a:solidFill>
              <a:srgbClr val="666AF6">
                <a:alpha val="2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85800" y="4203948"/>
            <a:ext cx="21031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1007938" y="4204022"/>
            <a:ext cx="204825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020" kern="0" spc="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HUKUM BASIS DATA</a:t>
            </a:r>
            <a:endParaRPr lang="en-US" sz="1020" dirty="0"/>
          </a:p>
        </p:txBody>
      </p:sp>
      <p:sp>
        <p:nvSpPr>
          <p:cNvPr id="21" name="Shape 17"/>
          <p:cNvSpPr/>
          <p:nvPr/>
        </p:nvSpPr>
        <p:spPr>
          <a:xfrm>
            <a:off x="609600" y="4944070"/>
            <a:ext cx="3403550" cy="0"/>
          </a:xfrm>
          <a:prstGeom prst="line">
            <a:avLst/>
          </a:prstGeom>
          <a:noFill/>
          <a:ln w="9525">
            <a:solidFill>
              <a:srgbClr val="666AF6">
                <a:alpha val="20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85800" y="4634508"/>
            <a:ext cx="21031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1009650" y="4644033"/>
            <a:ext cx="1801368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kern="0" spc="4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LISENSI: KOMERSIAL VS OSS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4394150" y="2789783"/>
            <a:ext cx="3403550" cy="0"/>
          </a:xfrm>
          <a:prstGeom prst="line">
            <a:avLst/>
          </a:prstGeom>
          <a:noFill/>
          <a:ln w="9525">
            <a:solidFill>
              <a:srgbClr val="666AF6">
                <a:alpha val="2000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470350" y="2478286"/>
            <a:ext cx="201168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4782815" y="2478360"/>
            <a:ext cx="176479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020" kern="0" spc="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MEMAHAMI LISENSI OSS</a:t>
            </a:r>
            <a:endParaRPr lang="en-US" sz="1020" dirty="0"/>
          </a:p>
        </p:txBody>
      </p:sp>
      <p:sp>
        <p:nvSpPr>
          <p:cNvPr id="27" name="Shape 23"/>
          <p:cNvSpPr/>
          <p:nvPr/>
        </p:nvSpPr>
        <p:spPr>
          <a:xfrm>
            <a:off x="4394150" y="3222129"/>
            <a:ext cx="3403550" cy="0"/>
          </a:xfrm>
          <a:prstGeom prst="line">
            <a:avLst/>
          </a:prstGeom>
          <a:noFill/>
          <a:ln w="9525">
            <a:solidFill>
              <a:srgbClr val="666AF6">
                <a:alpha val="20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470350" y="2910632"/>
            <a:ext cx="21031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4795391" y="2910706"/>
            <a:ext cx="144475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020" kern="0" spc="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JENIS: MIT LICENSE</a:t>
            </a:r>
            <a:endParaRPr lang="en-US" sz="1020" dirty="0"/>
          </a:p>
        </p:txBody>
      </p:sp>
      <p:sp>
        <p:nvSpPr>
          <p:cNvPr id="30" name="Shape 26"/>
          <p:cNvSpPr/>
          <p:nvPr/>
        </p:nvSpPr>
        <p:spPr>
          <a:xfrm>
            <a:off x="4394150" y="3654475"/>
            <a:ext cx="3403550" cy="0"/>
          </a:xfrm>
          <a:prstGeom prst="line">
            <a:avLst/>
          </a:prstGeom>
          <a:noFill/>
          <a:ln w="9525">
            <a:solidFill>
              <a:srgbClr val="666AF6">
                <a:alpha val="2000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470350" y="3342977"/>
            <a:ext cx="21031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4791968" y="3343052"/>
            <a:ext cx="117957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020" kern="0" spc="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JENIS: GNU GPL</a:t>
            </a:r>
            <a:endParaRPr lang="en-US" sz="1020" dirty="0"/>
          </a:p>
        </p:txBody>
      </p:sp>
      <p:sp>
        <p:nvSpPr>
          <p:cNvPr id="33" name="Shape 29"/>
          <p:cNvSpPr/>
          <p:nvPr/>
        </p:nvSpPr>
        <p:spPr>
          <a:xfrm>
            <a:off x="4394150" y="4086820"/>
            <a:ext cx="3403550" cy="0"/>
          </a:xfrm>
          <a:prstGeom prst="line">
            <a:avLst/>
          </a:prstGeom>
          <a:noFill/>
          <a:ln w="9525">
            <a:solidFill>
              <a:srgbClr val="666AF6">
                <a:alpha val="2000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470350" y="3775323"/>
            <a:ext cx="182880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4766965" y="3775397"/>
            <a:ext cx="174650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020" kern="0" spc="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JENIS: APACHE LICENSE</a:t>
            </a:r>
            <a:endParaRPr lang="en-US" sz="1020" dirty="0"/>
          </a:p>
        </p:txBody>
      </p:sp>
      <p:sp>
        <p:nvSpPr>
          <p:cNvPr id="36" name="Shape 32"/>
          <p:cNvSpPr/>
          <p:nvPr/>
        </p:nvSpPr>
        <p:spPr>
          <a:xfrm>
            <a:off x="4394150" y="4515445"/>
            <a:ext cx="3403550" cy="0"/>
          </a:xfrm>
          <a:prstGeom prst="line">
            <a:avLst/>
          </a:prstGeom>
          <a:noFill/>
          <a:ln w="9525">
            <a:solidFill>
              <a:srgbClr val="666AF6">
                <a:alpha val="2000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470350" y="4205883"/>
            <a:ext cx="155448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4736157" y="4215408"/>
            <a:ext cx="1792224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kern="0" spc="4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RISIKO SOFTWARE BAJAKAN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4394150" y="4947791"/>
            <a:ext cx="3403550" cy="0"/>
          </a:xfrm>
          <a:prstGeom prst="line">
            <a:avLst/>
          </a:prstGeom>
          <a:noFill/>
          <a:ln w="9525">
            <a:solidFill>
              <a:srgbClr val="666AF6">
                <a:alpha val="20000"/>
              </a:srgbClr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470350" y="4636294"/>
            <a:ext cx="182880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4767188" y="4636368"/>
            <a:ext cx="229514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020" kern="0" spc="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ANCAMAN KEAMANAN BAJAKAN</a:t>
            </a:r>
            <a:endParaRPr lang="en-US" sz="1020" dirty="0"/>
          </a:p>
        </p:txBody>
      </p:sp>
      <p:sp>
        <p:nvSpPr>
          <p:cNvPr id="42" name="Shape 38"/>
          <p:cNvSpPr/>
          <p:nvPr/>
        </p:nvSpPr>
        <p:spPr>
          <a:xfrm>
            <a:off x="8178701" y="2786063"/>
            <a:ext cx="3403699" cy="0"/>
          </a:xfrm>
          <a:prstGeom prst="line">
            <a:avLst/>
          </a:prstGeom>
          <a:noFill/>
          <a:ln w="9525">
            <a:solidFill>
              <a:srgbClr val="666AF6">
                <a:alpha val="2000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8254901" y="2476500"/>
            <a:ext cx="182880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050" dirty="0"/>
          </a:p>
        </p:txBody>
      </p:sp>
      <p:sp>
        <p:nvSpPr>
          <p:cNvPr id="44" name="Text 40"/>
          <p:cNvSpPr/>
          <p:nvPr/>
        </p:nvSpPr>
        <p:spPr>
          <a:xfrm>
            <a:off x="8550176" y="2486025"/>
            <a:ext cx="2130552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kern="0" spc="4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TANGGUNG JAWAB PENGEMBANG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8178701" y="3218408"/>
            <a:ext cx="3403699" cy="0"/>
          </a:xfrm>
          <a:prstGeom prst="line">
            <a:avLst/>
          </a:prstGeom>
          <a:noFill/>
          <a:ln w="9525">
            <a:solidFill>
              <a:srgbClr val="666AF6">
                <a:alpha val="20000"/>
              </a:srgbClr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8254901" y="2906911"/>
            <a:ext cx="182880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050" dirty="0"/>
          </a:p>
        </p:txBody>
      </p:sp>
      <p:sp>
        <p:nvSpPr>
          <p:cNvPr id="47" name="Text 43"/>
          <p:cNvSpPr/>
          <p:nvPr/>
        </p:nvSpPr>
        <p:spPr>
          <a:xfrm>
            <a:off x="8549804" y="2906985"/>
            <a:ext cx="1709928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020" kern="0" spc="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GANTI RUGI PENGGUNA</a:t>
            </a:r>
            <a:endParaRPr lang="en-US" sz="1020" dirty="0"/>
          </a:p>
        </p:txBody>
      </p:sp>
      <p:sp>
        <p:nvSpPr>
          <p:cNvPr id="48" name="Shape 44"/>
          <p:cNvSpPr/>
          <p:nvPr/>
        </p:nvSpPr>
        <p:spPr>
          <a:xfrm>
            <a:off x="8178701" y="3650754"/>
            <a:ext cx="3403699" cy="0"/>
          </a:xfrm>
          <a:prstGeom prst="line">
            <a:avLst/>
          </a:prstGeom>
          <a:noFill/>
          <a:ln w="9525">
            <a:solidFill>
              <a:srgbClr val="666AF6">
                <a:alpha val="20000"/>
              </a:srgbClr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8254901" y="3339257"/>
            <a:ext cx="182880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050" dirty="0"/>
          </a:p>
        </p:txBody>
      </p:sp>
      <p:sp>
        <p:nvSpPr>
          <p:cNvPr id="50" name="Text 46"/>
          <p:cNvSpPr/>
          <p:nvPr/>
        </p:nvSpPr>
        <p:spPr>
          <a:xfrm>
            <a:off x="8550027" y="3339331"/>
            <a:ext cx="1828800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020" kern="0" spc="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LISENSI INTERNAL</a:t>
            </a:r>
            <a:endParaRPr lang="en-US" sz="1020" dirty="0"/>
          </a:p>
        </p:txBody>
      </p:sp>
      <p:sp>
        <p:nvSpPr>
          <p:cNvPr id="51" name="Shape 47"/>
          <p:cNvSpPr/>
          <p:nvPr/>
        </p:nvSpPr>
        <p:spPr>
          <a:xfrm>
            <a:off x="8178701" y="4083100"/>
            <a:ext cx="3403699" cy="0"/>
          </a:xfrm>
          <a:prstGeom prst="line">
            <a:avLst/>
          </a:prstGeom>
          <a:noFill/>
          <a:ln w="9525">
            <a:solidFill>
              <a:srgbClr val="666AF6">
                <a:alpha val="20000"/>
              </a:srgbClr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8254901" y="3771602"/>
            <a:ext cx="182880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050" dirty="0"/>
          </a:p>
        </p:txBody>
      </p:sp>
      <p:sp>
        <p:nvSpPr>
          <p:cNvPr id="53" name="Text 49"/>
          <p:cNvSpPr/>
          <p:nvPr/>
        </p:nvSpPr>
        <p:spPr>
          <a:xfrm>
            <a:off x="8548315" y="3771677"/>
            <a:ext cx="1783080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020" kern="0" spc="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MITIGASI PELANGGARAN</a:t>
            </a:r>
            <a:endParaRPr lang="en-US" sz="1020" dirty="0"/>
          </a:p>
        </p:txBody>
      </p:sp>
      <p:sp>
        <p:nvSpPr>
          <p:cNvPr id="54" name="Shape 50"/>
          <p:cNvSpPr/>
          <p:nvPr/>
        </p:nvSpPr>
        <p:spPr>
          <a:xfrm>
            <a:off x="8178701" y="4515445"/>
            <a:ext cx="3403699" cy="0"/>
          </a:xfrm>
          <a:prstGeom prst="line">
            <a:avLst/>
          </a:prstGeom>
          <a:noFill/>
          <a:ln w="9525">
            <a:solidFill>
              <a:srgbClr val="666AF6">
                <a:alpha val="2000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8254901" y="4203948"/>
            <a:ext cx="17373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050" dirty="0"/>
          </a:p>
        </p:txBody>
      </p:sp>
      <p:sp>
        <p:nvSpPr>
          <p:cNvPr id="56" name="Text 52"/>
          <p:cNvSpPr/>
          <p:nvPr/>
        </p:nvSpPr>
        <p:spPr>
          <a:xfrm>
            <a:off x="8540502" y="4204022"/>
            <a:ext cx="2057400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020" kern="0" spc="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KESIMPULAN &amp; RANGKUMAN</a:t>
            </a:r>
            <a:endParaRPr lang="en-US" sz="1020" dirty="0"/>
          </a:p>
        </p:txBody>
      </p:sp>
      <p:sp>
        <p:nvSpPr>
          <p:cNvPr id="57" name="Text 53"/>
          <p:cNvSpPr/>
          <p:nvPr/>
        </p:nvSpPr>
        <p:spPr>
          <a:xfrm>
            <a:off x="571500" y="381000"/>
            <a:ext cx="11049000" cy="9525"/>
          </a:xfrm>
          <a:prstGeom prst="rect">
            <a:avLst/>
          </a:prstGeom>
          <a:solidFill>
            <a:srgbClr val="666AF6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4"/>
          <p:cNvSpPr/>
          <p:nvPr/>
        </p:nvSpPr>
        <p:spPr>
          <a:xfrm>
            <a:off x="6076950" y="238125"/>
            <a:ext cx="38100" cy="38100"/>
          </a:xfrm>
          <a:prstGeom prst="roundRect">
            <a:avLst>
              <a:gd name="adj" fmla="val 960000"/>
            </a:avLst>
          </a:prstGeom>
          <a:solidFill>
            <a:srgbClr val="666A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5"/>
          <p:cNvSpPr/>
          <p:nvPr/>
        </p:nvSpPr>
        <p:spPr>
          <a:xfrm>
            <a:off x="5448300" y="352425"/>
            <a:ext cx="1371600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kern="0" spc="30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LEGAL TECH</a:t>
            </a:r>
            <a:endParaRPr lang="en-US" sz="1500" dirty="0"/>
          </a:p>
        </p:txBody>
      </p:sp>
      <p:sp>
        <p:nvSpPr>
          <p:cNvPr id="60" name="Text 56"/>
          <p:cNvSpPr/>
          <p:nvPr/>
        </p:nvSpPr>
        <p:spPr>
          <a:xfrm>
            <a:off x="5434013" y="635794"/>
            <a:ext cx="1380744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15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 EDUKASI 2026</a:t>
            </a:r>
            <a:endParaRPr lang="en-US" sz="6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82000" y="0"/>
            <a:ext cx="3810000" cy="3810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2000" y="923925"/>
            <a:ext cx="1985070" cy="247650"/>
          </a:xfrm>
          <a:prstGeom prst="rect">
            <a:avLst/>
          </a:prstGeom>
          <a:solidFill>
            <a:srgbClr val="666AF6">
              <a:alpha val="10000"/>
            </a:srgbClr>
          </a:solidFill>
          <a:ln w="9525">
            <a:solidFill>
              <a:srgbClr val="666AF6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763935" y="923925"/>
            <a:ext cx="2011680" cy="256032"/>
          </a:xfrm>
          <a:prstGeom prst="rect">
            <a:avLst/>
          </a:prstGeom>
          <a:noFill/>
          <a:ln/>
        </p:spPr>
        <p:txBody>
          <a:bodyPr vert="horz" wrap="square" lIns="114300" tIns="38100" rIns="114300" bIns="3810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9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PERTEMUAN 07 // KULIAH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762000" y="1323975"/>
            <a:ext cx="4846320" cy="1828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kern="0" spc="-18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HAK CIPTA
</a:t>
            </a:r>
            <a:r>
              <a:rPr lang="en-US" sz="3600" b="1" kern="0" spc="-180" dirty="0">
                <a:solidFill>
                  <a:srgbClr val="FFFFFF">
                    <a:alpha val="90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SOFTWARE &amp; OPEN SOURCE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762000" y="3457575"/>
            <a:ext cx="4724400" cy="13525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4"/>
          <p:cNvSpPr/>
          <p:nvPr/>
        </p:nvSpPr>
        <p:spPr>
          <a:xfrm>
            <a:off x="762000" y="3457575"/>
            <a:ext cx="0" cy="1352550"/>
          </a:xfrm>
          <a:prstGeom prst="line">
            <a:avLst/>
          </a:prstGeom>
          <a:noFill/>
          <a:ln w="28575">
            <a:solidFill>
              <a:srgbClr val="666AF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95375" y="3762375"/>
            <a:ext cx="4133088" cy="7498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i="1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"Memahami implikasi hukum, lisensi, dan risiko dalam ekosistem digital guna menjaga keberlanjutan inovasi teknologi modern."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400800" y="1314450"/>
            <a:ext cx="585216" cy="7863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666AF6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01.</a:t>
            </a:r>
            <a:endParaRPr lang="en-US" sz="2700" dirty="0"/>
          </a:p>
        </p:txBody>
      </p:sp>
      <p:sp>
        <p:nvSpPr>
          <p:cNvPr id="11" name="Text 7"/>
          <p:cNvSpPr/>
          <p:nvPr/>
        </p:nvSpPr>
        <p:spPr>
          <a:xfrm>
            <a:off x="7124700" y="1316831"/>
            <a:ext cx="4443984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3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IMPLIKASI HUKUM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124700" y="1657350"/>
            <a:ext cx="4343400" cy="4389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Menganalisis perlindungan hukum bagi pengembang dan pengguna dalam menghadapi tantangan di era digital global.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400800" y="2471738"/>
            <a:ext cx="649224" cy="7863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666AF6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02.</a:t>
            </a:r>
            <a:endParaRPr lang="en-US" sz="2700" dirty="0"/>
          </a:p>
        </p:txBody>
      </p:sp>
      <p:sp>
        <p:nvSpPr>
          <p:cNvPr id="14" name="Text 10"/>
          <p:cNvSpPr/>
          <p:nvPr/>
        </p:nvSpPr>
        <p:spPr>
          <a:xfrm>
            <a:off x="7191375" y="2474119"/>
            <a:ext cx="4379976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3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LISENSI PERANGKAT LUNAK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191375" y="2814638"/>
            <a:ext cx="4279392" cy="4389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Memahami berbagai jenis model lisensi yang mengatur distribusi dan penggunaan kode sumber secara legal.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400800" y="3629025"/>
            <a:ext cx="640080" cy="7863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666AF6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03.</a:t>
            </a:r>
            <a:endParaRPr lang="en-US" sz="2700" dirty="0"/>
          </a:p>
        </p:txBody>
      </p:sp>
      <p:sp>
        <p:nvSpPr>
          <p:cNvPr id="17" name="Text 13"/>
          <p:cNvSpPr/>
          <p:nvPr/>
        </p:nvSpPr>
        <p:spPr>
          <a:xfrm>
            <a:off x="7181850" y="3631406"/>
            <a:ext cx="4389120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3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EKOSISTEM TERBUKA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181850" y="3971925"/>
            <a:ext cx="4288536" cy="4389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Menjaga keterbukaan aplikasi untuk mendorong kolaborasi komunitas dan mengurangi risiko monopoli teknologi.</a:t>
            </a:r>
            <a:endParaRPr lang="en-US" sz="1050" dirty="0"/>
          </a:p>
        </p:txBody>
      </p:sp>
      <p:pic>
        <p:nvPicPr>
          <p:cNvPr id="19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1500" y="381000"/>
            <a:ext cx="11049000" cy="95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076950" y="238125"/>
            <a:ext cx="38100" cy="38100"/>
          </a:xfrm>
          <a:prstGeom prst="roundRect">
            <a:avLst>
              <a:gd name="adj" fmla="val 960000"/>
            </a:avLst>
          </a:prstGeom>
          <a:solidFill>
            <a:srgbClr val="666A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5614988" y="352425"/>
            <a:ext cx="103327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4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LARANA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5367338" y="616744"/>
            <a:ext cx="1508760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30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JUDUL PRESENTASI</a:t>
            </a:r>
            <a:endParaRPr lang="en-US" sz="6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050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524000"/>
            <a:ext cx="2438400" cy="266700"/>
          </a:xfrm>
          <a:prstGeom prst="rect">
            <a:avLst/>
          </a:prstGeom>
          <a:solidFill>
            <a:srgbClr val="666AF6">
              <a:alpha val="10000"/>
            </a:srgbClr>
          </a:solidFill>
          <a:ln w="9525">
            <a:solidFill>
              <a:srgbClr val="666AF6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914400" y="1524000"/>
            <a:ext cx="2468880" cy="274320"/>
          </a:xfrm>
          <a:prstGeom prst="rect">
            <a:avLst/>
          </a:prstGeom>
          <a:noFill/>
          <a:ln/>
        </p:spPr>
        <p:txBody>
          <a:bodyPr vert="horz" wrap="square" lIns="114300" tIns="38100" rIns="114300" bIns="3810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 01 // TUJUAN PEMBELAJARAN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915963" y="2017216"/>
            <a:ext cx="3986784" cy="16459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29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TARGET
</a:t>
            </a:r>
            <a:r>
              <a:rPr lang="en-US" sz="3900" b="1" dirty="0">
                <a:solidFill>
                  <a:srgbClr val="D1D5D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KOMPETENSI
</a:t>
            </a:r>
            <a:r>
              <a:rPr lang="en-US" sz="39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MAHASISWA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915963" y="3843933"/>
            <a:ext cx="3904488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Memahami aspek legalitas perangkat lunak guna meminimalisir risiko hukum dalam organisasi dan pengembangan sistem informasi profesional.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232350" y="1524000"/>
            <a:ext cx="6045101" cy="1076325"/>
          </a:xfrm>
          <a:prstGeom prst="rect">
            <a:avLst/>
          </a:prstGeom>
          <a:solidFill>
            <a:srgbClr val="666AF6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5232350" y="1524000"/>
            <a:ext cx="0" cy="1076325"/>
          </a:xfrm>
          <a:prstGeom prst="line">
            <a:avLst/>
          </a:prstGeom>
          <a:noFill/>
          <a:ln w="28575">
            <a:solidFill>
              <a:srgbClr val="666A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49788" y="1714500"/>
            <a:ext cx="5797296" cy="29260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Status Hukum &amp; UU Hak Cipta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49788" y="2009775"/>
            <a:ext cx="5678424" cy="4023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Memahami status hukum perangkat lunak dan basis data sesuai regulasi UU Hak Cipta yang berlaku di Indonesia.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232350" y="2895600"/>
            <a:ext cx="6045101" cy="1076325"/>
          </a:xfrm>
          <a:prstGeom prst="rect">
            <a:avLst/>
          </a:prstGeom>
          <a:solidFill>
            <a:srgbClr val="666AF6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5232350" y="2895600"/>
            <a:ext cx="0" cy="1076325"/>
          </a:xfrm>
          <a:prstGeom prst="line">
            <a:avLst/>
          </a:prstGeom>
          <a:noFill/>
          <a:ln w="28575">
            <a:solidFill>
              <a:srgbClr val="666A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49788" y="3086100"/>
            <a:ext cx="5797296" cy="29260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Mekanisme Lisensi &amp; OSS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449788" y="3381375"/>
            <a:ext cx="5678424" cy="4023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Menganalisis perbedaan fundamental antara mekanisme lisensi komersial dan Open Source Software (OSS).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232350" y="4267200"/>
            <a:ext cx="6045101" cy="1076325"/>
          </a:xfrm>
          <a:prstGeom prst="rect">
            <a:avLst/>
          </a:prstGeom>
          <a:solidFill>
            <a:srgbClr val="666AF6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5232350" y="4267200"/>
            <a:ext cx="0" cy="1076325"/>
          </a:xfrm>
          <a:prstGeom prst="line">
            <a:avLst/>
          </a:prstGeom>
          <a:noFill/>
          <a:ln w="28575">
            <a:solidFill>
              <a:srgbClr val="666A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49788" y="4457700"/>
            <a:ext cx="5797296" cy="29260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Risiko Software Bajakan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449788" y="4752975"/>
            <a:ext cx="5678424" cy="4023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Mengidentifikasi dampak dan risiko hukum penggunaan software tidak resmi bagi stabilitas organisasi.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232350" y="5638800"/>
            <a:ext cx="6045101" cy="1076325"/>
          </a:xfrm>
          <a:prstGeom prst="rect">
            <a:avLst/>
          </a:prstGeom>
          <a:solidFill>
            <a:srgbClr val="666AF6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5232350" y="5638800"/>
            <a:ext cx="0" cy="1076325"/>
          </a:xfrm>
          <a:prstGeom prst="line">
            <a:avLst/>
          </a:prstGeom>
          <a:noFill/>
          <a:ln w="28575">
            <a:solidFill>
              <a:srgbClr val="666A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49788" y="5829300"/>
            <a:ext cx="5797296" cy="29260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Tanggung Jawab Pengembang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5449788" y="6124575"/>
            <a:ext cx="5678424" cy="4023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Memahami kewajiban hukum pengembang atas cacat program dan praktik audit lisensi internal perusahaan.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76250" y="381000"/>
            <a:ext cx="11239500" cy="9525"/>
          </a:xfrm>
          <a:prstGeom prst="rect">
            <a:avLst/>
          </a:prstGeom>
          <a:solidFill>
            <a:srgbClr val="666AF6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076950" y="238125"/>
            <a:ext cx="38100" cy="38100"/>
          </a:xfrm>
          <a:prstGeom prst="roundRect">
            <a:avLst>
              <a:gd name="adj" fmla="val 960000"/>
            </a:avLst>
          </a:prstGeom>
          <a:solidFill>
            <a:srgbClr val="666A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014913" y="352425"/>
            <a:ext cx="2267712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b="1" kern="0" spc="4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HUKUM DIGITAL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4938713" y="683419"/>
            <a:ext cx="2386584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kern="0" spc="30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EDUKASI LISENSI &amp; HAK CIPTA</a:t>
            </a:r>
            <a:endParaRPr lang="en-US" sz="6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050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371600"/>
            <a:ext cx="10917936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30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REGULASI PERANGKAT LUNAK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2000" y="1600200"/>
            <a:ext cx="10817352" cy="7772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5625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STATUS HUKUM </a:t>
            </a:r>
            <a:r>
              <a:rPr lang="en-US" sz="4500" b="1" dirty="0">
                <a:solidFill>
                  <a:srgbClr val="FFFFFF">
                    <a:alpha val="90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DALAM UU</a:t>
            </a:r>
            <a:endParaRPr lang="en-US" sz="4500" dirty="0"/>
          </a:p>
        </p:txBody>
      </p:sp>
      <p:pic>
        <p:nvPicPr>
          <p:cNvPr id="6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1525" y="2838450"/>
            <a:ext cx="1552575" cy="3028950"/>
          </a:xfrm>
          <a:prstGeom prst="rect">
            <a:avLst/>
          </a:prstGeom>
        </p:spPr>
      </p:pic>
      <p:pic>
        <p:nvPicPr>
          <p:cNvPr id="7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498675" y="3143250"/>
            <a:ext cx="1552575" cy="2724150"/>
          </a:xfrm>
          <a:prstGeom prst="rect">
            <a:avLst/>
          </a:prstGeom>
        </p:spPr>
      </p:pic>
      <p:pic>
        <p:nvPicPr>
          <p:cNvPr id="8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225826" y="2838450"/>
            <a:ext cx="1552575" cy="30289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00800" y="2828925"/>
            <a:ext cx="5029200" cy="15716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4"/>
          <p:cNvSpPr/>
          <p:nvPr/>
        </p:nvSpPr>
        <p:spPr>
          <a:xfrm>
            <a:off x="6400800" y="2828925"/>
            <a:ext cx="0" cy="1571625"/>
          </a:xfrm>
          <a:prstGeom prst="line">
            <a:avLst/>
          </a:prstGeom>
          <a:noFill/>
          <a:ln w="19050">
            <a:solidFill>
              <a:srgbClr val="666AF6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6400800" y="4705350"/>
            <a:ext cx="2438400" cy="1042988"/>
          </a:xfrm>
          <a:prstGeom prst="roundRect">
            <a:avLst>
              <a:gd name="adj" fmla="val 1826"/>
            </a:avLst>
          </a:prstGeom>
          <a:solidFill>
            <a:srgbClr val="666AF6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6"/>
          <p:cNvSpPr/>
          <p:nvPr/>
        </p:nvSpPr>
        <p:spPr>
          <a:xfrm>
            <a:off x="6400800" y="4710112"/>
            <a:ext cx="2438400" cy="0"/>
          </a:xfrm>
          <a:prstGeom prst="line">
            <a:avLst/>
          </a:prstGeom>
          <a:noFill/>
          <a:ln w="9525">
            <a:solidFill>
              <a:srgbClr val="666AF6">
                <a:alpha val="30000"/>
              </a:srgbClr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6591300" y="4905375"/>
            <a:ext cx="2130552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OBJEK HUKUM</a:t>
            </a:r>
            <a:endParaRPr lang="en-US" sz="750" dirty="0"/>
          </a:p>
        </p:txBody>
      </p:sp>
      <p:sp>
        <p:nvSpPr>
          <p:cNvPr id="14" name="Text 8"/>
          <p:cNvSpPr/>
          <p:nvPr/>
        </p:nvSpPr>
        <p:spPr>
          <a:xfrm>
            <a:off x="6591300" y="5086350"/>
            <a:ext cx="2157984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BASIS DATA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6591300" y="5426869"/>
            <a:ext cx="2121408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Bagian Integral Sistem</a:t>
            </a:r>
            <a:endParaRPr lang="en-US" sz="675" dirty="0"/>
          </a:p>
        </p:txBody>
      </p:sp>
      <p:sp>
        <p:nvSpPr>
          <p:cNvPr id="16" name="Text 10"/>
          <p:cNvSpPr/>
          <p:nvPr/>
        </p:nvSpPr>
        <p:spPr>
          <a:xfrm>
            <a:off x="8991600" y="4705350"/>
            <a:ext cx="2438400" cy="1042988"/>
          </a:xfrm>
          <a:prstGeom prst="roundRect">
            <a:avLst>
              <a:gd name="adj" fmla="val 1826"/>
            </a:avLst>
          </a:prstGeom>
          <a:solidFill>
            <a:srgbClr val="666AF6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1"/>
          <p:cNvSpPr/>
          <p:nvPr/>
        </p:nvSpPr>
        <p:spPr>
          <a:xfrm>
            <a:off x="8991600" y="4710112"/>
            <a:ext cx="2438400" cy="0"/>
          </a:xfrm>
          <a:prstGeom prst="line">
            <a:avLst/>
          </a:prstGeom>
          <a:noFill/>
          <a:ln w="9525">
            <a:solidFill>
              <a:srgbClr val="666AF6">
                <a:alpha val="30000"/>
              </a:srgbClr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9182100" y="4905375"/>
            <a:ext cx="2130552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MASA BERLAKU</a:t>
            </a:r>
            <a:endParaRPr lang="en-US" sz="750" dirty="0"/>
          </a:p>
        </p:txBody>
      </p:sp>
      <p:sp>
        <p:nvSpPr>
          <p:cNvPr id="19" name="Text 13"/>
          <p:cNvSpPr/>
          <p:nvPr/>
        </p:nvSpPr>
        <p:spPr>
          <a:xfrm>
            <a:off x="9182100" y="5086350"/>
            <a:ext cx="2157984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EKSKLUSIF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9182100" y="5426869"/>
            <a:ext cx="2121408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Sesuai Regulasi Terkini</a:t>
            </a:r>
            <a:endParaRPr lang="en-US" sz="675" dirty="0"/>
          </a:p>
        </p:txBody>
      </p:sp>
      <p:sp>
        <p:nvSpPr>
          <p:cNvPr id="21" name="Text 15"/>
          <p:cNvSpPr/>
          <p:nvPr/>
        </p:nvSpPr>
        <p:spPr>
          <a:xfrm>
            <a:off x="571500" y="381000"/>
            <a:ext cx="11049000" cy="9525"/>
          </a:xfrm>
          <a:prstGeom prst="rect">
            <a:avLst/>
          </a:prstGeom>
          <a:solidFill>
            <a:srgbClr val="666AF6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6648450" y="3057525"/>
            <a:ext cx="4599432" cy="11155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Perangkat lunak dikategorikan sebagai karya cipta yang dilindungi, mencakup kode sumber (source code) dan program objek sebagai wujud ekspresi logika pemrograman yang diakui secara hukum.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076950" y="238125"/>
            <a:ext cx="38100" cy="38100"/>
          </a:xfrm>
          <a:prstGeom prst="roundRect">
            <a:avLst>
              <a:gd name="adj" fmla="val 960000"/>
            </a:avLst>
          </a:prstGeom>
          <a:solidFill>
            <a:srgbClr val="666A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5467350" y="352425"/>
            <a:ext cx="1335024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kern="0" spc="4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HAK CIPTA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5195888" y="616744"/>
            <a:ext cx="1865376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kern="0" spc="30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PERLINDUNGAN DIGITAL</a:t>
            </a:r>
            <a:endParaRPr lang="en-US" sz="6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050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050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2000" y="1941909"/>
            <a:ext cx="4407408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i="1" kern="0" spc="37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// STANDAR HUKUM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2000" y="2322909"/>
            <a:ext cx="4407408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KODE 
</a:t>
            </a:r>
            <a:r>
              <a:rPr lang="en-US" sz="3600" b="1" dirty="0">
                <a:solidFill>
                  <a:srgbClr val="FFFFFF">
                    <a:alpha val="80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SUMBER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62000" y="3848100"/>
            <a:ext cx="4325112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Kode sumber dilindungi sebagai ekspresi logika pemrogram yang unik untuk menjaga integritas dan orisinalitas perangkat lunak dalam ekosistem digital.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62000" y="4954191"/>
            <a:ext cx="4286250" cy="590550"/>
          </a:xfrm>
          <a:prstGeom prst="roundRect">
            <a:avLst>
              <a:gd name="adj" fmla="val 12903"/>
            </a:avLst>
          </a:prstGeom>
          <a:solidFill>
            <a:srgbClr val="666AF6">
              <a:alpha val="5000"/>
            </a:srgbClr>
          </a:solidFill>
          <a:ln w="9525">
            <a:solidFill>
              <a:srgbClr val="666AF6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923925" y="5154216"/>
            <a:ext cx="145389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EKSPRESI LOGIKA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962400" y="5116116"/>
            <a:ext cx="996696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66AF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DILINDUNGI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62000" y="5697141"/>
            <a:ext cx="4286250" cy="590550"/>
          </a:xfrm>
          <a:prstGeom prst="roundRect">
            <a:avLst>
              <a:gd name="adj" fmla="val 12903"/>
            </a:avLst>
          </a:prstGeom>
          <a:solidFill>
            <a:srgbClr val="666AF6">
              <a:alpha val="5000"/>
            </a:srgbClr>
          </a:solidFill>
          <a:ln w="9525">
            <a:solidFill>
              <a:srgbClr val="666AF6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923032" y="5897166"/>
            <a:ext cx="127101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HUKUM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067175" y="5859066"/>
            <a:ext cx="886968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HAK CIPTA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657850" y="2114550"/>
            <a:ext cx="2771775" cy="1885950"/>
          </a:xfrm>
          <a:prstGeom prst="roundRect">
            <a:avLst>
              <a:gd name="adj" fmla="val 8081"/>
            </a:avLst>
          </a:prstGeom>
          <a:solidFill>
            <a:srgbClr val="666AF6">
              <a:alpha val="5000"/>
            </a:srgbClr>
          </a:solidFill>
          <a:ln w="9525">
            <a:solidFill>
              <a:srgbClr val="666AF6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972175" y="2276475"/>
            <a:ext cx="222199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HAK MORAL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972175" y="2543175"/>
            <a:ext cx="2240280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Atribusi Pencipta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972175" y="2924175"/>
            <a:ext cx="2185416" cy="7680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Hak yang melekat pada pencipta untuk dicantumkan namanya pada hasil karya kode sumber secara permanen.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658225" y="2114550"/>
            <a:ext cx="2771775" cy="1885950"/>
          </a:xfrm>
          <a:prstGeom prst="roundRect">
            <a:avLst>
              <a:gd name="adj" fmla="val 808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8972550" y="2276475"/>
            <a:ext cx="222199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HAK EKONOMI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972550" y="2543175"/>
            <a:ext cx="2240280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Komersialisasi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972550" y="2924175"/>
            <a:ext cx="2185416" cy="7680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Hak eksklusif pencipta untuk mendapatkan manfaat ekonomi dari penggunaan atau lisensi perangkat lunak.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657850" y="4229100"/>
            <a:ext cx="5772150" cy="1885950"/>
          </a:xfrm>
          <a:prstGeom prst="roundRect">
            <a:avLst>
              <a:gd name="adj" fmla="val 8081"/>
            </a:avLst>
          </a:prstGeom>
          <a:solidFill>
            <a:srgbClr val="666AF6">
              <a:alpha val="5000"/>
            </a:srgbClr>
          </a:solidFill>
          <a:ln w="9525">
            <a:solidFill>
              <a:srgbClr val="666AF6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972175" y="4391025"/>
            <a:ext cx="3538728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INTEGRITAS SISTEM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972175" y="4657725"/>
            <a:ext cx="354787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Larangan Penggandaan Ilegal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972175" y="5038725"/>
            <a:ext cx="3465576" cy="7680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Dilarang keras melakukan penggandaan tanpa izin pemilik hak cipta guna menjaga integritas dan keamanan ekosistem perangkat lunak secara menyeluruh.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0318528" y="5391150"/>
            <a:ext cx="822960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r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LISENSI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10365203" y="5572125"/>
            <a:ext cx="786384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b="1" kern="0" spc="-60" dirty="0">
                <a:solidFill>
                  <a:srgbClr val="22C55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● TERLINDUNGI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71500" y="381000"/>
            <a:ext cx="11049000" cy="9525"/>
          </a:xfrm>
          <a:prstGeom prst="rect">
            <a:avLst/>
          </a:prstGeom>
          <a:solidFill>
            <a:srgbClr val="666AF6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076950" y="238125"/>
            <a:ext cx="38100" cy="38100"/>
          </a:xfrm>
          <a:prstGeom prst="roundRect">
            <a:avLst>
              <a:gd name="adj" fmla="val 960000"/>
            </a:avLst>
          </a:prstGeom>
          <a:solidFill>
            <a:srgbClr val="666A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434013" y="352425"/>
            <a:ext cx="139903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4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LEGALITAS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5195888" y="616744"/>
            <a:ext cx="1865376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kern="0" spc="30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PERLINDUNGAN DIGITAL</a:t>
            </a:r>
            <a:endParaRPr lang="en-US" sz="6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050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524000"/>
            <a:ext cx="4762500" cy="2000250"/>
          </a:xfrm>
          <a:prstGeom prst="roundRect">
            <a:avLst>
              <a:gd name="adj" fmla="val 7619"/>
            </a:avLst>
          </a:prstGeom>
          <a:solidFill>
            <a:srgbClr val="1E1E40"/>
          </a:solidFill>
          <a:ln w="9525">
            <a:solidFill>
              <a:srgbClr val="666AF6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1" descr="image.png"/>
          <p:cNvPicPr>
            <a:picLocks noChangeAspect="1"/>
          </p:cNvPicPr>
          <p:nvPr/>
        </p:nvPicPr>
        <p:blipFill>
          <a:blip r:embed="rId4"/>
          <a:srcRect b="37428"/>
          <a:stretch/>
        </p:blipFill>
        <p:spPr>
          <a:xfrm>
            <a:off x="771525" y="1533525"/>
            <a:ext cx="4743450" cy="1981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000" y="3752850"/>
            <a:ext cx="4762500" cy="2000250"/>
          </a:xfrm>
          <a:prstGeom prst="roundRect">
            <a:avLst>
              <a:gd name="adj" fmla="val 7619"/>
            </a:avLst>
          </a:prstGeom>
          <a:solidFill>
            <a:srgbClr val="1E1E40"/>
          </a:solidFill>
          <a:ln w="9525">
            <a:solidFill>
              <a:srgbClr val="666AF6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2" descr="image.png"/>
          <p:cNvPicPr>
            <a:picLocks noChangeAspect="1"/>
          </p:cNvPicPr>
          <p:nvPr/>
        </p:nvPicPr>
        <p:blipFill>
          <a:blip r:embed="rId5"/>
          <a:srcRect b="58233"/>
          <a:stretch/>
        </p:blipFill>
        <p:spPr>
          <a:xfrm>
            <a:off x="771525" y="3762375"/>
            <a:ext cx="4743450" cy="1981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24600" y="1447800"/>
            <a:ext cx="5239512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i="1" kern="0" spc="37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DEFINISI PERLINDUNGAN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6324600" y="1714500"/>
            <a:ext cx="5221224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STATUS HUKUM 
</a:t>
            </a:r>
            <a:r>
              <a:rPr lang="en-US" sz="3600" b="1" dirty="0">
                <a:solidFill>
                  <a:srgbClr val="FFFFFF">
                    <a:alpha val="60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BASIS DATA</a:t>
            </a:r>
            <a:endParaRPr lang="en-US" sz="3600" dirty="0"/>
          </a:p>
        </p:txBody>
      </p:sp>
      <p:sp>
        <p:nvSpPr>
          <p:cNvPr id="10" name="Text 5"/>
          <p:cNvSpPr/>
          <p:nvPr/>
        </p:nvSpPr>
        <p:spPr>
          <a:xfrm>
            <a:off x="6550819" y="3238500"/>
            <a:ext cx="2249424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kern="0" spc="3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Kriteria Orisinalitas Struktur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6362700" y="3581400"/>
            <a:ext cx="0" cy="433388"/>
          </a:xfrm>
          <a:prstGeom prst="line">
            <a:avLst/>
          </a:prstGeom>
          <a:noFill/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600825" y="3579019"/>
            <a:ext cx="4864608" cy="4389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Basis data dilindungi sebagai ciptaan yang menunjukkan orisinalitas dalam penyusunan struktur dan pemilihan data sesuai regulasi HKI.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 rot="2700000">
            <a:off x="6324600" y="4414838"/>
            <a:ext cx="76200" cy="762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6554912" y="4319588"/>
            <a:ext cx="185623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kern="0" spc="3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Hak Eksklusif Pengelola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362700" y="4662488"/>
            <a:ext cx="0" cy="433387"/>
          </a:xfrm>
          <a:prstGeom prst="line">
            <a:avLst/>
          </a:prstGeom>
          <a:noFill/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600825" y="4660106"/>
            <a:ext cx="4864608" cy="4389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Sesuai Peraturan BPS No. 7 Tahun 2026, pengelola memiliki hak eksklusif atas ekstraksi dan pemanfaatan data secara komersial.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324600" y="5553075"/>
            <a:ext cx="1504950" cy="642938"/>
          </a:xfrm>
          <a:prstGeom prst="roundRect">
            <a:avLst>
              <a:gd name="adj" fmla="val 11852"/>
            </a:avLst>
          </a:prstGeom>
          <a:solidFill>
            <a:srgbClr val="666AF6">
              <a:alpha val="10000"/>
            </a:srgbClr>
          </a:solidFill>
          <a:ln w="9525">
            <a:solidFill>
              <a:srgbClr val="666AF6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6524625" y="5674519"/>
            <a:ext cx="1152144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6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DASAR HUKUM</a:t>
            </a:r>
            <a:endParaRPr lang="en-US" sz="675" dirty="0"/>
          </a:p>
        </p:txBody>
      </p:sp>
      <p:sp>
        <p:nvSpPr>
          <p:cNvPr id="19" name="Text 14"/>
          <p:cNvSpPr/>
          <p:nvPr/>
        </p:nvSpPr>
        <p:spPr>
          <a:xfrm>
            <a:off x="6524625" y="5805488"/>
            <a:ext cx="1179576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BPS 7/2026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7981950" y="5553075"/>
            <a:ext cx="1476375" cy="642938"/>
          </a:xfrm>
          <a:prstGeom prst="roundRect">
            <a:avLst>
              <a:gd name="adj" fmla="val 11852"/>
            </a:avLst>
          </a:prstGeom>
          <a:solidFill>
            <a:srgbClr val="666AF6">
              <a:alpha val="10000"/>
            </a:srgbClr>
          </a:solidFill>
          <a:ln w="9525">
            <a:solidFill>
              <a:srgbClr val="666AF6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8181975" y="5674519"/>
            <a:ext cx="1124712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6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CAKUPAN HAK</a:t>
            </a:r>
            <a:endParaRPr lang="en-US" sz="675" dirty="0"/>
          </a:p>
        </p:txBody>
      </p:sp>
      <p:sp>
        <p:nvSpPr>
          <p:cNvPr id="22" name="Text 17"/>
          <p:cNvSpPr/>
          <p:nvPr/>
        </p:nvSpPr>
        <p:spPr>
          <a:xfrm>
            <a:off x="8181975" y="5805488"/>
            <a:ext cx="1152144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EKSTRAKSI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571500" y="381000"/>
            <a:ext cx="11049000" cy="9525"/>
          </a:xfrm>
          <a:prstGeom prst="rect">
            <a:avLst/>
          </a:prstGeom>
          <a:solidFill>
            <a:srgbClr val="666AF6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6076950" y="238125"/>
            <a:ext cx="38100" cy="38100"/>
          </a:xfrm>
          <a:prstGeom prst="roundRect">
            <a:avLst>
              <a:gd name="adj" fmla="val 960000"/>
            </a:avLst>
          </a:prstGeom>
          <a:solidFill>
            <a:srgbClr val="666A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5434013" y="352425"/>
            <a:ext cx="139903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4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LEGALITAS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5391150" y="616744"/>
            <a:ext cx="1463040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kern="0" spc="30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DIVISI BASIS DATA</a:t>
            </a:r>
            <a:endParaRPr lang="en-US" sz="675" dirty="0"/>
          </a:p>
        </p:txBody>
      </p:sp>
      <p:sp>
        <p:nvSpPr>
          <p:cNvPr id="27" name="Text 22"/>
          <p:cNvSpPr/>
          <p:nvPr/>
        </p:nvSpPr>
        <p:spPr>
          <a:xfrm>
            <a:off x="1000125" y="2943225"/>
            <a:ext cx="1901952" cy="14630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22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ORISINALITAS STRUKTUR</a:t>
            </a:r>
            <a:endParaRPr lang="en-US" sz="750" dirty="0"/>
          </a:p>
        </p:txBody>
      </p:sp>
      <p:sp>
        <p:nvSpPr>
          <p:cNvPr id="28" name="Text 23"/>
          <p:cNvSpPr/>
          <p:nvPr/>
        </p:nvSpPr>
        <p:spPr>
          <a:xfrm>
            <a:off x="1000125" y="3095625"/>
            <a:ext cx="1920240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PERLINDUNGAN HKI</a:t>
            </a:r>
            <a:endParaRPr lang="en-US" sz="1350" dirty="0"/>
          </a:p>
        </p:txBody>
      </p:sp>
      <p:sp>
        <p:nvSpPr>
          <p:cNvPr id="29" name="Text 24"/>
          <p:cNvSpPr/>
          <p:nvPr/>
        </p:nvSpPr>
        <p:spPr>
          <a:xfrm>
            <a:off x="1000125" y="5172075"/>
            <a:ext cx="1179576" cy="14630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22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HAK EKSKLUSIF</a:t>
            </a:r>
            <a:endParaRPr lang="en-US" sz="750" dirty="0"/>
          </a:p>
        </p:txBody>
      </p:sp>
      <p:sp>
        <p:nvSpPr>
          <p:cNvPr id="30" name="Text 25"/>
          <p:cNvSpPr/>
          <p:nvPr/>
        </p:nvSpPr>
        <p:spPr>
          <a:xfrm>
            <a:off x="1000125" y="5324475"/>
            <a:ext cx="1700784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EKSTRAKSI KOMERSIAL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58250" y="0"/>
            <a:ext cx="3333750" cy="3333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1219200"/>
            <a:ext cx="12307824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kern="0" spc="-9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MEKANISME LISENSI:
</a:t>
            </a:r>
            <a:r>
              <a:rPr lang="en-US" sz="3600" b="1" kern="0" spc="-90" dirty="0">
                <a:solidFill>
                  <a:srgbClr val="666AF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KOMERSIAL VS OPEN SOURCE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914400" y="2667000"/>
            <a:ext cx="3301901" cy="1419225"/>
          </a:xfrm>
          <a:prstGeom prst="rect">
            <a:avLst/>
          </a:prstGeom>
          <a:solidFill>
            <a:srgbClr val="080A15">
              <a:alpha val="70000"/>
            </a:srgbClr>
          </a:solidFill>
          <a:ln w="9525">
            <a:solidFill>
              <a:srgbClr val="666AF6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1150888" y="2981325"/>
            <a:ext cx="2871216" cy="8686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706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Lisensi merupakan izin hukum yang diberikan untuk penggunaan perangkat lunak secara sah sesuai aturan pengembang.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444901" y="2667000"/>
            <a:ext cx="3302050" cy="1419225"/>
          </a:xfrm>
          <a:prstGeom prst="rect">
            <a:avLst/>
          </a:prstGeom>
          <a:solidFill>
            <a:srgbClr val="080A15">
              <a:alpha val="70000"/>
            </a:srgbClr>
          </a:solidFill>
          <a:ln w="9525">
            <a:solidFill>
              <a:srgbClr val="666AF6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4681463" y="3090863"/>
            <a:ext cx="2871216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706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Perangkat lunak milik perorangan atau perusahaan yang membatasi hak akses, modifikasi, dan redistribusi kode sumber.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975550" y="2667000"/>
            <a:ext cx="3302050" cy="1419225"/>
          </a:xfrm>
          <a:prstGeom prst="rect">
            <a:avLst/>
          </a:prstGeom>
          <a:solidFill>
            <a:srgbClr val="080A15">
              <a:alpha val="70000"/>
            </a:srgbClr>
          </a:solidFill>
          <a:ln w="9525">
            <a:solidFill>
              <a:srgbClr val="666AF6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8212113" y="3090863"/>
            <a:ext cx="2871216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706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lisensi yang memberikan kebebasan penuh bagi pengguna untuk mempelajari, mengubah, dan membagikan kembali kode.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2552700" y="4543425"/>
            <a:ext cx="3429000" cy="1202531"/>
          </a:xfrm>
          <a:prstGeom prst="rect">
            <a:avLst/>
          </a:prstGeom>
          <a:solidFill>
            <a:srgbClr val="080A15">
              <a:alpha val="70000"/>
            </a:srgbClr>
          </a:solidFill>
          <a:ln w="9525">
            <a:solidFill>
              <a:srgbClr val="666AF6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2790825" y="4858941"/>
            <a:ext cx="2990088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706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Berfokus pada penjualan hak guna perangkat lunak melalui skema berbayar untuk mendapatkan keuntungan finansial.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210300" y="4543425"/>
            <a:ext cx="3429000" cy="1202531"/>
          </a:xfrm>
          <a:prstGeom prst="rect">
            <a:avLst/>
          </a:prstGeom>
          <a:solidFill>
            <a:srgbClr val="080A15">
              <a:alpha val="70000"/>
            </a:srgbClr>
          </a:solidFill>
          <a:ln w="9525">
            <a:solidFill>
              <a:srgbClr val="666AF6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6448425" y="4858941"/>
            <a:ext cx="2990088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706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Mengandalkan kolaborasi massal serta layanan pendukung teknis sebagai nilai tambah utama bagi para pengguna.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71500" y="381000"/>
            <a:ext cx="11049000" cy="9525"/>
          </a:xfrm>
          <a:prstGeom prst="rect">
            <a:avLst/>
          </a:prstGeom>
          <a:solidFill>
            <a:srgbClr val="666AF6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076950" y="238125"/>
            <a:ext cx="38100" cy="38100"/>
          </a:xfrm>
          <a:prstGeom prst="roundRect">
            <a:avLst>
              <a:gd name="adj" fmla="val 960000"/>
            </a:avLst>
          </a:prstGeom>
          <a:solidFill>
            <a:srgbClr val="666A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5429250" y="352425"/>
            <a:ext cx="1417320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4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HAK CIPTA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5334000" y="616744"/>
            <a:ext cx="1581912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30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MEKANISME LISENSI</a:t>
            </a:r>
            <a:endParaRPr lang="en-US" sz="675" dirty="0"/>
          </a:p>
        </p:txBody>
      </p:sp>
      <p:sp>
        <p:nvSpPr>
          <p:cNvPr id="19" name="Text 15"/>
          <p:cNvSpPr/>
          <p:nvPr/>
        </p:nvSpPr>
        <p:spPr>
          <a:xfrm>
            <a:off x="1244650" y="2514600"/>
            <a:ext cx="2641402" cy="361950"/>
          </a:xfrm>
          <a:prstGeom prst="rect">
            <a:avLst/>
          </a:prstGeom>
          <a:solidFill>
            <a:srgbClr val="1E1E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6"/>
          <p:cNvSpPr/>
          <p:nvPr/>
        </p:nvSpPr>
        <p:spPr>
          <a:xfrm>
            <a:off x="1244650" y="2867025"/>
            <a:ext cx="2641402" cy="0"/>
          </a:xfrm>
          <a:prstGeom prst="line">
            <a:avLst/>
          </a:prstGeom>
          <a:noFill/>
          <a:ln w="19050">
            <a:solidFill>
              <a:srgbClr val="666AF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219420" y="2590800"/>
            <a:ext cx="273405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DEFINISI LISENSI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775150" y="2514600"/>
            <a:ext cx="2641550" cy="361950"/>
          </a:xfrm>
          <a:prstGeom prst="rect">
            <a:avLst/>
          </a:prstGeom>
          <a:solidFill>
            <a:srgbClr val="1E1E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19"/>
          <p:cNvSpPr/>
          <p:nvPr/>
        </p:nvSpPr>
        <p:spPr>
          <a:xfrm>
            <a:off x="4775150" y="2867025"/>
            <a:ext cx="2641550" cy="0"/>
          </a:xfrm>
          <a:prstGeom prst="line">
            <a:avLst/>
          </a:prstGeom>
          <a:noFill/>
          <a:ln w="19050">
            <a:solidFill>
              <a:srgbClr val="666AF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749995" y="2590800"/>
            <a:ext cx="273405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PROPRIETARY SOFTWARE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8305800" y="2514600"/>
            <a:ext cx="2641550" cy="361950"/>
          </a:xfrm>
          <a:prstGeom prst="rect">
            <a:avLst/>
          </a:prstGeom>
          <a:solidFill>
            <a:srgbClr val="1E1E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2"/>
          <p:cNvSpPr/>
          <p:nvPr/>
        </p:nvSpPr>
        <p:spPr>
          <a:xfrm>
            <a:off x="8305800" y="2867025"/>
            <a:ext cx="2641550" cy="0"/>
          </a:xfrm>
          <a:prstGeom prst="line">
            <a:avLst/>
          </a:prstGeom>
          <a:noFill/>
          <a:ln w="19050">
            <a:solidFill>
              <a:srgbClr val="666AF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280645" y="2590800"/>
            <a:ext cx="273405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OPEN SOURCE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2895600" y="4391025"/>
            <a:ext cx="2743200" cy="361950"/>
          </a:xfrm>
          <a:prstGeom prst="rect">
            <a:avLst/>
          </a:prstGeom>
          <a:solidFill>
            <a:srgbClr val="1E1E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5"/>
          <p:cNvSpPr/>
          <p:nvPr/>
        </p:nvSpPr>
        <p:spPr>
          <a:xfrm>
            <a:off x="2895600" y="4743450"/>
            <a:ext cx="2743200" cy="0"/>
          </a:xfrm>
          <a:prstGeom prst="line">
            <a:avLst/>
          </a:prstGeom>
          <a:noFill/>
          <a:ln w="19050">
            <a:solidFill>
              <a:srgbClr val="666AF6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867835" y="4467225"/>
            <a:ext cx="2834640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BISNIS KOMERSIAL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6553200" y="4391025"/>
            <a:ext cx="2743200" cy="361950"/>
          </a:xfrm>
          <a:prstGeom prst="rect">
            <a:avLst/>
          </a:prstGeom>
          <a:solidFill>
            <a:srgbClr val="1E1E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28"/>
          <p:cNvSpPr/>
          <p:nvPr/>
        </p:nvSpPr>
        <p:spPr>
          <a:xfrm>
            <a:off x="6553200" y="4743450"/>
            <a:ext cx="2743200" cy="0"/>
          </a:xfrm>
          <a:prstGeom prst="line">
            <a:avLst/>
          </a:prstGeom>
          <a:noFill/>
          <a:ln w="19050">
            <a:solidFill>
              <a:srgbClr val="666AF6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525435" y="4467225"/>
            <a:ext cx="2834640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MODEL KOMUNITAS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050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>
            <a:alphaModFix amt="1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3563" y="1371600"/>
            <a:ext cx="4242816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30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FILOSOFI PERANGKAT LUNAK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3563" y="1600200"/>
            <a:ext cx="4270248" cy="14356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5625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MEMAHAMI 
</a:t>
            </a:r>
            <a:r>
              <a:rPr lang="en-US" sz="4500" b="1" dirty="0">
                <a:solidFill>
                  <a:srgbClr val="FFFFFF">
                    <a:alpha val="80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LISENSI OSS</a:t>
            </a:r>
            <a:endParaRPr lang="en-US" sz="4500" dirty="0"/>
          </a:p>
        </p:txBody>
      </p:sp>
      <p:pic>
        <p:nvPicPr>
          <p:cNvPr id="6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1525" y="3343275"/>
            <a:ext cx="4105275" cy="22669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51450" y="2864644"/>
            <a:ext cx="5778550" cy="0"/>
          </a:xfrm>
          <a:prstGeom prst="line">
            <a:avLst/>
          </a:prstGeom>
          <a:noFill/>
          <a:ln w="9525">
            <a:solidFill>
              <a:srgbClr val="666AF6">
                <a:alpha val="1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877744" y="1638300"/>
            <a:ext cx="292608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-60" dirty="0">
                <a:solidFill>
                  <a:srgbClr val="666AF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 //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273105" y="1600200"/>
            <a:ext cx="2240280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3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Kebebasan &amp; Karakteristik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878488" y="1982391"/>
            <a:ext cx="5358384" cy="649224"/>
          </a:xfrm>
          <a:prstGeom prst="rect">
            <a:avLst/>
          </a:prstGeom>
          <a:noFill/>
          <a:ln/>
        </p:spPr>
        <p:txBody>
          <a:bodyPr vert="horz" wrap="square" lIns="38100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Menekankan kebebasan pengguna untuk menjalankan, memodifikasi, dan mendistribusikan kode melalui transparansi akses sumber terbuka yang mendorong inovasi global.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651450" y="4591050"/>
            <a:ext cx="5778550" cy="0"/>
          </a:xfrm>
          <a:prstGeom prst="line">
            <a:avLst/>
          </a:prstGeom>
          <a:noFill/>
          <a:ln w="9525">
            <a:solidFill>
              <a:srgbClr val="666AF6">
                <a:alpha val="1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877744" y="3364706"/>
            <a:ext cx="31089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-60" dirty="0">
                <a:solidFill>
                  <a:srgbClr val="666AF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 //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292155" y="3326606"/>
            <a:ext cx="1965960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3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Keuntungan Kolaborasi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878488" y="3708797"/>
            <a:ext cx="5358384" cy="649224"/>
          </a:xfrm>
          <a:prstGeom prst="rect">
            <a:avLst/>
          </a:prstGeom>
          <a:noFill/>
          <a:ln/>
        </p:spPr>
        <p:txBody>
          <a:bodyPr vert="horz" wrap="square" lIns="38100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Sinergi pengembang meningkatkan keamanan dan efisiensi melalui kontribusi komunitas, mempercepat adopsi teknologi industri pada tren lisensi masa depan.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880050" y="5062538"/>
            <a:ext cx="758952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1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NILAI INTI: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6823025" y="4976813"/>
            <a:ext cx="1209675" cy="314325"/>
          </a:xfrm>
          <a:prstGeom prst="roundRect">
            <a:avLst>
              <a:gd name="adj" fmla="val 100000"/>
            </a:avLst>
          </a:prstGeom>
          <a:solidFill>
            <a:srgbClr val="666AF6"/>
          </a:solidFill>
          <a:ln w="9525">
            <a:solidFill>
              <a:srgbClr val="666A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6823025" y="4976813"/>
            <a:ext cx="1234440" cy="320040"/>
          </a:xfrm>
          <a:prstGeom prst="rect">
            <a:avLst/>
          </a:prstGeom>
          <a:noFill/>
          <a:ln/>
        </p:spPr>
        <p:txBody>
          <a:bodyPr vert="horz" wrap="square" lIns="228600" tIns="76200" rIns="228600" bIns="7620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TRANSPARANSI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8147000" y="4976813"/>
            <a:ext cx="1000125" cy="314325"/>
          </a:xfrm>
          <a:prstGeom prst="roundRect">
            <a:avLst>
              <a:gd name="adj" fmla="val 100000"/>
            </a:avLst>
          </a:prstGeom>
          <a:solidFill>
            <a:srgbClr val="666AF6">
              <a:alpha val="10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8147000" y="4976813"/>
            <a:ext cx="1024128" cy="320040"/>
          </a:xfrm>
          <a:prstGeom prst="rect">
            <a:avLst/>
          </a:prstGeom>
          <a:noFill/>
          <a:ln/>
        </p:spPr>
        <p:txBody>
          <a:bodyPr vert="horz" wrap="square" lIns="228600" tIns="76200" rIns="228600" bIns="7620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0" dirty="0">
                <a:solidFill>
                  <a:srgbClr val="9CA3A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KEAMANAN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9261425" y="4976813"/>
            <a:ext cx="866775" cy="314325"/>
          </a:xfrm>
          <a:prstGeom prst="roundRect">
            <a:avLst>
              <a:gd name="adj" fmla="val 100000"/>
            </a:avLst>
          </a:prstGeom>
          <a:solidFill>
            <a:srgbClr val="666AF6">
              <a:alpha val="10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9261425" y="4976813"/>
            <a:ext cx="896112" cy="320040"/>
          </a:xfrm>
          <a:prstGeom prst="rect">
            <a:avLst/>
          </a:prstGeom>
          <a:noFill/>
          <a:ln/>
        </p:spPr>
        <p:txBody>
          <a:bodyPr vert="horz" wrap="square" lIns="228600" tIns="76200" rIns="228600" bIns="7620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0" dirty="0">
                <a:solidFill>
                  <a:srgbClr val="9CA3A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INOVASI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571500" y="381000"/>
            <a:ext cx="11049000" cy="9525"/>
          </a:xfrm>
          <a:prstGeom prst="rect">
            <a:avLst/>
          </a:prstGeom>
          <a:solidFill>
            <a:srgbClr val="666AF6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6076950" y="238125"/>
            <a:ext cx="38100" cy="38100"/>
          </a:xfrm>
          <a:prstGeom prst="roundRect">
            <a:avLst>
              <a:gd name="adj" fmla="val 960000"/>
            </a:avLst>
          </a:prstGeom>
          <a:solidFill>
            <a:srgbClr val="666A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4943475" y="352425"/>
            <a:ext cx="240487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4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HUKUM HAK CIPTA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5167313" y="616744"/>
            <a:ext cx="1920240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kern="0" spc="30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&amp; LISENSI</a:t>
            </a:r>
            <a:endParaRPr lang="en-US" sz="6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050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915400" y="-2438400"/>
            <a:ext cx="5715000" cy="5715000"/>
          </a:xfrm>
          <a:prstGeom prst="roundRect">
            <a:avLst>
              <a:gd name="adj" fmla="val 160000"/>
            </a:avLst>
          </a:prstGeom>
          <a:solidFill>
            <a:srgbClr val="1E1E40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371600"/>
            <a:ext cx="5477256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i="1" kern="0" spc="37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// JENIS LISENSI OSS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1638300"/>
            <a:ext cx="5477256" cy="7772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5625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MIT </a:t>
            </a:r>
            <a:r>
              <a:rPr lang="en-US" sz="4500" b="1" dirty="0">
                <a:solidFill>
                  <a:srgbClr val="FFFFFF">
                    <a:alpha val="80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LICENSE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7875612" y="1601391"/>
            <a:ext cx="3593592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706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Lisensi perangkat lunak bebas yang sangat permisif, memberikan kebebasan luas bagi pengembang untuk menggunakan dan mendistribusikan kode.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3019425"/>
            <a:ext cx="2495550" cy="2667000"/>
          </a:xfrm>
          <a:prstGeom prst="roundRect">
            <a:avLst>
              <a:gd name="adj" fmla="val 6107"/>
            </a:avLst>
          </a:prstGeom>
          <a:solidFill>
            <a:srgbClr val="666AF6">
              <a:alpha val="5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38275" y="3333750"/>
            <a:ext cx="1143000" cy="933450"/>
          </a:xfrm>
          <a:prstGeom prst="roundRect">
            <a:avLst>
              <a:gd name="adj" fmla="val 979592"/>
            </a:avLst>
          </a:prstGeom>
          <a:noFill/>
          <a:ln w="38100">
            <a:solidFill>
              <a:srgbClr val="666AF6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766888" y="3576638"/>
            <a:ext cx="557784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42361" y="3881438"/>
            <a:ext cx="566928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kern="0" spc="7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PERMISIF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500113" y="4495800"/>
            <a:ext cx="107899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 dirty="0">
                <a:solidFill>
                  <a:srgbClr val="666AF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KARAKTERISTIK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76325" y="4762500"/>
            <a:ext cx="1901952" cy="6126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Lisensi ini bersifat sangat terbuka, mengizinkan penggunaan komersial dan modifikasi tanpa batasan ketat.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86150" y="3019425"/>
            <a:ext cx="2495550" cy="2667000"/>
          </a:xfrm>
          <a:prstGeom prst="roundRect">
            <a:avLst>
              <a:gd name="adj" fmla="val 6107"/>
            </a:avLst>
          </a:prstGeom>
          <a:solidFill>
            <a:srgbClr val="666AF6">
              <a:alpha val="10000"/>
            </a:srgbClr>
          </a:solidFill>
          <a:ln w="9525">
            <a:solidFill>
              <a:srgbClr val="666AF6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162425" y="3333750"/>
            <a:ext cx="1143000" cy="933450"/>
          </a:xfrm>
          <a:prstGeom prst="roundRect">
            <a:avLst>
              <a:gd name="adj" fmla="val 979592"/>
            </a:avLst>
          </a:prstGeom>
          <a:noFill/>
          <a:ln w="38100">
            <a:solidFill>
              <a:srgbClr val="666AF6">
                <a:alpha val="4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362450" y="3576638"/>
            <a:ext cx="822960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194477" y="3881438"/>
            <a:ext cx="1106424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kern="0" spc="7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TANGGUNG JAWAB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24325" y="4495800"/>
            <a:ext cx="1280160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KETENTUAN UTAMA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00475" y="4762500"/>
            <a:ext cx="1901952" cy="6126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Mewajibkan atribusi pencipta dan membatasi tanggung jawab hukum pengembang secara penuh.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10300" y="3019425"/>
            <a:ext cx="2495550" cy="2667000"/>
          </a:xfrm>
          <a:prstGeom prst="roundRect">
            <a:avLst>
              <a:gd name="adj" fmla="val 6107"/>
            </a:avLst>
          </a:prstGeom>
          <a:solidFill>
            <a:srgbClr val="666AF6">
              <a:alpha val="5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86575" y="3333750"/>
            <a:ext cx="1143000" cy="1085850"/>
          </a:xfrm>
          <a:prstGeom prst="roundRect">
            <a:avLst>
              <a:gd name="adj" fmla="val 842105"/>
            </a:avLst>
          </a:prstGeom>
          <a:noFill/>
          <a:ln w="38100">
            <a:solidFill>
              <a:srgbClr val="666AF6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948488" y="3652838"/>
            <a:ext cx="1106424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17794" y="3957638"/>
            <a:ext cx="713232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kern="0" spc="7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TEKNOLOGI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915076" y="4648200"/>
            <a:ext cx="1143000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 dirty="0">
                <a:solidFill>
                  <a:srgbClr val="666AF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CONTOH PROYEK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24625" y="4914900"/>
            <a:ext cx="190195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Sangat populer pada ekosistem pengembangan modern seperti React dan Vue.js di GitHub.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934450" y="3019425"/>
            <a:ext cx="2495550" cy="2667000"/>
          </a:xfrm>
          <a:prstGeom prst="roundRect">
            <a:avLst>
              <a:gd name="adj" fmla="val 6107"/>
            </a:avLst>
          </a:prstGeom>
          <a:solidFill>
            <a:srgbClr val="666AF6">
              <a:alpha val="5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610725" y="3333750"/>
            <a:ext cx="1143000" cy="1085850"/>
          </a:xfrm>
          <a:prstGeom prst="roundRect">
            <a:avLst>
              <a:gd name="adj" fmla="val 842105"/>
            </a:avLst>
          </a:prstGeom>
          <a:noFill/>
          <a:ln w="38100">
            <a:solidFill>
              <a:srgbClr val="666AF6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867900" y="3652838"/>
            <a:ext cx="704088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759363" y="3957638"/>
            <a:ext cx="877824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kern="0" spc="7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FLEKSIBILITAS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663038" y="4648200"/>
            <a:ext cx="1097280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 dirty="0">
                <a:solidFill>
                  <a:srgbClr val="666AF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ADOPSI GLOBAL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248775" y="4914900"/>
            <a:ext cx="1901952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 industri untuk memajukan inovasi kolaboratif dalam perangkat lunak sumber terbuka.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71500" y="381000"/>
            <a:ext cx="11049000" cy="9525"/>
          </a:xfrm>
          <a:prstGeom prst="rect">
            <a:avLst/>
          </a:prstGeom>
          <a:solidFill>
            <a:srgbClr val="666AF6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076950" y="238125"/>
            <a:ext cx="38100" cy="38100"/>
          </a:xfrm>
          <a:prstGeom prst="roundRect">
            <a:avLst>
              <a:gd name="adj" fmla="val 960000"/>
            </a:avLst>
          </a:prstGeom>
          <a:solidFill>
            <a:srgbClr val="666A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238750" y="352425"/>
            <a:ext cx="1801368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4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OPEN SOURCE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400675" y="616744"/>
            <a:ext cx="1444752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kern="0" spc="30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HUKUM HAK CIPTA</a:t>
            </a:r>
            <a:endParaRPr lang="en-US" sz="6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58250" y="0"/>
            <a:ext cx="3333750" cy="3333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1220986"/>
            <a:ext cx="12316968" cy="10881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290"/>
              </a:lnSpc>
              <a:buNone/>
            </a:pPr>
            <a:r>
              <a:rPr lang="en-US" sz="3900" b="1" kern="0" spc="-10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JENIS LISENSI OSS:
</a:t>
            </a:r>
            <a:r>
              <a:rPr lang="en-US" sz="3900" b="1" kern="0" spc="-100" dirty="0">
                <a:solidFill>
                  <a:srgbClr val="666AF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GNU GENERAL PUBLIC LICENSE (GPL)</a:t>
            </a:r>
            <a:endParaRPr lang="en-US" sz="3900" dirty="0"/>
          </a:p>
        </p:txBody>
      </p:sp>
      <p:pic>
        <p:nvPicPr>
          <p:cNvPr id="5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23925" y="2775347"/>
            <a:ext cx="4933950" cy="32194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324600" y="2842022"/>
            <a:ext cx="4953000" cy="862013"/>
          </a:xfrm>
          <a:prstGeom prst="rect">
            <a:avLst/>
          </a:prstGeom>
          <a:solidFill>
            <a:srgbClr val="080A15">
              <a:alpha val="70000"/>
            </a:srgbClr>
          </a:solidFill>
          <a:ln w="9525">
            <a:solidFill>
              <a:srgbClr val="666AF6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6562725" y="3153966"/>
            <a:ext cx="4517136" cy="3931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 menerapkan konsep Copyleft yang menjamin kebebasan pengguna untuk menjalankan, mempelajari, dan berbagi perangkat lunak.</a:t>
            </a:r>
            <a:endParaRPr lang="en-US" sz="1013" dirty="0"/>
          </a:p>
        </p:txBody>
      </p:sp>
      <p:sp>
        <p:nvSpPr>
          <p:cNvPr id="8" name="Text 3"/>
          <p:cNvSpPr/>
          <p:nvPr/>
        </p:nvSpPr>
        <p:spPr>
          <a:xfrm>
            <a:off x="6324600" y="4008834"/>
            <a:ext cx="4953000" cy="862013"/>
          </a:xfrm>
          <a:prstGeom prst="rect">
            <a:avLst/>
          </a:prstGeom>
          <a:solidFill>
            <a:srgbClr val="080A15">
              <a:alpha val="70000"/>
            </a:srgbClr>
          </a:solidFill>
          <a:ln w="9525">
            <a:solidFill>
              <a:srgbClr val="666AF6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6562725" y="4320778"/>
            <a:ext cx="4517136" cy="3931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Terdapat kewajiban hukum untuk mendistribusikan ulang kode sumber jika perangkat lunak tersebut dimodifikasi oleh pengembang.</a:t>
            </a:r>
            <a:endParaRPr lang="en-US" sz="1013" dirty="0"/>
          </a:p>
        </p:txBody>
      </p:sp>
      <p:sp>
        <p:nvSpPr>
          <p:cNvPr id="10" name="Text 5"/>
          <p:cNvSpPr/>
          <p:nvPr/>
        </p:nvSpPr>
        <p:spPr>
          <a:xfrm>
            <a:off x="6324600" y="5175647"/>
            <a:ext cx="4953000" cy="862013"/>
          </a:xfrm>
          <a:prstGeom prst="rect">
            <a:avLst/>
          </a:prstGeom>
          <a:solidFill>
            <a:srgbClr val="080A15">
              <a:alpha val="70000"/>
            </a:srgbClr>
          </a:solidFill>
          <a:ln w="9525">
            <a:solidFill>
              <a:srgbClr val="666AF6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6562725" y="5487591"/>
            <a:ext cx="4517136" cy="3931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Penggunaan library GPL menuntut transparansi kode, di mana seluruh produk turunan mungkin harus menggunakan lisensi GPL yang sama.</a:t>
            </a:r>
            <a:endParaRPr lang="en-US" sz="1013" dirty="0"/>
          </a:p>
        </p:txBody>
      </p:sp>
      <p:sp>
        <p:nvSpPr>
          <p:cNvPr id="12" name="Text 7"/>
          <p:cNvSpPr/>
          <p:nvPr/>
        </p:nvSpPr>
        <p:spPr>
          <a:xfrm>
            <a:off x="571500" y="381000"/>
            <a:ext cx="11049000" cy="9525"/>
          </a:xfrm>
          <a:prstGeom prst="rect">
            <a:avLst/>
          </a:prstGeom>
          <a:solidFill>
            <a:srgbClr val="666AF6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6076950" y="238125"/>
            <a:ext cx="38100" cy="38100"/>
          </a:xfrm>
          <a:prstGeom prst="roundRect">
            <a:avLst>
              <a:gd name="adj" fmla="val 960000"/>
            </a:avLst>
          </a:prstGeom>
          <a:solidFill>
            <a:srgbClr val="666A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5429250" y="352425"/>
            <a:ext cx="1417320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4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HAK CIPTA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129213" y="616744"/>
            <a:ext cx="2002536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30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PERANGKAT LUNAK &amp; OSS</a:t>
            </a:r>
            <a:endParaRPr lang="en-US" sz="675" dirty="0"/>
          </a:p>
        </p:txBody>
      </p:sp>
      <p:sp>
        <p:nvSpPr>
          <p:cNvPr id="16" name="Text 11"/>
          <p:cNvSpPr/>
          <p:nvPr/>
        </p:nvSpPr>
        <p:spPr>
          <a:xfrm>
            <a:off x="6553200" y="2727722"/>
            <a:ext cx="1476375" cy="247650"/>
          </a:xfrm>
          <a:prstGeom prst="rect">
            <a:avLst/>
          </a:prstGeom>
          <a:solidFill>
            <a:srgbClr val="1E1E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2"/>
          <p:cNvSpPr/>
          <p:nvPr/>
        </p:nvSpPr>
        <p:spPr>
          <a:xfrm>
            <a:off x="6553200" y="2965847"/>
            <a:ext cx="1476375" cy="0"/>
          </a:xfrm>
          <a:prstGeom prst="line">
            <a:avLst/>
          </a:prstGeom>
          <a:noFill/>
          <a:ln w="19050">
            <a:solidFill>
              <a:srgbClr val="666AF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781800" y="2765822"/>
            <a:ext cx="1069848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9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KONSEP COPYLEFT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6553200" y="3894534"/>
            <a:ext cx="1426964" cy="247650"/>
          </a:xfrm>
          <a:prstGeom prst="rect">
            <a:avLst/>
          </a:prstGeom>
          <a:solidFill>
            <a:srgbClr val="1E1E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5"/>
          <p:cNvSpPr/>
          <p:nvPr/>
        </p:nvSpPr>
        <p:spPr>
          <a:xfrm>
            <a:off x="6553200" y="4132659"/>
            <a:ext cx="1426964" cy="0"/>
          </a:xfrm>
          <a:prstGeom prst="line">
            <a:avLst/>
          </a:prstGeom>
          <a:noFill/>
          <a:ln w="19050">
            <a:solidFill>
              <a:srgbClr val="666AF6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780907" y="3932634"/>
            <a:ext cx="1024128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9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KEWAJIBAN KODE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553200" y="5061347"/>
            <a:ext cx="1602135" cy="247650"/>
          </a:xfrm>
          <a:prstGeom prst="rect">
            <a:avLst/>
          </a:prstGeom>
          <a:solidFill>
            <a:srgbClr val="1E1E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18"/>
          <p:cNvSpPr/>
          <p:nvPr/>
        </p:nvSpPr>
        <p:spPr>
          <a:xfrm>
            <a:off x="6553200" y="5299472"/>
            <a:ext cx="1602135" cy="0"/>
          </a:xfrm>
          <a:prstGeom prst="line">
            <a:avLst/>
          </a:prstGeom>
          <a:noFill/>
          <a:ln w="19050">
            <a:solidFill>
              <a:srgbClr val="666AF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782767" y="5099447"/>
            <a:ext cx="1197864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9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PRODUK KOMERSIAL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050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381250" y="1571625"/>
            <a:ext cx="8211312" cy="40873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9250"/>
              </a:lnSpc>
              <a:buNone/>
            </a:pPr>
            <a:r>
              <a:rPr lang="en-US" sz="19500" b="1" kern="0" spc="-750" dirty="0">
                <a:solidFill>
                  <a:srgbClr val="FFFFFF">
                    <a:alpha val="2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APACHE</a:t>
            </a:r>
            <a:endParaRPr lang="en-US" sz="19500" dirty="0"/>
          </a:p>
        </p:txBody>
      </p:sp>
      <p:sp>
        <p:nvSpPr>
          <p:cNvPr id="4" name="Text 2"/>
          <p:cNvSpPr/>
          <p:nvPr/>
        </p:nvSpPr>
        <p:spPr>
          <a:xfrm>
            <a:off x="762000" y="1219200"/>
            <a:ext cx="3877056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i="1" kern="0" spc="30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// JENIS LISENSI OSS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1485900"/>
            <a:ext cx="3968496" cy="5120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APACHE LICENSE 2.0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829675" y="1457325"/>
            <a:ext cx="0" cy="409575"/>
          </a:xfrm>
          <a:prstGeom prst="line">
            <a:avLst/>
          </a:prstGeom>
          <a:noFill/>
          <a:ln w="9525">
            <a:solidFill>
              <a:srgbClr val="D1D5DB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20200" y="1457325"/>
            <a:ext cx="1051560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STANDAR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9220200" y="1600200"/>
            <a:ext cx="1069848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INDUSTRI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601325" y="1457325"/>
            <a:ext cx="877824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FLEKSIBILITAS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0601325" y="1600200"/>
            <a:ext cx="89611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66AF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TINGGI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2000" y="2400300"/>
            <a:ext cx="1981200" cy="3238500"/>
          </a:xfrm>
          <a:prstGeom prst="roundRect">
            <a:avLst>
              <a:gd name="adj" fmla="val 5769"/>
            </a:avLst>
          </a:prstGeom>
          <a:solidFill>
            <a:srgbClr val="1E1E40"/>
          </a:solidFill>
          <a:ln w="9525">
            <a:solidFill>
              <a:srgbClr val="666AF6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0" descr="image.png"/>
          <p:cNvPicPr>
            <a:picLocks noChangeAspect="1"/>
          </p:cNvPicPr>
          <p:nvPr/>
        </p:nvPicPr>
        <p:blipFill>
          <a:blip r:embed="rId3"/>
          <a:srcRect r="22750"/>
          <a:stretch/>
        </p:blipFill>
        <p:spPr>
          <a:xfrm>
            <a:off x="771525" y="2409825"/>
            <a:ext cx="1962150" cy="1905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85994" y="4464844"/>
            <a:ext cx="96012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238"/>
              </a:lnSpc>
              <a:buNone/>
            </a:pPr>
            <a:r>
              <a:rPr lang="en-US" sz="825" b="1" kern="0" spc="8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HAK PENGGUNAAN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923925" y="4700588"/>
            <a:ext cx="1682496" cy="2926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Izin bebas untuk modifikasi dan distribusi perangkat lunak.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2933700" y="2400300"/>
            <a:ext cx="1981200" cy="3238500"/>
          </a:xfrm>
          <a:prstGeom prst="roundRect">
            <a:avLst>
              <a:gd name="adj" fmla="val 5769"/>
            </a:avLst>
          </a:prstGeom>
          <a:solidFill>
            <a:srgbClr val="1E1E40"/>
          </a:solidFill>
          <a:ln w="9525">
            <a:solidFill>
              <a:srgbClr val="666AF6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1" descr="image.png"/>
          <p:cNvPicPr>
            <a:picLocks noChangeAspect="1"/>
          </p:cNvPicPr>
          <p:nvPr/>
        </p:nvPicPr>
        <p:blipFill>
          <a:blip r:embed="rId4"/>
          <a:srcRect r="42063"/>
          <a:stretch/>
        </p:blipFill>
        <p:spPr>
          <a:xfrm>
            <a:off x="2943225" y="2409825"/>
            <a:ext cx="1962150" cy="19050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62552" y="4464844"/>
            <a:ext cx="950976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238"/>
              </a:lnSpc>
              <a:buNone/>
            </a:pPr>
            <a:r>
              <a:rPr lang="en-US" sz="825" b="1" kern="0" spc="8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PROTEKSI HUKUM</a:t>
            </a:r>
            <a:endParaRPr lang="en-US" sz="825" dirty="0"/>
          </a:p>
        </p:txBody>
      </p:sp>
      <p:sp>
        <p:nvSpPr>
          <p:cNvPr id="18" name="Text 14"/>
          <p:cNvSpPr/>
          <p:nvPr/>
        </p:nvSpPr>
        <p:spPr>
          <a:xfrm>
            <a:off x="3095625" y="4700588"/>
            <a:ext cx="1682496" cy="2926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Perlindungan klaim paten dari kontributor bagi pengguna.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5105400" y="2400300"/>
            <a:ext cx="1981200" cy="3238500"/>
          </a:xfrm>
          <a:prstGeom prst="roundRect">
            <a:avLst>
              <a:gd name="adj" fmla="val 5769"/>
            </a:avLst>
          </a:prstGeom>
          <a:solidFill>
            <a:srgbClr val="1E1E40"/>
          </a:solidFill>
          <a:ln w="9525">
            <a:solidFill>
              <a:srgbClr val="666A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2" descr="image.png"/>
          <p:cNvPicPr>
            <a:picLocks noChangeAspect="1"/>
          </p:cNvPicPr>
          <p:nvPr/>
        </p:nvPicPr>
        <p:blipFill>
          <a:blip r:embed="rId5"/>
          <a:srcRect r="42275"/>
          <a:stretch/>
        </p:blipFill>
        <p:spPr>
          <a:xfrm>
            <a:off x="5114925" y="2409825"/>
            <a:ext cx="1962150" cy="19050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532239" y="4464844"/>
            <a:ext cx="1161288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238"/>
              </a:lnSpc>
              <a:buNone/>
            </a:pPr>
            <a:r>
              <a:rPr lang="en-US" sz="825" b="1" kern="0" spc="80" dirty="0">
                <a:solidFill>
                  <a:srgbClr val="666AF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PERBEDAAN SPESIFIK</a:t>
            </a:r>
            <a:endParaRPr lang="en-US" sz="825" dirty="0"/>
          </a:p>
        </p:txBody>
      </p:sp>
      <p:sp>
        <p:nvSpPr>
          <p:cNvPr id="22" name="Text 17"/>
          <p:cNvSpPr/>
          <p:nvPr/>
        </p:nvSpPr>
        <p:spPr>
          <a:xfrm>
            <a:off x="5267325" y="4700588"/>
            <a:ext cx="1682496" cy="2926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Wajib menyertakan hak cipta tanpa harus open source turunan.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7277100" y="2400300"/>
            <a:ext cx="1981200" cy="3238500"/>
          </a:xfrm>
          <a:prstGeom prst="roundRect">
            <a:avLst>
              <a:gd name="adj" fmla="val 5769"/>
            </a:avLst>
          </a:prstGeom>
          <a:solidFill>
            <a:srgbClr val="1E1E40"/>
          </a:solidFill>
          <a:ln w="9525">
            <a:solidFill>
              <a:srgbClr val="666AF6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3" descr="image.png"/>
          <p:cNvPicPr>
            <a:picLocks noChangeAspect="1"/>
          </p:cNvPicPr>
          <p:nvPr/>
        </p:nvPicPr>
        <p:blipFill>
          <a:blip r:embed="rId6"/>
          <a:srcRect r="22427"/>
          <a:stretch/>
        </p:blipFill>
        <p:spPr>
          <a:xfrm>
            <a:off x="7286625" y="2409825"/>
            <a:ext cx="1962150" cy="19050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878818" y="4464844"/>
            <a:ext cx="804672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238"/>
              </a:lnSpc>
              <a:buNone/>
            </a:pPr>
            <a:r>
              <a:rPr lang="en-US" sz="825" b="1" kern="0" spc="8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ADOPSI BISNIS</a:t>
            </a:r>
            <a:endParaRPr lang="en-US" sz="825" dirty="0"/>
          </a:p>
        </p:txBody>
      </p:sp>
      <p:sp>
        <p:nvSpPr>
          <p:cNvPr id="26" name="Text 20"/>
          <p:cNvSpPr/>
          <p:nvPr/>
        </p:nvSpPr>
        <p:spPr>
          <a:xfrm>
            <a:off x="7439025" y="4700588"/>
            <a:ext cx="1682496" cy="2926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Pilihan utama bagi startup dan korporasi teknologi besar.</a:t>
            </a:r>
            <a:endParaRPr lang="en-US" sz="750" dirty="0"/>
          </a:p>
        </p:txBody>
      </p:sp>
      <p:sp>
        <p:nvSpPr>
          <p:cNvPr id="27" name="Text 21"/>
          <p:cNvSpPr/>
          <p:nvPr/>
        </p:nvSpPr>
        <p:spPr>
          <a:xfrm>
            <a:off x="9448800" y="2400300"/>
            <a:ext cx="1981200" cy="3238500"/>
          </a:xfrm>
          <a:prstGeom prst="roundRect">
            <a:avLst>
              <a:gd name="adj" fmla="val 5769"/>
            </a:avLst>
          </a:prstGeom>
          <a:solidFill>
            <a:srgbClr val="1E1E40"/>
          </a:solidFill>
          <a:ln w="9525">
            <a:solidFill>
              <a:srgbClr val="666AF6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4" descr="image.png"/>
          <p:cNvPicPr>
            <a:picLocks noChangeAspect="1"/>
          </p:cNvPicPr>
          <p:nvPr/>
        </p:nvPicPr>
        <p:blipFill>
          <a:blip r:embed="rId7"/>
          <a:srcRect r="42224"/>
          <a:stretch/>
        </p:blipFill>
        <p:spPr>
          <a:xfrm>
            <a:off x="9458325" y="2409825"/>
            <a:ext cx="1962150" cy="19050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933858" y="4464844"/>
            <a:ext cx="1042416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238"/>
              </a:lnSpc>
              <a:buNone/>
            </a:pPr>
            <a:r>
              <a:rPr lang="en-US" sz="825" b="1" kern="0" spc="8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KEAMANAN LISENSI</a:t>
            </a:r>
            <a:endParaRPr lang="en-US" sz="825" dirty="0"/>
          </a:p>
        </p:txBody>
      </p:sp>
      <p:sp>
        <p:nvSpPr>
          <p:cNvPr id="30" name="Text 23"/>
          <p:cNvSpPr/>
          <p:nvPr/>
        </p:nvSpPr>
        <p:spPr>
          <a:xfrm>
            <a:off x="9610725" y="4700588"/>
            <a:ext cx="1682496" cy="2926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 industri yang aman dan fleksibel hingga kini.</a:t>
            </a:r>
            <a:endParaRPr lang="en-US" sz="750" dirty="0"/>
          </a:p>
        </p:txBody>
      </p:sp>
      <p:sp>
        <p:nvSpPr>
          <p:cNvPr id="31" name="Text 24"/>
          <p:cNvSpPr/>
          <p:nvPr/>
        </p:nvSpPr>
        <p:spPr>
          <a:xfrm>
            <a:off x="571500" y="381000"/>
            <a:ext cx="11049000" cy="9525"/>
          </a:xfrm>
          <a:prstGeom prst="rect">
            <a:avLst/>
          </a:prstGeom>
          <a:solidFill>
            <a:srgbClr val="666AF6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6076876" y="238125"/>
            <a:ext cx="38100" cy="38100"/>
          </a:xfrm>
          <a:prstGeom prst="roundRect">
            <a:avLst>
              <a:gd name="adj" fmla="val 960000"/>
            </a:avLst>
          </a:prstGeom>
          <a:solidFill>
            <a:srgbClr val="666A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6"/>
          <p:cNvSpPr/>
          <p:nvPr/>
        </p:nvSpPr>
        <p:spPr>
          <a:xfrm>
            <a:off x="5429176" y="352425"/>
            <a:ext cx="1417320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4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HAK CIPTA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5143500" y="616744"/>
            <a:ext cx="1965960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kern="0" spc="300" dirty="0">
                <a:solidFill>
                  <a:srgbClr val="666AF6"/>
                </a:solidFill>
                <a:latin typeface="MiSans Normal" pitchFamily="34" charset="0"/>
                <a:ea typeface="MiSans Normal" pitchFamily="34" charset="-122"/>
                <a:cs typeface="MiSans Normal" pitchFamily="34" charset="-120"/>
              </a:rPr>
              <a:t>OPEN SOURCE LICENSING</a:t>
            </a:r>
            <a:endParaRPr lang="en-US" sz="6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82000" y="0"/>
            <a:ext cx="3810000" cy="3810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2000" y="923925"/>
            <a:ext cx="2143125" cy="247650"/>
          </a:xfrm>
          <a:prstGeom prst="rect">
            <a:avLst/>
          </a:prstGeom>
          <a:solidFill>
            <a:srgbClr val="666AF6">
              <a:alpha val="10000"/>
            </a:srgbClr>
          </a:solidFill>
          <a:ln w="9525">
            <a:solidFill>
              <a:srgbClr val="666AF6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762000" y="923925"/>
            <a:ext cx="2176272" cy="256032"/>
          </a:xfrm>
          <a:prstGeom prst="rect">
            <a:avLst/>
          </a:prstGeom>
          <a:noFill/>
          <a:ln/>
        </p:spPr>
        <p:txBody>
          <a:bodyPr vert="horz" wrap="square" lIns="114300" tIns="38100" rIns="114300" bIns="3810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9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BAGIAN 02 // RISIKO UTAMA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762000" y="1323975"/>
            <a:ext cx="4873752" cy="23225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5625"/>
              </a:lnSpc>
              <a:buNone/>
            </a:pPr>
            <a:r>
              <a:rPr lang="en-US" sz="4500" b="1" kern="0" spc="-23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RISIKO HUKUM
</a:t>
            </a:r>
            <a:r>
              <a:rPr lang="en-US" sz="4500" b="1" kern="0" spc="-230" dirty="0">
                <a:solidFill>
                  <a:srgbClr val="FFFFFF">
                    <a:alpha val="90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SOFTWARE BAJAKAN</a:t>
            </a:r>
            <a:endParaRPr lang="en-US" sz="4500" dirty="0"/>
          </a:p>
        </p:txBody>
      </p:sp>
      <p:sp>
        <p:nvSpPr>
          <p:cNvPr id="7" name="Text 3"/>
          <p:cNvSpPr/>
          <p:nvPr/>
        </p:nvSpPr>
        <p:spPr>
          <a:xfrm>
            <a:off x="762000" y="3943350"/>
            <a:ext cx="4724400" cy="1445419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4"/>
          <p:cNvSpPr/>
          <p:nvPr/>
        </p:nvSpPr>
        <p:spPr>
          <a:xfrm>
            <a:off x="762000" y="3943350"/>
            <a:ext cx="0" cy="1445419"/>
          </a:xfrm>
          <a:prstGeom prst="line">
            <a:avLst/>
          </a:prstGeom>
          <a:noFill/>
          <a:ln w="28575">
            <a:solidFill>
              <a:srgbClr val="666AF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95375" y="4246959"/>
            <a:ext cx="4133088" cy="8412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350" i="1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"Penggunaan perangkat lunak bajakan melanggar hak ekonomi pencipta dan memicu sanksi pidana serta perdata yang berat bagi perusahaan."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400800" y="1495425"/>
            <a:ext cx="585216" cy="7863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666AF6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01.</a:t>
            </a:r>
            <a:endParaRPr lang="en-US" sz="2700" dirty="0"/>
          </a:p>
        </p:txBody>
      </p:sp>
      <p:sp>
        <p:nvSpPr>
          <p:cNvPr id="11" name="Text 7"/>
          <p:cNvSpPr/>
          <p:nvPr/>
        </p:nvSpPr>
        <p:spPr>
          <a:xfrm>
            <a:off x="7124700" y="1497806"/>
            <a:ext cx="4443984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3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PELANGGARAN HAK EKONOMI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124700" y="1838325"/>
            <a:ext cx="4343400" cy="4389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Eksploitasi tanpa izin merugikan pencipta secara finansial dan melanggar undang-undang hak cipta yang berlaku secara global.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400800" y="2656284"/>
            <a:ext cx="649224" cy="9966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666AF6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02.</a:t>
            </a:r>
            <a:endParaRPr lang="en-US" sz="2700" dirty="0"/>
          </a:p>
        </p:txBody>
      </p:sp>
      <p:sp>
        <p:nvSpPr>
          <p:cNvPr id="14" name="Text 10"/>
          <p:cNvSpPr/>
          <p:nvPr/>
        </p:nvSpPr>
        <p:spPr>
          <a:xfrm>
            <a:off x="7191375" y="2655094"/>
            <a:ext cx="4379976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3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SANKSI PIDANA &amp; PERDATA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191375" y="2999184"/>
            <a:ext cx="4279392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Perusahaan menghadapi tuntutan ganti rugi materiil yang besar serta ancaman hukuman penjara bagi manajemen yang bertanggung jawab.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400800" y="4026694"/>
            <a:ext cx="640080" cy="7863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666AF6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03.</a:t>
            </a:r>
            <a:endParaRPr lang="en-US" sz="2700" dirty="0"/>
          </a:p>
        </p:txBody>
      </p:sp>
      <p:sp>
        <p:nvSpPr>
          <p:cNvPr id="17" name="Text 13"/>
          <p:cNvSpPr/>
          <p:nvPr/>
        </p:nvSpPr>
        <p:spPr>
          <a:xfrm>
            <a:off x="7181850" y="4029075"/>
            <a:ext cx="4389120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3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DAMPAK REPUTASI STARTUP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181850" y="4369594"/>
            <a:ext cx="4288536" cy="4389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Praktik ilegal merusak kepercayaan investor karena risiko operasional yang tinggi dan integritas bisnis yang dipertanyakan.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71500" y="381000"/>
            <a:ext cx="11049000" cy="9525"/>
          </a:xfrm>
          <a:prstGeom prst="rect">
            <a:avLst/>
          </a:prstGeom>
          <a:solidFill>
            <a:srgbClr val="666AF6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6076950" y="238125"/>
            <a:ext cx="38100" cy="38100"/>
          </a:xfrm>
          <a:prstGeom prst="roundRect">
            <a:avLst>
              <a:gd name="adj" fmla="val 960000"/>
            </a:avLst>
          </a:prstGeom>
          <a:solidFill>
            <a:srgbClr val="666A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5386388" y="352425"/>
            <a:ext cx="1499616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4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KEPATUHAN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5429250" y="616744"/>
            <a:ext cx="1389888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30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HUKUM &amp; LISENSI</a:t>
            </a:r>
            <a:endParaRPr lang="en-US" sz="6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050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245989"/>
            <a:ext cx="2257425" cy="266700"/>
          </a:xfrm>
          <a:prstGeom prst="rect">
            <a:avLst/>
          </a:prstGeom>
          <a:solidFill>
            <a:srgbClr val="666AF6">
              <a:alpha val="10000"/>
            </a:srgbClr>
          </a:solidFill>
          <a:ln w="9525">
            <a:solidFill>
              <a:srgbClr val="666AF6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914400" y="1245989"/>
            <a:ext cx="2286000" cy="274320"/>
          </a:xfrm>
          <a:prstGeom prst="rect">
            <a:avLst/>
          </a:prstGeom>
          <a:noFill/>
          <a:ln/>
        </p:spPr>
        <p:txBody>
          <a:bodyPr vert="horz" wrap="square" lIns="114300" tIns="38100" rIns="114300" bIns="3810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ANCAMAN // SOFTWARE BAJAKAN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914400" y="1743075"/>
            <a:ext cx="5312664" cy="10881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29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ANCAMAN KEAMANAN
</a:t>
            </a:r>
            <a:r>
              <a:rPr lang="en-US" sz="3900" b="1" dirty="0">
                <a:solidFill>
                  <a:srgbClr val="D1D5D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SOFTWARE BAJAKAN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914400" y="3135511"/>
            <a:ext cx="5181600" cy="1143000"/>
          </a:xfrm>
          <a:prstGeom prst="rect">
            <a:avLst/>
          </a:prstGeom>
          <a:solidFill>
            <a:srgbClr val="666AF6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914400" y="3135511"/>
            <a:ext cx="0" cy="1143000"/>
          </a:xfrm>
          <a:prstGeom prst="line">
            <a:avLst/>
          </a:prstGeom>
          <a:noFill/>
          <a:ln w="28575">
            <a:solidFill>
              <a:srgbClr val="666A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47775" y="3364111"/>
            <a:ext cx="466344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Penggunaan crack berisiko tinggi terhadap infeksi malware dan backdoor yang memicu kebocoran data sensitif perusahaan secara fatal.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6705600" y="1314450"/>
            <a:ext cx="57150" cy="57150"/>
          </a:xfrm>
          <a:prstGeom prst="rect">
            <a:avLst/>
          </a:prstGeom>
          <a:solidFill>
            <a:srgbClr val="666A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705600" y="1219200"/>
            <a:ext cx="4617720" cy="457200"/>
          </a:xfrm>
          <a:prstGeom prst="rect">
            <a:avLst/>
          </a:prstGeom>
          <a:noFill/>
          <a:ln/>
        </p:spPr>
        <p:txBody>
          <a:bodyPr vert="horz" wrap="square" lIns="19050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Risiko Malware:</a:t>
            </a: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Backdoor pada perangkat lunak hasil crack mengancam integritas sistem.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705600" y="1914525"/>
            <a:ext cx="57150" cy="57150"/>
          </a:xfrm>
          <a:prstGeom prst="rect">
            <a:avLst/>
          </a:prstGeom>
          <a:solidFill>
            <a:srgbClr val="666A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705600" y="1819275"/>
            <a:ext cx="4617720" cy="457200"/>
          </a:xfrm>
          <a:prstGeom prst="rect">
            <a:avLst/>
          </a:prstGeom>
          <a:noFill/>
          <a:ln/>
        </p:spPr>
        <p:txBody>
          <a:bodyPr vert="horz" wrap="square" lIns="19050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Kebocoran Data:</a:t>
            </a: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Kerentanan tinggi pada informasi rahasia dan aset digital perusahaan.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705600" y="2514600"/>
            <a:ext cx="57150" cy="57150"/>
          </a:xfrm>
          <a:prstGeom prst="rect">
            <a:avLst/>
          </a:prstGeom>
          <a:solidFill>
            <a:srgbClr val="666A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705600" y="2419350"/>
            <a:ext cx="4617720" cy="457200"/>
          </a:xfrm>
          <a:prstGeom prst="rect">
            <a:avLst/>
          </a:prstGeom>
          <a:noFill/>
          <a:ln/>
        </p:spPr>
        <p:txBody>
          <a:bodyPr vert="horz" wrap="square" lIns="19050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Tanpa Dukungan:</a:t>
            </a: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Ketiadaan pembaruan keamanan (security patch) memicu eksploitasi sistem.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705600" y="3333750"/>
            <a:ext cx="4572000" cy="971550"/>
          </a:xfrm>
          <a:prstGeom prst="rect">
            <a:avLst/>
          </a:prstGeom>
          <a:solidFill>
            <a:srgbClr val="1E1E40">
              <a:alpha val="20000"/>
            </a:srgbClr>
          </a:solidFill>
          <a:ln w="9525">
            <a:solidFill>
              <a:srgbClr val="1F293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943725" y="3571875"/>
            <a:ext cx="4215384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90" dirty="0">
                <a:solidFill>
                  <a:srgbClr val="6B728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STATUS KERENTANAN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943725" y="3800475"/>
            <a:ext cx="4095750" cy="381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943725" y="3800475"/>
            <a:ext cx="3481388" cy="38100"/>
          </a:xfrm>
          <a:prstGeom prst="rect">
            <a:avLst/>
          </a:prstGeom>
          <a:solidFill>
            <a:srgbClr val="9333E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861239" y="3914775"/>
            <a:ext cx="4215384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C084FC"/>
                </a:solidFill>
                <a:latin typeface="MiSans Normal" pitchFamily="34" charset="0"/>
                <a:ea typeface="MiSans Normal" pitchFamily="34" charset="-122"/>
                <a:cs typeface="MiSans Normal" pitchFamily="34" charset="-120"/>
              </a:rPr>
              <a:t>RISIKO KRITIS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76250" y="381000"/>
            <a:ext cx="11239500" cy="9525"/>
          </a:xfrm>
          <a:prstGeom prst="rect">
            <a:avLst/>
          </a:prstGeom>
          <a:solidFill>
            <a:srgbClr val="666AF6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076950" y="238125"/>
            <a:ext cx="38100" cy="38100"/>
          </a:xfrm>
          <a:prstGeom prst="roundRect">
            <a:avLst>
              <a:gd name="adj" fmla="val 960000"/>
            </a:avLst>
          </a:prstGeom>
          <a:solidFill>
            <a:srgbClr val="666A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919663" y="352425"/>
            <a:ext cx="2459736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1650" b="1" kern="0" spc="4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KEAMANAN SIBER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4995863" y="683419"/>
            <a:ext cx="2267712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kern="0" spc="30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PROTEKSI DATA PERUSAHAAN</a:t>
            </a:r>
            <a:endParaRPr lang="en-US" sz="6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922294"/>
          </a:xfrm>
          <a:prstGeom prst="rect">
            <a:avLst/>
          </a:prstGeom>
          <a:solidFill>
            <a:srgbClr val="04050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924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371600"/>
            <a:ext cx="10917936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30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ETIKA &amp; REGULASI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2000" y="1600200"/>
            <a:ext cx="10817352" cy="12435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TANGGUNG JAWAB </a:t>
            </a:r>
            <a:r>
              <a:rPr lang="en-US" sz="4500" b="1" dirty="0">
                <a:solidFill>
                  <a:srgbClr val="FFFFFF">
                    <a:alpha val="90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HUKUM PENGEMBANG</a:t>
            </a:r>
            <a:endParaRPr lang="en-US" sz="4500" dirty="0"/>
          </a:p>
        </p:txBody>
      </p:sp>
      <p:pic>
        <p:nvPicPr>
          <p:cNvPr id="6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1525" y="3305175"/>
            <a:ext cx="1552575" cy="3028950"/>
          </a:xfrm>
          <a:prstGeom prst="rect">
            <a:avLst/>
          </a:prstGeom>
        </p:spPr>
      </p:pic>
      <p:pic>
        <p:nvPicPr>
          <p:cNvPr id="7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498675" y="3609975"/>
            <a:ext cx="1552575" cy="2724150"/>
          </a:xfrm>
          <a:prstGeom prst="rect">
            <a:avLst/>
          </a:prstGeom>
        </p:spPr>
      </p:pic>
      <p:pic>
        <p:nvPicPr>
          <p:cNvPr id="8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225826" y="3305175"/>
            <a:ext cx="1552575" cy="30289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00800" y="3295650"/>
            <a:ext cx="5029200" cy="120015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4"/>
          <p:cNvSpPr/>
          <p:nvPr/>
        </p:nvSpPr>
        <p:spPr>
          <a:xfrm>
            <a:off x="6400800" y="3295650"/>
            <a:ext cx="0" cy="1200150"/>
          </a:xfrm>
          <a:prstGeom prst="line">
            <a:avLst/>
          </a:prstGeom>
          <a:noFill/>
          <a:ln w="19050">
            <a:solidFill>
              <a:srgbClr val="666AF6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6648450" y="3524250"/>
            <a:ext cx="4599432" cy="7498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Pengembang wajib menulis kode aman sesuai standar teknis. Cacat program (bug) dapat memicu sengketa hukum jika menyebabkan kerugian finansial pengguna.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400800" y="4724400"/>
            <a:ext cx="5029200" cy="1107281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7"/>
          <p:cNvSpPr/>
          <p:nvPr/>
        </p:nvSpPr>
        <p:spPr>
          <a:xfrm>
            <a:off x="6400800" y="4724400"/>
            <a:ext cx="0" cy="1107281"/>
          </a:xfrm>
          <a:prstGeom prst="line">
            <a:avLst/>
          </a:prstGeom>
          <a:noFill/>
          <a:ln w="19050">
            <a:solidFill>
              <a:srgbClr val="666AF6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6648450" y="4954191"/>
            <a:ext cx="4590288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Klausul pembatasan tanggung jawab (Limitation of Liability) sangat krusial untuk memitigasi risiko ganti rugi dan melindungi data sesuai regulasi baru.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6400800" y="6060281"/>
            <a:ext cx="2438400" cy="862013"/>
          </a:xfrm>
          <a:prstGeom prst="roundRect">
            <a:avLst>
              <a:gd name="adj" fmla="val 2210"/>
            </a:avLst>
          </a:prstGeom>
          <a:solidFill>
            <a:srgbClr val="666AF6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0"/>
          <p:cNvSpPr/>
          <p:nvPr/>
        </p:nvSpPr>
        <p:spPr>
          <a:xfrm>
            <a:off x="6400800" y="6065044"/>
            <a:ext cx="2438400" cy="0"/>
          </a:xfrm>
          <a:prstGeom prst="line">
            <a:avLst/>
          </a:prstGeom>
          <a:noFill/>
          <a:ln w="9525">
            <a:solidFill>
              <a:srgbClr val="666AF6">
                <a:alpha val="30000"/>
              </a:srgbClr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6591300" y="6257925"/>
            <a:ext cx="2121408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6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CAKUPAN PROFESIONAL</a:t>
            </a:r>
            <a:endParaRPr lang="en-US" sz="675" dirty="0"/>
          </a:p>
        </p:txBody>
      </p:sp>
      <p:sp>
        <p:nvSpPr>
          <p:cNvPr id="18" name="Text 12"/>
          <p:cNvSpPr/>
          <p:nvPr/>
        </p:nvSpPr>
        <p:spPr>
          <a:xfrm>
            <a:off x="6591300" y="6426994"/>
            <a:ext cx="2157984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kern="0" spc="-9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KODE </a:t>
            </a:r>
            <a:r>
              <a:rPr lang="en-US" sz="900" b="1" i="1" kern="0" spc="-90" dirty="0">
                <a:solidFill>
                  <a:srgbClr val="9CA3A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AMAN &amp; FUNGSIONAL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8991600" y="6060281"/>
            <a:ext cx="2438400" cy="862013"/>
          </a:xfrm>
          <a:prstGeom prst="roundRect">
            <a:avLst>
              <a:gd name="adj" fmla="val 2210"/>
            </a:avLst>
          </a:prstGeom>
          <a:solidFill>
            <a:srgbClr val="666AF6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4"/>
          <p:cNvSpPr/>
          <p:nvPr/>
        </p:nvSpPr>
        <p:spPr>
          <a:xfrm>
            <a:off x="8991600" y="6065044"/>
            <a:ext cx="2438400" cy="0"/>
          </a:xfrm>
          <a:prstGeom prst="line">
            <a:avLst/>
          </a:prstGeom>
          <a:noFill/>
          <a:ln w="9525">
            <a:solidFill>
              <a:srgbClr val="666AF6">
                <a:alpha val="30000"/>
              </a:srgbClr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9182100" y="6257925"/>
            <a:ext cx="2121408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6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MITIGASI RISIKO</a:t>
            </a:r>
            <a:endParaRPr lang="en-US" sz="675" dirty="0"/>
          </a:p>
        </p:txBody>
      </p:sp>
      <p:sp>
        <p:nvSpPr>
          <p:cNvPr id="22" name="Text 16"/>
          <p:cNvSpPr/>
          <p:nvPr/>
        </p:nvSpPr>
        <p:spPr>
          <a:xfrm>
            <a:off x="9182100" y="6426994"/>
            <a:ext cx="2157984" cy="3383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kern="0" spc="-9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LIMITASI </a:t>
            </a:r>
            <a:r>
              <a:rPr lang="en-US" sz="900" b="1" i="1" kern="0" spc="-90" dirty="0">
                <a:solidFill>
                  <a:srgbClr val="9CA3A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TANGGUNG JAWAB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571500" y="381000"/>
            <a:ext cx="11049000" cy="9525"/>
          </a:xfrm>
          <a:prstGeom prst="rect">
            <a:avLst/>
          </a:prstGeom>
          <a:solidFill>
            <a:srgbClr val="666AF6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6076950" y="238125"/>
            <a:ext cx="38100" cy="38100"/>
          </a:xfrm>
          <a:prstGeom prst="roundRect">
            <a:avLst>
              <a:gd name="adj" fmla="val 960000"/>
            </a:avLst>
          </a:prstGeom>
          <a:solidFill>
            <a:srgbClr val="666A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4943475" y="352425"/>
            <a:ext cx="240487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4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HUKUM HAK CIPTA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4752975" y="616744"/>
            <a:ext cx="2770632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kern="0" spc="30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PERANGKAT LUNAK &amp; OPEN SOURCE</a:t>
            </a:r>
            <a:endParaRPr lang="en-US" sz="6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4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050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050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2000" y="1371600"/>
            <a:ext cx="4407408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i="1" kern="0" spc="37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// ASPEK TANGGUNG JAWAB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2000" y="1752600"/>
            <a:ext cx="4407408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GANTI RUGI 
</a:t>
            </a:r>
            <a:r>
              <a:rPr lang="en-US" sz="3600" b="1" dirty="0">
                <a:solidFill>
                  <a:srgbClr val="FFFFFF">
                    <a:alpha val="80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PENGGUNA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62000" y="3277791"/>
            <a:ext cx="4325112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Mekanisme hukum yang mengatur kompensasi finansial akibat kegagalan sistem atau bug dalam perangkat lunak komersial maupun terbuka.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62000" y="4383881"/>
            <a:ext cx="4286250" cy="590550"/>
          </a:xfrm>
          <a:prstGeom prst="roundRect">
            <a:avLst>
              <a:gd name="adj" fmla="val 12903"/>
            </a:avLst>
          </a:prstGeom>
          <a:solidFill>
            <a:srgbClr val="666AF6">
              <a:alpha val="10000"/>
            </a:srgbClr>
          </a:solidFill>
          <a:ln w="9525">
            <a:solidFill>
              <a:srgbClr val="666AF6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923032" y="4583906"/>
            <a:ext cx="1197864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KLAIM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886200" y="4545806"/>
            <a:ext cx="1069848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66AF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TERVALIDASI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62000" y="5126831"/>
            <a:ext cx="4286250" cy="590550"/>
          </a:xfrm>
          <a:prstGeom prst="roundRect">
            <a:avLst>
              <a:gd name="adj" fmla="val 12903"/>
            </a:avLst>
          </a:prstGeom>
          <a:solidFill>
            <a:srgbClr val="666AF6">
              <a:alpha val="10000"/>
            </a:srgbClr>
          </a:solidFill>
          <a:ln w="9525">
            <a:solidFill>
              <a:srgbClr val="666AF6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924892" y="5326856"/>
            <a:ext cx="139903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 HUKUM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191000" y="5288756"/>
            <a:ext cx="75895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PERDATA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657850" y="1544241"/>
            <a:ext cx="2771775" cy="1924050"/>
          </a:xfrm>
          <a:prstGeom prst="roundRect">
            <a:avLst>
              <a:gd name="adj" fmla="val 7921"/>
            </a:avLst>
          </a:prstGeom>
          <a:solidFill>
            <a:srgbClr val="666AF6">
              <a:alpha val="10000"/>
            </a:srgbClr>
          </a:solidFill>
          <a:ln w="9525">
            <a:solidFill>
              <a:srgbClr val="666AF6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972175" y="1744266"/>
            <a:ext cx="222199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 dirty="0">
                <a:solidFill>
                  <a:srgbClr val="666AF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MEKANISME FINANSIAL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972175" y="2010966"/>
            <a:ext cx="2240280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Pembuktian Kerugian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972175" y="2391966"/>
            <a:ext cx="2176272" cy="7680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Klaim didasarkan pada bukti nyata kerugian finansial yang dialami pengguna secara langsung akibat anomali sistem.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658225" y="1544241"/>
            <a:ext cx="2771775" cy="1924050"/>
          </a:xfrm>
          <a:prstGeom prst="roundRect">
            <a:avLst>
              <a:gd name="adj" fmla="val 792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666AF6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8972550" y="1744266"/>
            <a:ext cx="2221992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 dirty="0">
                <a:solidFill>
                  <a:srgbClr val="FFFFFF">
                    <a:alpha val="40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DELIK HUKUM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972550" y="2010966"/>
            <a:ext cx="2240280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Kelalaian Berat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972550" y="2391966"/>
            <a:ext cx="2176272" cy="7680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Distinksi krusial antara error teknis wajar dengan gross negligence yang menentukan tanggung jawab hukum pengembang.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657850" y="3696891"/>
            <a:ext cx="5772150" cy="1847850"/>
          </a:xfrm>
          <a:prstGeom prst="roundRect">
            <a:avLst>
              <a:gd name="adj" fmla="val 8247"/>
            </a:avLst>
          </a:prstGeom>
          <a:solidFill>
            <a:srgbClr val="666AF6">
              <a:alpha val="10000"/>
            </a:srgbClr>
          </a:solidFill>
          <a:ln w="9525">
            <a:solidFill>
              <a:srgbClr val="666AF6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972175" y="4011216"/>
            <a:ext cx="3538728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100" dirty="0">
                <a:solidFill>
                  <a:srgbClr val="666AF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INSTRUMEN KONTRAK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972175" y="4277916"/>
            <a:ext cx="354787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Service Level Agreement (SLA)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972175" y="4658916"/>
            <a:ext cx="3465576" cy="5760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Dokumen kunci sebagai pembatas tanggung jawab hukum dan penetapan standar layanan minimal yang harus dipenuhi oleh penyedia perangkat lunak.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824153" y="4820841"/>
            <a:ext cx="1316736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r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KEPATUHAN LAYANAN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9823963" y="5001816"/>
            <a:ext cx="1335024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b="1" kern="0" spc="-60" dirty="0">
                <a:solidFill>
                  <a:srgbClr val="D1D5D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● STANDAR OPERASIONAL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71500" y="381000"/>
            <a:ext cx="11049000" cy="9525"/>
          </a:xfrm>
          <a:prstGeom prst="rect">
            <a:avLst/>
          </a:prstGeom>
          <a:solidFill>
            <a:srgbClr val="666AF6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076950" y="238125"/>
            <a:ext cx="38100" cy="38100"/>
          </a:xfrm>
          <a:prstGeom prst="roundRect">
            <a:avLst>
              <a:gd name="adj" fmla="val 960000"/>
            </a:avLst>
          </a:prstGeom>
          <a:solidFill>
            <a:srgbClr val="666A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943475" y="352425"/>
            <a:ext cx="240487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4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HUKUM HAK CIPTA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4972050" y="616744"/>
            <a:ext cx="2322576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kern="0" spc="300" dirty="0">
                <a:solidFill>
                  <a:srgbClr val="666AF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PERANGKAT LUNAK &amp; OPEN SOURCE</a:t>
            </a:r>
            <a:endParaRPr lang="en-US" sz="6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927181"/>
          </a:xfrm>
          <a:prstGeom prst="rect">
            <a:avLst/>
          </a:prstGeom>
          <a:solidFill>
            <a:srgbClr val="04050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 b="120"/>
          <a:stretch/>
        </p:blipFill>
        <p:spPr>
          <a:xfrm>
            <a:off x="0" y="0"/>
            <a:ext cx="12192000" cy="792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524000"/>
            <a:ext cx="4762500" cy="2000250"/>
          </a:xfrm>
          <a:prstGeom prst="roundRect">
            <a:avLst>
              <a:gd name="adj" fmla="val 7619"/>
            </a:avLst>
          </a:prstGeom>
          <a:solidFill>
            <a:srgbClr val="1E1E40"/>
          </a:solidFill>
          <a:ln w="9525">
            <a:solidFill>
              <a:srgbClr val="666AF6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1" descr="image.png"/>
          <p:cNvPicPr>
            <a:picLocks noChangeAspect="1"/>
          </p:cNvPicPr>
          <p:nvPr/>
        </p:nvPicPr>
        <p:blipFill>
          <a:blip r:embed="rId4"/>
          <a:srcRect b="37349"/>
          <a:stretch/>
        </p:blipFill>
        <p:spPr>
          <a:xfrm>
            <a:off x="771525" y="1533525"/>
            <a:ext cx="4743450" cy="1981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000" y="3752850"/>
            <a:ext cx="4762500" cy="2000250"/>
          </a:xfrm>
          <a:prstGeom prst="roundRect">
            <a:avLst>
              <a:gd name="adj" fmla="val 7619"/>
            </a:avLst>
          </a:prstGeom>
          <a:solidFill>
            <a:srgbClr val="1E1E40"/>
          </a:solidFill>
          <a:ln w="9525">
            <a:solidFill>
              <a:srgbClr val="666AF6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2" descr="image.png"/>
          <p:cNvPicPr>
            <a:picLocks noChangeAspect="1"/>
          </p:cNvPicPr>
          <p:nvPr/>
        </p:nvPicPr>
        <p:blipFill>
          <a:blip r:embed="rId5"/>
          <a:srcRect b="16466"/>
          <a:stretch/>
        </p:blipFill>
        <p:spPr>
          <a:xfrm>
            <a:off x="771525" y="3762375"/>
            <a:ext cx="4743450" cy="1981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24600" y="1447800"/>
            <a:ext cx="5239512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i="1" kern="0" spc="37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HUKUM HAK CIPTA &amp; OSS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6324600" y="1714500"/>
            <a:ext cx="5221224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PRAKTIK AUDIT 
</a:t>
            </a:r>
            <a:r>
              <a:rPr lang="en-US" sz="3600" b="1" dirty="0">
                <a:solidFill>
                  <a:srgbClr val="FFFFFF">
                    <a:alpha val="60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LISENSI INTERNAL</a:t>
            </a:r>
            <a:endParaRPr lang="en-US" sz="3600" dirty="0"/>
          </a:p>
        </p:txBody>
      </p:sp>
      <p:sp>
        <p:nvSpPr>
          <p:cNvPr id="10" name="Text 5"/>
          <p:cNvSpPr/>
          <p:nvPr/>
        </p:nvSpPr>
        <p:spPr>
          <a:xfrm>
            <a:off x="6551786" y="3238500"/>
            <a:ext cx="203911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kern="0" spc="3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Urgensi Inventarisasi Aset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6362700" y="3581400"/>
            <a:ext cx="0" cy="650081"/>
          </a:xfrm>
          <a:prstGeom prst="line">
            <a:avLst/>
          </a:prstGeom>
          <a:noFill/>
          <a:ln w="9525">
            <a:solidFill>
              <a:srgbClr val="D1D5DF">
                <a:alpha val="10000"/>
              </a:srgbClr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600825" y="3582591"/>
            <a:ext cx="4864608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lisensi krusial untuk perlindungan hukum. Perusahaan wajib melakukan inventarisasi aset software secara berkala guna memastikan kepatuhan hak cipta yang akurat.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 rot="2700000">
            <a:off x="6324600" y="4631531"/>
            <a:ext cx="76200" cy="762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6552977" y="4536281"/>
            <a:ext cx="263347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kern="0" spc="3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Prosedur Pemeriksaan Kesesuaian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362700" y="4879181"/>
            <a:ext cx="0" cy="650081"/>
          </a:xfrm>
          <a:prstGeom prst="line">
            <a:avLst/>
          </a:prstGeom>
          <a:noFill/>
          <a:ln w="9525">
            <a:solidFill>
              <a:srgbClr val="D1D5DF">
                <a:alpha val="1000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600825" y="4880372"/>
            <a:ext cx="4864608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Melibatkan pemeriksaan mendalam antara jumlah instalasi aktif dengan sertifikat lisensi yang dibeli untuk menghindari risiko pelanggaran penggunaan perangkat lunak.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 rot="2700000">
            <a:off x="6324600" y="5929313"/>
            <a:ext cx="76200" cy="762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6553944" y="5834063"/>
            <a:ext cx="2240280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kern="0" spc="3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Implementasi Tools Otomatis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362700" y="6176963"/>
            <a:ext cx="0" cy="650081"/>
          </a:xfrm>
          <a:prstGeom prst="line">
            <a:avLst/>
          </a:prstGeom>
          <a:noFill/>
          <a:ln w="9525">
            <a:solidFill>
              <a:srgbClr val="D1D5DF">
                <a:alpha val="10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600825" y="6178153"/>
            <a:ext cx="4864608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Penggunaan perangkat otomatis sangat direkomendasikan untuk mendeteksi lisensi OSS dalam kode sumber guna memitigasi risiko hukum secara efisien.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324600" y="7284244"/>
            <a:ext cx="1432620" cy="642938"/>
          </a:xfrm>
          <a:prstGeom prst="roundRect">
            <a:avLst>
              <a:gd name="adj" fmla="val 11852"/>
            </a:avLst>
          </a:prstGeom>
          <a:solidFill>
            <a:srgbClr val="666AF6">
              <a:alpha val="10000"/>
            </a:srgbClr>
          </a:solidFill>
          <a:ln w="9525">
            <a:solidFill>
              <a:srgbClr val="666AF6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6526560" y="7405688"/>
            <a:ext cx="1078992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6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KEPATUHAN</a:t>
            </a:r>
            <a:endParaRPr lang="en-US" sz="675" dirty="0"/>
          </a:p>
        </p:txBody>
      </p:sp>
      <p:sp>
        <p:nvSpPr>
          <p:cNvPr id="23" name="Text 18"/>
          <p:cNvSpPr/>
          <p:nvPr/>
        </p:nvSpPr>
        <p:spPr>
          <a:xfrm>
            <a:off x="6526560" y="7536656"/>
            <a:ext cx="1106424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100% LEGAL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7909620" y="7284244"/>
            <a:ext cx="1285875" cy="642938"/>
          </a:xfrm>
          <a:prstGeom prst="roundRect">
            <a:avLst>
              <a:gd name="adj" fmla="val 11852"/>
            </a:avLst>
          </a:prstGeom>
          <a:solidFill>
            <a:srgbClr val="666AF6">
              <a:alpha val="10000"/>
            </a:srgbClr>
          </a:solidFill>
          <a:ln w="9525">
            <a:solidFill>
              <a:srgbClr val="666AF6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8109645" y="7405688"/>
            <a:ext cx="932688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6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TAHUN LAPORAN</a:t>
            </a:r>
            <a:endParaRPr lang="en-US" sz="675" dirty="0"/>
          </a:p>
        </p:txBody>
      </p:sp>
      <p:sp>
        <p:nvSpPr>
          <p:cNvPr id="26" name="Text 21"/>
          <p:cNvSpPr/>
          <p:nvPr/>
        </p:nvSpPr>
        <p:spPr>
          <a:xfrm>
            <a:off x="8109645" y="7536656"/>
            <a:ext cx="960120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66AF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2026 STATE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571500" y="381000"/>
            <a:ext cx="11049000" cy="9525"/>
          </a:xfrm>
          <a:prstGeom prst="rect">
            <a:avLst/>
          </a:prstGeom>
          <a:solidFill>
            <a:srgbClr val="666AF6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6076950" y="238125"/>
            <a:ext cx="38100" cy="38100"/>
          </a:xfrm>
          <a:prstGeom prst="roundRect">
            <a:avLst>
              <a:gd name="adj" fmla="val 960000"/>
            </a:avLst>
          </a:prstGeom>
          <a:solidFill>
            <a:srgbClr val="666A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4995863" y="352425"/>
            <a:ext cx="2295144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4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AUDIT HAK CIPTA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5072063" y="616744"/>
            <a:ext cx="2112264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kern="0" spc="30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DIVISI KEPATUHAN DIGITAL</a:t>
            </a:r>
            <a:endParaRPr lang="en-US" sz="675" dirty="0"/>
          </a:p>
        </p:txBody>
      </p:sp>
      <p:sp>
        <p:nvSpPr>
          <p:cNvPr id="31" name="Text 26"/>
          <p:cNvSpPr/>
          <p:nvPr/>
        </p:nvSpPr>
        <p:spPr>
          <a:xfrm>
            <a:off x="1000125" y="2933700"/>
            <a:ext cx="1051560" cy="14630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22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ASET DIGITAL</a:t>
            </a: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1000125" y="3095625"/>
            <a:ext cx="176479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MANAJEMEN INVENTARIS</a:t>
            </a:r>
            <a:endParaRPr lang="en-US" sz="1350" dirty="0"/>
          </a:p>
        </p:txBody>
      </p:sp>
      <p:sp>
        <p:nvSpPr>
          <p:cNvPr id="33" name="Text 28"/>
          <p:cNvSpPr/>
          <p:nvPr/>
        </p:nvSpPr>
        <p:spPr>
          <a:xfrm>
            <a:off x="1000125" y="5162550"/>
            <a:ext cx="1051560" cy="14630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22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OTOMATISASI</a:t>
            </a:r>
            <a:endParaRPr lang="en-US" sz="750" dirty="0"/>
          </a:p>
        </p:txBody>
      </p:sp>
      <p:sp>
        <p:nvSpPr>
          <p:cNvPr id="34" name="Text 29"/>
          <p:cNvSpPr/>
          <p:nvPr/>
        </p:nvSpPr>
        <p:spPr>
          <a:xfrm>
            <a:off x="1000125" y="5324475"/>
            <a:ext cx="1527048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DETEKSI LISENSI OSS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58250" y="0"/>
            <a:ext cx="3333750" cy="3333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1219200"/>
            <a:ext cx="12307824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kern="0" spc="-9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LANGKAH MITIGASI
</a:t>
            </a:r>
            <a:r>
              <a:rPr lang="en-US" sz="3600" b="1" kern="0" spc="-90" dirty="0">
                <a:solidFill>
                  <a:srgbClr val="666AF6">
                    <a:alpha val="80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PELANGGARAN LISENSI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914400" y="2743200"/>
            <a:ext cx="3301901" cy="1571625"/>
          </a:xfrm>
          <a:prstGeom prst="rect">
            <a:avLst/>
          </a:prstGeom>
          <a:solidFill>
            <a:srgbClr val="080A15">
              <a:alpha val="70000"/>
            </a:srgbClr>
          </a:solidFill>
          <a:ln w="9525">
            <a:solidFill>
              <a:srgbClr val="666AF6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1150888" y="3243263"/>
            <a:ext cx="2871216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706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Penyusunan kebijakan penggunaan software perusahaan (IT Policy) yang ketat guna meminimalkan risiko hukum operasional.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444901" y="2743200"/>
            <a:ext cx="3302050" cy="1571625"/>
          </a:xfrm>
          <a:prstGeom prst="rect">
            <a:avLst/>
          </a:prstGeom>
          <a:solidFill>
            <a:srgbClr val="080A15">
              <a:alpha val="70000"/>
            </a:srgbClr>
          </a:solidFill>
          <a:ln w="9525">
            <a:solidFill>
              <a:srgbClr val="666AF6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4681463" y="3133725"/>
            <a:ext cx="2871216" cy="8686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706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Melakukan edukasi rutin bagi seluruh karyawan mengenai bahaya penggunaan software ilegal dan dampaknya bagi perusahaan.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975550" y="2743200"/>
            <a:ext cx="3302050" cy="1571625"/>
          </a:xfrm>
          <a:prstGeom prst="rect">
            <a:avLst/>
          </a:prstGeom>
          <a:solidFill>
            <a:srgbClr val="080A15">
              <a:alpha val="70000"/>
            </a:srgbClr>
          </a:solidFill>
          <a:ln w="9525">
            <a:solidFill>
              <a:srgbClr val="666AF6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8212113" y="3243263"/>
            <a:ext cx="2871216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706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Penyimpanan bukti pembelian dan sertifikat lisensi secara sistematis untuk memudahkan proses audit dan kepatuhan hak cipta.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71500" y="381000"/>
            <a:ext cx="11049000" cy="9525"/>
          </a:xfrm>
          <a:prstGeom prst="rect">
            <a:avLst/>
          </a:prstGeom>
          <a:solidFill>
            <a:srgbClr val="666AF6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6076950" y="238125"/>
            <a:ext cx="38100" cy="38100"/>
          </a:xfrm>
          <a:prstGeom prst="roundRect">
            <a:avLst>
              <a:gd name="adj" fmla="val 960000"/>
            </a:avLst>
          </a:prstGeom>
          <a:solidFill>
            <a:srgbClr val="666A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429250" y="352425"/>
            <a:ext cx="1417320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4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HAK CIPTA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914900" y="616744"/>
            <a:ext cx="2432304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30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KEPATUHAN PERANGKAT LUNAK</a:t>
            </a:r>
            <a:endParaRPr lang="en-US" sz="675" dirty="0"/>
          </a:p>
        </p:txBody>
      </p:sp>
      <p:sp>
        <p:nvSpPr>
          <p:cNvPr id="15" name="Text 11"/>
          <p:cNvSpPr/>
          <p:nvPr/>
        </p:nvSpPr>
        <p:spPr>
          <a:xfrm>
            <a:off x="1244650" y="2590800"/>
            <a:ext cx="2641402" cy="361950"/>
          </a:xfrm>
          <a:prstGeom prst="rect">
            <a:avLst/>
          </a:prstGeom>
          <a:solidFill>
            <a:srgbClr val="1E1E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1244650" y="2943225"/>
            <a:ext cx="2641402" cy="0"/>
          </a:xfrm>
          <a:prstGeom prst="line">
            <a:avLst/>
          </a:prstGeom>
          <a:noFill/>
          <a:ln w="19050">
            <a:solidFill>
              <a:srgbClr val="666AF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219420" y="2667000"/>
            <a:ext cx="273405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KEBIJAKAN IT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775150" y="2590800"/>
            <a:ext cx="2641550" cy="361950"/>
          </a:xfrm>
          <a:prstGeom prst="rect">
            <a:avLst/>
          </a:prstGeom>
          <a:solidFill>
            <a:srgbClr val="1E1E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5"/>
          <p:cNvSpPr/>
          <p:nvPr/>
        </p:nvSpPr>
        <p:spPr>
          <a:xfrm>
            <a:off x="4775150" y="2943225"/>
            <a:ext cx="2641550" cy="0"/>
          </a:xfrm>
          <a:prstGeom prst="line">
            <a:avLst/>
          </a:prstGeom>
          <a:noFill/>
          <a:ln w="19050">
            <a:solidFill>
              <a:srgbClr val="666AF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749995" y="2667000"/>
            <a:ext cx="273405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EDUKASI KARYAWAN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8305800" y="2590800"/>
            <a:ext cx="2641550" cy="361950"/>
          </a:xfrm>
          <a:prstGeom prst="rect">
            <a:avLst/>
          </a:prstGeom>
          <a:solidFill>
            <a:srgbClr val="1E1E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18"/>
          <p:cNvSpPr/>
          <p:nvPr/>
        </p:nvSpPr>
        <p:spPr>
          <a:xfrm>
            <a:off x="8305800" y="2943225"/>
            <a:ext cx="2641550" cy="0"/>
          </a:xfrm>
          <a:prstGeom prst="line">
            <a:avLst/>
          </a:prstGeom>
          <a:noFill/>
          <a:ln w="19050">
            <a:solidFill>
              <a:srgbClr val="666AF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280645" y="2667000"/>
            <a:ext cx="273405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AUDIT LISENSI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050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3563" y="1371600"/>
            <a:ext cx="4242816" cy="18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kern="0" spc="30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RINGKASAN AKHIR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3563" y="1600200"/>
            <a:ext cx="4270248" cy="14356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5625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HUKUM 
</a:t>
            </a:r>
            <a:r>
              <a:rPr lang="en-US" sz="3600" b="1" dirty="0">
                <a:solidFill>
                  <a:srgbClr val="FFFFFF">
                    <a:alpha val="80000"/>
                  </a:srgbClr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BISNIS</a:t>
            </a:r>
            <a:endParaRPr lang="en-US" sz="4500" dirty="0"/>
          </a:p>
        </p:txBody>
      </p:sp>
      <p:pic>
        <p:nvPicPr>
          <p:cNvPr id="6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1525" y="3343275"/>
            <a:ext cx="4105275" cy="22669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51450" y="2728913"/>
            <a:ext cx="5778550" cy="0"/>
          </a:xfrm>
          <a:prstGeom prst="line">
            <a:avLst/>
          </a:prstGeom>
          <a:noFill/>
          <a:ln w="9525">
            <a:solidFill>
              <a:srgbClr val="666AF6">
                <a:alpha val="1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877744" y="1719263"/>
            <a:ext cx="292608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-60" dirty="0">
                <a:solidFill>
                  <a:srgbClr val="666AF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 //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275487" y="1681163"/>
            <a:ext cx="2075688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3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Fondasi Bisnis Teknologi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878488" y="2059781"/>
            <a:ext cx="5358384" cy="438912"/>
          </a:xfrm>
          <a:prstGeom prst="rect">
            <a:avLst/>
          </a:prstGeom>
          <a:noFill/>
          <a:ln/>
        </p:spPr>
        <p:txBody>
          <a:bodyPr vert="horz" wrap="square" lIns="38100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Kepatuhan hukum merupakan fondasi utama bagi keberlanjutan bisnis di sektor teknologi untuk menjamin keamanan operasional jangka panjang.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651450" y="4238625"/>
            <a:ext cx="5778550" cy="0"/>
          </a:xfrm>
          <a:prstGeom prst="line">
            <a:avLst/>
          </a:prstGeom>
          <a:noFill/>
          <a:ln w="9525">
            <a:solidFill>
              <a:srgbClr val="666AF6">
                <a:alpha val="1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877744" y="3228975"/>
            <a:ext cx="31089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-60" dirty="0">
                <a:solidFill>
                  <a:srgbClr val="666AF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 //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292155" y="3190875"/>
            <a:ext cx="2395728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3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Manajemen Lisensi Strategis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878488" y="3569494"/>
            <a:ext cx="5358384" cy="438912"/>
          </a:xfrm>
          <a:prstGeom prst="rect">
            <a:avLst/>
          </a:prstGeom>
          <a:noFill/>
          <a:ln/>
        </p:spPr>
        <p:txBody>
          <a:bodyPr vert="horz" wrap="square" lIns="38100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Penerapan strategi lisensi yang tepat sangat krusial guna melindungi hak kekayaan intelektual bagi pengembang maupun entitas perusahaan.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880050" y="4624388"/>
            <a:ext cx="0" cy="371475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049938" y="4624388"/>
            <a:ext cx="5413248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00" i="1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Integrasi aspek hukum dalam siklus pengembangan perangkat lunak (SDLC) wajib diterapkan secara menyeluruh.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880050" y="5310188"/>
            <a:ext cx="996696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1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FOKUS UTAMA: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7061150" y="5224463"/>
            <a:ext cx="828675" cy="314325"/>
          </a:xfrm>
          <a:prstGeom prst="roundRect">
            <a:avLst>
              <a:gd name="adj" fmla="val 100000"/>
            </a:avLst>
          </a:prstGeom>
          <a:solidFill>
            <a:srgbClr val="666AF6"/>
          </a:solidFill>
          <a:ln w="9525">
            <a:solidFill>
              <a:srgbClr val="666A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7061150" y="5224463"/>
            <a:ext cx="859536" cy="320040"/>
          </a:xfrm>
          <a:prstGeom prst="rect">
            <a:avLst/>
          </a:prstGeom>
          <a:noFill/>
          <a:ln/>
        </p:spPr>
        <p:txBody>
          <a:bodyPr vert="horz" wrap="square" lIns="228600" tIns="76200" rIns="228600" bIns="7620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LISENSI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8004125" y="5224463"/>
            <a:ext cx="1000125" cy="314325"/>
          </a:xfrm>
          <a:prstGeom prst="roundRect">
            <a:avLst>
              <a:gd name="adj" fmla="val 100000"/>
            </a:avLst>
          </a:prstGeom>
          <a:solidFill>
            <a:srgbClr val="666AF6">
              <a:alpha val="10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8004125" y="5224463"/>
            <a:ext cx="1024128" cy="320040"/>
          </a:xfrm>
          <a:prstGeom prst="rect">
            <a:avLst/>
          </a:prstGeom>
          <a:noFill/>
          <a:ln/>
        </p:spPr>
        <p:txBody>
          <a:bodyPr vert="horz" wrap="square" lIns="228600" tIns="76200" rIns="228600" bIns="7620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0" dirty="0">
                <a:solidFill>
                  <a:srgbClr val="9CA3A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HAK CIPTA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9118550" y="5224463"/>
            <a:ext cx="714375" cy="314325"/>
          </a:xfrm>
          <a:prstGeom prst="roundRect">
            <a:avLst>
              <a:gd name="adj" fmla="val 100000"/>
            </a:avLst>
          </a:prstGeom>
          <a:solidFill>
            <a:srgbClr val="666AF6">
              <a:alpha val="10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9118550" y="5224463"/>
            <a:ext cx="740664" cy="320040"/>
          </a:xfrm>
          <a:prstGeom prst="rect">
            <a:avLst/>
          </a:prstGeom>
          <a:noFill/>
          <a:ln/>
        </p:spPr>
        <p:txBody>
          <a:bodyPr vert="horz" wrap="square" lIns="228600" tIns="76200" rIns="228600" bIns="7620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0" dirty="0">
                <a:solidFill>
                  <a:srgbClr val="9CA3A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SDLC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571500" y="381000"/>
            <a:ext cx="11049000" cy="9525"/>
          </a:xfrm>
          <a:prstGeom prst="rect">
            <a:avLst/>
          </a:prstGeom>
          <a:solidFill>
            <a:srgbClr val="666AF6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6076950" y="238125"/>
            <a:ext cx="38100" cy="38100"/>
          </a:xfrm>
          <a:prstGeom prst="roundRect">
            <a:avLst>
              <a:gd name="adj" fmla="val 960000"/>
            </a:avLst>
          </a:prstGeom>
          <a:solidFill>
            <a:srgbClr val="666A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5434013" y="352425"/>
            <a:ext cx="139903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45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LEGALITAS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5253038" y="616744"/>
            <a:ext cx="1746504" cy="1645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kern="0" spc="300" dirty="0">
                <a:solidFill>
                  <a:srgbClr val="666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INOVASI &amp; KEPATUHAN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1610</Words>
  <Application>Microsoft Office PowerPoint</Application>
  <PresentationFormat>Widescreen</PresentationFormat>
  <Paragraphs>315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Monaco</vt:lpstr>
      <vt:lpstr>Arial</vt:lpstr>
      <vt:lpstr>Oswald</vt:lpstr>
      <vt:lpstr>MiSans Normal</vt:lpstr>
      <vt:lpstr>Inter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百度文库 v1.0.0</dc:creator>
  <cp:lastModifiedBy>intan .</cp:lastModifiedBy>
  <cp:revision>2</cp:revision>
  <dcterms:created xsi:type="dcterms:W3CDTF">2026-09-25T07:41:07Z</dcterms:created>
  <dcterms:modified xsi:type="dcterms:W3CDTF">2026-09-25T08:03:45Z</dcterms:modified>
</cp:coreProperties>
</file>