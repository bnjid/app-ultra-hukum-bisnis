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MiSans Normal" panose="020B0604020202020204" charset="-122"/>
      <p:regular r:id="rId19"/>
    </p:embeddedFont>
    <p:embeddedFont>
      <p:font typeface="Bebas Neue" panose="020B0606020202050201" pitchFamily="34" charset="0"/>
      <p:regular r:id="rId20"/>
    </p:embeddedFont>
    <p:embeddedFont>
      <p:font typeface="Berlin Sans FB" panose="020E0602020502020306" pitchFamily="34" charset="0"/>
      <p:regular r:id="rId21"/>
      <p:bold r:id="rId22"/>
    </p:embeddedFont>
    <p:embeddedFont>
      <p:font typeface="Poppins" panose="00000500000000000000" pitchFamily="2"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7650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C2B744-1F5D-C043-301E-FDD5B511294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55DFE12-9F2D-5C02-CB4E-F751FE8F5D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5EBCF58-121B-07D5-A815-26D8F07A51B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1A86961-DCD7-4645-629C-CA20538B316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86BD3A4-947F-334B-D97A-4F9F3DD187F3}"/>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28552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D0380-950D-0EB3-F821-03F4508FB8A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5035F00-FD85-51C4-43B5-7F049F5901B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1B2DB4-D29F-9C6A-5999-72150C15B99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AB74DC32-465E-F753-963C-7B7C968501D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EBFEF8-E4F3-D916-581F-219CD84106A6}"/>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55085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9207A4-E570-9A26-41C4-3ABA7F38592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C78DFE1-769D-C827-9998-F44CEA38FC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E1AAB41-3DDB-1920-EDE7-45768C2B8875}"/>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2EB322CD-8F7B-88BA-A2A3-A3A458215D4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033F1C7-D3F0-2A37-B94E-239E844774E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4174634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A0752-9F6C-2508-AE2B-3F7A7EF3637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D9CC9D8-3C56-F907-B56A-E5B8589E5D7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0C444C7-103E-FD3F-090E-FDB5759D2C4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217FCF-2142-E0CA-6C18-6C95D4342F43}"/>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664D8E9F-253E-1D82-97A9-15CA654745C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D77128A-737C-CA38-3862-20CEA44F66EB}"/>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3329208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56D1A-FB16-5E31-A106-DCF02DAC97B9}"/>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AB02E7C-260D-60C5-FCCA-DFC01F142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2BAA659-ACC6-6F45-429A-9678890E78F8}"/>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213D315E-F577-54BA-0BC7-11B2F9E497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3699DE7-3CB8-893F-47F6-D80F369F8B61}"/>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DB0DFB00-0D40-DE77-E458-EEAD8647A13E}"/>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8" name="页脚占位符 7">
            <a:extLst>
              <a:ext uri="{FF2B5EF4-FFF2-40B4-BE49-F238E27FC236}">
                <a16:creationId xmlns:a16="http://schemas.microsoft.com/office/drawing/2014/main" id="{BE3B62EA-C11C-ED4C-E412-13015E94D64B}"/>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0B67572-C038-B8EE-3F4A-66F2EB5BC8D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907959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ACFB3-6E7C-10C3-4227-DCC235908A1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DEFDC94-EB77-1206-3206-1B33F78EA5BB}"/>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4" name="页脚占位符 3">
            <a:extLst>
              <a:ext uri="{FF2B5EF4-FFF2-40B4-BE49-F238E27FC236}">
                <a16:creationId xmlns:a16="http://schemas.microsoft.com/office/drawing/2014/main" id="{7AFB27BA-C6C4-956D-BB12-8D4F16B5CFFE}"/>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DD0AACD-7B23-7A5E-6C34-7DCB44F64192}"/>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6249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546190-2158-46F8-6A32-12FE189EC47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3" name="页脚占位符 2">
            <a:extLst>
              <a:ext uri="{FF2B5EF4-FFF2-40B4-BE49-F238E27FC236}">
                <a16:creationId xmlns:a16="http://schemas.microsoft.com/office/drawing/2014/main" id="{AD3512C2-3838-72C2-51DD-8E9040126F7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6007A5F-B186-54C0-5D19-2284F293A9DE}"/>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91775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B735BD-C3BB-8927-3AF4-94F9438CBE5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2616762-3893-E59B-CB9B-C02C1AA3B6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270AA56D-7451-C3C5-6D51-B2650A454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28E855-990E-30E6-3512-97221C46C6FF}"/>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E47DA99E-7FBF-A00D-442B-2D8D7E78938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51B805B-BFA9-DDA6-CEEA-6ADEA1A0E43F}"/>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8691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BD84F-84C9-AF27-1A59-8346212BD96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BB0A76F-B479-8050-2AD7-B9A011F11B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E0EFA31-6C28-3C82-9363-FE2CAD862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E00E6CE-098C-0ED3-86A0-E120929DDF69}"/>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6" name="页脚占位符 5">
            <a:extLst>
              <a:ext uri="{FF2B5EF4-FFF2-40B4-BE49-F238E27FC236}">
                <a16:creationId xmlns:a16="http://schemas.microsoft.com/office/drawing/2014/main" id="{D50CC86E-6091-D81E-FA00-BF21FA580A9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DE2F81-7731-1152-9792-87A036E1A7E4}"/>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808534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11DD4-0674-E844-9E12-5F2805D4717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0F851AA-3284-5ED7-C023-2D29A3898974}"/>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1C3777-D1E7-BA80-B662-AF007330B33D}"/>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B0D95CC9-AF53-F0AA-FD40-F3E2CCEC5F3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BD1B16D-B121-595D-C223-CB5F9D1248FA}"/>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033416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10C1838-1DC8-7579-5F22-B30187479BF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D670889-BEC7-D29F-E1AC-BF218674A2B1}"/>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115CB33-44D0-A76C-3FF3-EEA9A801CFD1}"/>
              </a:ext>
            </a:extLst>
          </p:cNvPr>
          <p:cNvSpPr>
            <a:spLocks noGrp="1"/>
          </p:cNvSpPr>
          <p:nvPr>
            <p:ph type="dt" sz="half" idx="10"/>
          </p:nvPr>
        </p:nvSpPr>
        <p:spPr/>
        <p:txBody>
          <a:body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3578635D-6139-9A84-B3F9-9BCA803552D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941DB96-ECF2-C664-F90E-E7B4E08A6745}"/>
              </a:ext>
            </a:extLst>
          </p:cNvPr>
          <p:cNvSpPr>
            <a:spLocks noGrp="1"/>
          </p:cNvSpPr>
          <p:nvPr>
            <p:ph type="sldNum" sz="quarter" idx="12"/>
          </p:nvPr>
        </p:nvSpPr>
        <p:spPr/>
        <p:txBody>
          <a:body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205339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C56813-2AEB-CC25-B5BE-39156AC4A5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5FFF8B-ED7D-4F9C-5CD8-CC3E43D1D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31D59E3-C823-D4DA-54BF-4D8DB9BF0F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EDBEE3-4AC2-F046-910D-39992CB67F1C}" type="datetimeFigureOut">
              <a:rPr kumimoji="1" lang="zh-CN" altLang="en-US" smtClean="0"/>
              <a:t>2026/9/25</a:t>
            </a:fld>
            <a:endParaRPr kumimoji="1" lang="zh-CN" altLang="en-US"/>
          </a:p>
        </p:txBody>
      </p:sp>
      <p:sp>
        <p:nvSpPr>
          <p:cNvPr id="5" name="页脚占位符 4">
            <a:extLst>
              <a:ext uri="{FF2B5EF4-FFF2-40B4-BE49-F238E27FC236}">
                <a16:creationId xmlns:a16="http://schemas.microsoft.com/office/drawing/2014/main" id="{9AC1EF5F-1486-06C8-051E-7B825CAD5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5B6A3C8D-E9F0-A63A-F26B-7851D262D8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20602D-AD6A-214B-ACCA-D81B2D28FAA5}" type="slidenum">
              <a:rPr kumimoji="1" lang="zh-CN" altLang="en-US" smtClean="0"/>
              <a:t>‹#›</a:t>
            </a:fld>
            <a:endParaRPr kumimoji="1" lang="zh-CN" altLang="en-US"/>
          </a:p>
        </p:txBody>
      </p:sp>
    </p:spTree>
    <p:extLst>
      <p:ext uri="{BB962C8B-B14F-4D97-AF65-F5344CB8AC3E}">
        <p14:creationId xmlns:p14="http://schemas.microsoft.com/office/powerpoint/2010/main" val="1313459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21.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6.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2.pn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6.jpg"/><Relationship Id="rId5" Type="http://schemas.openxmlformats.org/officeDocument/2006/relationships/image" Target="../media/image4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0.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9.jpg"/><Relationship Id="rId5" Type="http://schemas.openxmlformats.org/officeDocument/2006/relationships/image" Target="../media/image48.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80808"/>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srcRect/>
          <a:stretch/>
        </p:blipFill>
        <p:spPr>
          <a:xfrm>
            <a:off x="0" y="0"/>
            <a:ext cx="12192000" cy="6858000"/>
          </a:xfrm>
          <a:prstGeom prst="rect">
            <a:avLst/>
          </a:prstGeom>
        </p:spPr>
      </p:pic>
      <p:pic>
        <p:nvPicPr>
          <p:cNvPr id="4" name="Image 1" descr="image.png"/>
          <p:cNvPicPr>
            <a:picLocks noChangeAspect="1"/>
          </p:cNvPicPr>
          <p:nvPr/>
        </p:nvPicPr>
        <p:blipFill>
          <a:blip r:embed="rId4"/>
          <a:srcRect/>
          <a:stretch/>
        </p:blipFill>
        <p:spPr>
          <a:xfrm>
            <a:off x="0" y="0"/>
            <a:ext cx="12192000" cy="19050"/>
          </a:xfrm>
          <a:prstGeom prst="rect">
            <a:avLst/>
          </a:prstGeom>
        </p:spPr>
      </p:pic>
      <p:sp>
        <p:nvSpPr>
          <p:cNvPr id="5" name="Text 1"/>
          <p:cNvSpPr/>
          <p:nvPr/>
        </p:nvSpPr>
        <p:spPr>
          <a:xfrm>
            <a:off x="3121200" y="2237090"/>
            <a:ext cx="6464808" cy="182880"/>
          </a:xfrm>
          <a:prstGeom prst="rect">
            <a:avLst/>
          </a:prstGeom>
          <a:noFill/>
          <a:ln/>
        </p:spPr>
        <p:txBody>
          <a:bodyPr vert="horz" wrap="none" lIns="0" tIns="0" rIns="0" bIns="0" rtlCol="0" anchor="t">
            <a:noAutofit/>
          </a:bodyPr>
          <a:lstStyle/>
          <a:p>
            <a:pPr marL="0" indent="0" algn="ctr">
              <a:lnSpc>
                <a:spcPts val="1200"/>
              </a:lnSpc>
              <a:buNone/>
            </a:pPr>
            <a:r>
              <a:rPr lang="en-US" sz="2400" b="1" kern="0" spc="450" dirty="0">
                <a:solidFill>
                  <a:srgbClr val="6A44F2"/>
                </a:solidFill>
                <a:latin typeface="Poppins" pitchFamily="34" charset="0"/>
                <a:ea typeface="Poppins" pitchFamily="34" charset="-122"/>
                <a:cs typeface="Poppins" pitchFamily="34" charset="-120"/>
              </a:rPr>
              <a:t>MODUL PEMBELAJARAN KOMPREHENSIF</a:t>
            </a:r>
            <a:endParaRPr lang="en-US" sz="2400" dirty="0"/>
          </a:p>
        </p:txBody>
      </p:sp>
      <p:sp>
        <p:nvSpPr>
          <p:cNvPr id="6" name="Text 2"/>
          <p:cNvSpPr/>
          <p:nvPr/>
        </p:nvSpPr>
        <p:spPr>
          <a:xfrm>
            <a:off x="3121200" y="2703686"/>
            <a:ext cx="6784800" cy="807288"/>
          </a:xfrm>
          <a:prstGeom prst="rect">
            <a:avLst/>
          </a:prstGeom>
          <a:noFill/>
          <a:ln/>
        </p:spPr>
        <p:txBody>
          <a:bodyPr vert="horz" wrap="none" lIns="0" tIns="0" rIns="0" bIns="0" rtlCol="0" anchor="t">
            <a:normAutofit/>
          </a:bodyPr>
          <a:lstStyle/>
          <a:p>
            <a:pPr marL="0" indent="0" algn="ctr">
              <a:lnSpc>
                <a:spcPts val="4972"/>
              </a:lnSpc>
              <a:buNone/>
            </a:pPr>
            <a:r>
              <a:rPr lang="en-US" sz="6000" b="1" kern="0" spc="-300" dirty="0">
                <a:solidFill>
                  <a:schemeClr val="accent1">
                    <a:lumMod val="20000"/>
                    <a:lumOff val="80000"/>
                  </a:schemeClr>
                </a:solidFill>
                <a:latin typeface="Bebas Neue" pitchFamily="34" charset="0"/>
                <a:ea typeface="Bebas Neue" pitchFamily="34" charset="-122"/>
                <a:cs typeface="Bebas Neue" pitchFamily="34" charset="-120"/>
              </a:rPr>
              <a:t>PENGANTAR HUKUM KEKAYAAN</a:t>
            </a:r>
            <a:endParaRPr lang="en-US" sz="6000" dirty="0">
              <a:solidFill>
                <a:schemeClr val="accent1">
                  <a:lumMod val="20000"/>
                  <a:lumOff val="80000"/>
                </a:schemeClr>
              </a:solidFill>
            </a:endParaRPr>
          </a:p>
        </p:txBody>
      </p:sp>
      <p:sp>
        <p:nvSpPr>
          <p:cNvPr id="7" name="Text 3"/>
          <p:cNvSpPr/>
          <p:nvPr/>
        </p:nvSpPr>
        <p:spPr>
          <a:xfrm>
            <a:off x="3198924" y="3487564"/>
            <a:ext cx="5980176" cy="694944"/>
          </a:xfrm>
          <a:prstGeom prst="rect">
            <a:avLst/>
          </a:prstGeom>
          <a:noFill/>
          <a:ln/>
        </p:spPr>
        <p:txBody>
          <a:bodyPr vert="horz" wrap="none" lIns="0" tIns="0" rIns="0" bIns="0" rtlCol="0" anchor="t">
            <a:normAutofit/>
          </a:bodyPr>
          <a:lstStyle/>
          <a:p>
            <a:pPr marL="0" indent="0" algn="ctr">
              <a:lnSpc>
                <a:spcPts val="4972"/>
              </a:lnSpc>
              <a:buNone/>
            </a:pPr>
            <a:r>
              <a:rPr lang="en-US" sz="5850" b="1" kern="0" spc="-300" dirty="0">
                <a:ln w="12700">
                  <a:solidFill>
                    <a:srgbClr val="FFFFFF">
                      <a:alpha val="0"/>
                    </a:srgbClr>
                  </a:solidFill>
                </a:ln>
                <a:noFill/>
                <a:latin typeface="Bebas Neue" pitchFamily="34" charset="0"/>
                <a:ea typeface="Bebas Neue" pitchFamily="34" charset="-122"/>
                <a:cs typeface="Bebas Neue" pitchFamily="34" charset="-120"/>
              </a:rPr>
              <a:t>INTELEKTUAL &amp; BISNIS DIGITAL</a:t>
            </a:r>
            <a:endParaRPr lang="en-US" sz="5850" dirty="0"/>
          </a:p>
        </p:txBody>
      </p:sp>
      <p:sp>
        <p:nvSpPr>
          <p:cNvPr id="8" name="Text 4"/>
          <p:cNvSpPr/>
          <p:nvPr/>
        </p:nvSpPr>
        <p:spPr>
          <a:xfrm>
            <a:off x="3097411" y="4665315"/>
            <a:ext cx="457200" cy="9525"/>
          </a:xfrm>
          <a:prstGeom prst="rect">
            <a:avLst/>
          </a:prstGeom>
          <a:solidFill>
            <a:srgbClr val="6A44F2"/>
          </a:solidFill>
          <a:ln/>
        </p:spPr>
        <p:txBody>
          <a:bodyPr wrap="square" rtlCol="0" anchor="ctr"/>
          <a:lstStyle/>
          <a:p>
            <a:pPr marL="0" indent="0">
              <a:buNone/>
            </a:pPr>
            <a:endParaRPr lang="en-US" dirty="0"/>
          </a:p>
        </p:txBody>
      </p:sp>
      <p:sp>
        <p:nvSpPr>
          <p:cNvPr id="9" name="Text 5"/>
          <p:cNvSpPr/>
          <p:nvPr/>
        </p:nvSpPr>
        <p:spPr>
          <a:xfrm>
            <a:off x="3092458" y="4665315"/>
            <a:ext cx="512064" cy="45720"/>
          </a:xfrm>
          <a:prstGeom prst="rect">
            <a:avLst/>
          </a:prstGeom>
          <a:noFill/>
          <a:ln/>
        </p:spPr>
        <p:txBody>
          <a:bodyPr vert="horz" wrap="none" lIns="0" tIns="0" rIns="0" bIns="0" rtlCol="0" anchor="t">
            <a:normAutofit/>
          </a:bodyPr>
          <a:lstStyle/>
          <a:p>
            <a:pPr marL="0" indent="0" algn="ctr">
              <a:lnSpc>
                <a:spcPts val="1800"/>
              </a:lnSpc>
              <a:buNone/>
            </a:pPr>
            <a:endParaRPr lang="en-US" sz="1200" dirty="0"/>
          </a:p>
        </p:txBody>
      </p:sp>
      <p:sp>
        <p:nvSpPr>
          <p:cNvPr id="10" name="Text 6"/>
          <p:cNvSpPr/>
          <p:nvPr/>
        </p:nvSpPr>
        <p:spPr>
          <a:xfrm>
            <a:off x="3691182" y="4574828"/>
            <a:ext cx="1819656" cy="219456"/>
          </a:xfrm>
          <a:prstGeom prst="rect">
            <a:avLst/>
          </a:prstGeom>
          <a:noFill/>
          <a:ln/>
        </p:spPr>
        <p:txBody>
          <a:bodyPr vert="horz" wrap="none" lIns="0" tIns="0" rIns="0" bIns="0" rtlCol="0" anchor="t">
            <a:normAutofit/>
          </a:bodyPr>
          <a:lstStyle/>
          <a:p>
            <a:pPr marL="0" indent="0" algn="ctr">
              <a:lnSpc>
                <a:spcPts val="1500"/>
              </a:lnSpc>
              <a:buNone/>
            </a:pPr>
            <a:r>
              <a:rPr lang="en-US" sz="1050" kern="0" spc="200" dirty="0">
                <a:solidFill>
                  <a:srgbClr val="B0B0B0"/>
                </a:solidFill>
                <a:latin typeface="Poppins" pitchFamily="34" charset="0"/>
                <a:ea typeface="Poppins" pitchFamily="34" charset="-122"/>
                <a:cs typeface="Poppins" pitchFamily="34" charset="-120"/>
              </a:rPr>
              <a:t>REGULASI &amp; INOVASI</a:t>
            </a:r>
            <a:endParaRPr lang="en-US" sz="1050" dirty="0"/>
          </a:p>
        </p:txBody>
      </p:sp>
      <p:sp>
        <p:nvSpPr>
          <p:cNvPr id="11" name="Text 7"/>
          <p:cNvSpPr/>
          <p:nvPr/>
        </p:nvSpPr>
        <p:spPr>
          <a:xfrm>
            <a:off x="5441204" y="4574828"/>
            <a:ext cx="1216152" cy="219456"/>
          </a:xfrm>
          <a:prstGeom prst="rect">
            <a:avLst/>
          </a:prstGeom>
          <a:noFill/>
          <a:ln/>
        </p:spPr>
        <p:txBody>
          <a:bodyPr vert="horz" wrap="none" lIns="0" tIns="0" rIns="0" bIns="0" rtlCol="0" anchor="t">
            <a:normAutofit/>
          </a:bodyPr>
          <a:lstStyle/>
          <a:p>
            <a:pPr marL="0" indent="0" algn="ctr">
              <a:lnSpc>
                <a:spcPts val="1500"/>
              </a:lnSpc>
              <a:buNone/>
            </a:pPr>
            <a:r>
              <a:rPr lang="en-US" sz="1050" kern="0" spc="100" dirty="0">
                <a:solidFill>
                  <a:srgbClr val="B0B0B0"/>
                </a:solidFill>
                <a:latin typeface="Poppins" pitchFamily="34" charset="0"/>
                <a:ea typeface="Poppins" pitchFamily="34" charset="-122"/>
                <a:cs typeface="Poppins" pitchFamily="34" charset="-120"/>
              </a:rPr>
              <a:t>Materi </a:t>
            </a:r>
            <a:r>
              <a:rPr lang="en-US" sz="1050" kern="0" spc="100" dirty="0">
                <a:solidFill>
                  <a:srgbClr val="FFFFFF"/>
                </a:solidFill>
                <a:latin typeface="Poppins" pitchFamily="34" charset="0"/>
                <a:ea typeface="Poppins" pitchFamily="34" charset="-122"/>
                <a:cs typeface="Poppins" pitchFamily="34" charset="-120"/>
              </a:rPr>
              <a:t>Utama</a:t>
            </a:r>
            <a:endParaRPr lang="en-US" sz="1050" dirty="0"/>
          </a:p>
        </p:txBody>
      </p:sp>
      <p:sp>
        <p:nvSpPr>
          <p:cNvPr id="12" name="Text 8"/>
          <p:cNvSpPr/>
          <p:nvPr/>
        </p:nvSpPr>
        <p:spPr>
          <a:xfrm>
            <a:off x="6909495" y="4641503"/>
            <a:ext cx="57150" cy="57150"/>
          </a:xfrm>
          <a:prstGeom prst="roundRect">
            <a:avLst>
              <a:gd name="adj" fmla="val 100000"/>
            </a:avLst>
          </a:prstGeom>
          <a:solidFill>
            <a:srgbClr val="6A44F2"/>
          </a:solidFill>
          <a:ln/>
          <a:effectLst>
            <a:outerShdw blurRad="95250" dist="50800" dir="16200000" algn="bl" rotWithShape="0">
              <a:srgbClr val="6A44F2">
                <a:alpha val="100000"/>
              </a:srgbClr>
            </a:outerShdw>
          </a:effectLst>
        </p:spPr>
        <p:txBody>
          <a:bodyPr wrap="square" rtlCol="0" anchor="ctr"/>
          <a:lstStyle/>
          <a:p>
            <a:pPr marL="0" indent="0">
              <a:buNone/>
            </a:pPr>
            <a:endParaRPr lang="en-US" dirty="0"/>
          </a:p>
        </p:txBody>
      </p:sp>
      <p:sp>
        <p:nvSpPr>
          <p:cNvPr id="13" name="Text 9"/>
          <p:cNvSpPr/>
          <p:nvPr/>
        </p:nvSpPr>
        <p:spPr>
          <a:xfrm>
            <a:off x="6908590" y="4641503"/>
            <a:ext cx="100584" cy="91440"/>
          </a:xfrm>
          <a:prstGeom prst="rect">
            <a:avLst/>
          </a:prstGeom>
          <a:noFill/>
          <a:ln/>
        </p:spPr>
        <p:txBody>
          <a:bodyPr vert="horz" wrap="none" lIns="0" tIns="0" rIns="0" bIns="0" rtlCol="0" anchor="t">
            <a:normAutofit/>
          </a:bodyPr>
          <a:lstStyle/>
          <a:p>
            <a:pPr marL="0" indent="0" algn="ctr">
              <a:lnSpc>
                <a:spcPts val="1500"/>
              </a:lnSpc>
              <a:buNone/>
            </a:pPr>
            <a:endParaRPr lang="en-US" sz="1050" dirty="0"/>
          </a:p>
        </p:txBody>
      </p:sp>
      <p:pic>
        <p:nvPicPr>
          <p:cNvPr id="15" name="Image 2" descr="image.png"/>
          <p:cNvPicPr>
            <a:picLocks noChangeAspect="1"/>
          </p:cNvPicPr>
          <p:nvPr/>
        </p:nvPicPr>
        <p:blipFill>
          <a:blip r:embed="rId5"/>
          <a:srcRect/>
          <a:stretch/>
        </p:blipFill>
        <p:spPr>
          <a:xfrm>
            <a:off x="-952500" y="-952500"/>
            <a:ext cx="5715000" cy="5715000"/>
          </a:xfrm>
          <a:prstGeom prst="rect">
            <a:avLst/>
          </a:prstGeom>
        </p:spPr>
      </p:pic>
      <p:pic>
        <p:nvPicPr>
          <p:cNvPr id="16" name="Image 3" descr="image.png"/>
          <p:cNvPicPr>
            <a:picLocks noChangeAspect="1"/>
          </p:cNvPicPr>
          <p:nvPr/>
        </p:nvPicPr>
        <p:blipFill>
          <a:blip r:embed="rId6"/>
          <a:srcRect/>
          <a:stretch/>
        </p:blipFill>
        <p:spPr>
          <a:xfrm>
            <a:off x="949970" y="1221487"/>
            <a:ext cx="6667500" cy="6667500"/>
          </a:xfrm>
          <a:prstGeom prst="rect">
            <a:avLst/>
          </a:prstGeom>
        </p:spPr>
      </p:pic>
      <p:sp>
        <p:nvSpPr>
          <p:cNvPr id="17" name="Text 11"/>
          <p:cNvSpPr/>
          <p:nvPr/>
        </p:nvSpPr>
        <p:spPr>
          <a:xfrm>
            <a:off x="457200" y="457200"/>
            <a:ext cx="5543550" cy="857250"/>
          </a:xfrm>
          <a:prstGeom prst="roundRect">
            <a:avLst>
              <a:gd name="adj" fmla="val 26667"/>
            </a:avLst>
          </a:prstGeom>
          <a:solidFill>
            <a:srgbClr val="FFFFFF">
              <a:alpha val="5000"/>
            </a:srgbClr>
          </a:solidFill>
          <a:ln w="9525">
            <a:solidFill>
              <a:srgbClr val="FFFFFF">
                <a:alpha val="12000"/>
              </a:srgbClr>
            </a:solidFill>
          </a:ln>
          <a:effectLst>
            <a:outerShdw blurRad="476250" dist="190500" dir="5400000" algn="bl" rotWithShape="0">
              <a:srgbClr val="000000">
                <a:alpha val="30000"/>
              </a:srgbClr>
            </a:outerShdw>
          </a:effectLst>
        </p:spPr>
        <p:txBody>
          <a:bodyPr wrap="square" rtlCol="0" anchor="ctr"/>
          <a:lstStyle/>
          <a:p>
            <a:pPr marL="0" indent="0">
              <a:buNone/>
            </a:pPr>
            <a:endParaRPr lang="en-US" sz="2000" dirty="0"/>
          </a:p>
        </p:txBody>
      </p:sp>
      <p:sp>
        <p:nvSpPr>
          <p:cNvPr id="18" name="Text 12"/>
          <p:cNvSpPr/>
          <p:nvPr/>
        </p:nvSpPr>
        <p:spPr>
          <a:xfrm>
            <a:off x="695325" y="619125"/>
            <a:ext cx="533400" cy="533400"/>
          </a:xfrm>
          <a:prstGeom prst="roundRect">
            <a:avLst>
              <a:gd name="adj" fmla="val 28571"/>
            </a:avLst>
          </a:prstGeom>
          <a:noFill/>
          <a:ln/>
          <a:effectLst>
            <a:outerShdw blurRad="190500" dist="50800" dir="16200000" algn="bl" rotWithShape="0">
              <a:srgbClr val="6A44F2">
                <a:alpha val="40000"/>
              </a:srgbClr>
            </a:outerShdw>
          </a:effectLst>
        </p:spPr>
        <p:txBody>
          <a:bodyPr wrap="square" rtlCol="0" anchor="ctr"/>
          <a:lstStyle/>
          <a:p>
            <a:pPr marL="0" indent="0">
              <a:buNone/>
            </a:pPr>
            <a:endParaRPr lang="en-US" dirty="0"/>
          </a:p>
        </p:txBody>
      </p:sp>
      <p:pic>
        <p:nvPicPr>
          <p:cNvPr id="19" name="Image 4" descr="image.png"/>
          <p:cNvPicPr>
            <a:picLocks noChangeAspect="1"/>
          </p:cNvPicPr>
          <p:nvPr/>
        </p:nvPicPr>
        <p:blipFill>
          <a:blip r:embed="rId7"/>
          <a:srcRect/>
          <a:stretch/>
        </p:blipFill>
        <p:spPr>
          <a:xfrm>
            <a:off x="695325" y="619125"/>
            <a:ext cx="533400" cy="533400"/>
          </a:xfrm>
          <a:prstGeom prst="rect">
            <a:avLst/>
          </a:prstGeom>
        </p:spPr>
      </p:pic>
      <p:pic>
        <p:nvPicPr>
          <p:cNvPr id="20" name="Image 5" descr="image.png"/>
          <p:cNvPicPr>
            <a:picLocks noChangeAspect="1"/>
          </p:cNvPicPr>
          <p:nvPr/>
        </p:nvPicPr>
        <p:blipFill>
          <a:blip r:embed="rId8"/>
          <a:srcRect/>
          <a:stretch/>
        </p:blipFill>
        <p:spPr>
          <a:xfrm>
            <a:off x="819150" y="733425"/>
            <a:ext cx="285750" cy="304800"/>
          </a:xfrm>
          <a:prstGeom prst="rect">
            <a:avLst/>
          </a:prstGeom>
        </p:spPr>
      </p:pic>
      <p:sp>
        <p:nvSpPr>
          <p:cNvPr id="21" name="Text 13"/>
          <p:cNvSpPr/>
          <p:nvPr/>
        </p:nvSpPr>
        <p:spPr>
          <a:xfrm>
            <a:off x="1419225" y="661988"/>
            <a:ext cx="2002536" cy="173736"/>
          </a:xfrm>
          <a:prstGeom prst="rect">
            <a:avLst/>
          </a:prstGeom>
          <a:noFill/>
          <a:ln/>
        </p:spPr>
        <p:txBody>
          <a:bodyPr vert="horz" wrap="none" lIns="0" tIns="0" rIns="0" bIns="0" rtlCol="0" anchor="t">
            <a:normAutofit/>
          </a:bodyPr>
          <a:lstStyle/>
          <a:p>
            <a:pPr marL="0" indent="0" algn="l">
              <a:lnSpc>
                <a:spcPts val="1125"/>
              </a:lnSpc>
              <a:buNone/>
            </a:pPr>
            <a:r>
              <a:rPr lang="en-US" sz="1600" b="1" kern="0" spc="220" dirty="0">
                <a:solidFill>
                  <a:srgbClr val="808080"/>
                </a:solidFill>
                <a:latin typeface="Poppins" pitchFamily="34" charset="0"/>
                <a:ea typeface="Poppins" pitchFamily="34" charset="-122"/>
                <a:cs typeface="Poppins" pitchFamily="34" charset="-120"/>
              </a:rPr>
              <a:t>DOSEN PENGAMPU UTAMA</a:t>
            </a:r>
            <a:endParaRPr lang="en-US" sz="1600" dirty="0"/>
          </a:p>
        </p:txBody>
      </p:sp>
      <p:sp>
        <p:nvSpPr>
          <p:cNvPr id="22" name="Text 14"/>
          <p:cNvSpPr/>
          <p:nvPr/>
        </p:nvSpPr>
        <p:spPr>
          <a:xfrm>
            <a:off x="1419224" y="842963"/>
            <a:ext cx="3800475" cy="197549"/>
          </a:xfrm>
          <a:prstGeom prst="rect">
            <a:avLst/>
          </a:prstGeom>
          <a:noFill/>
          <a:ln/>
        </p:spPr>
        <p:txBody>
          <a:bodyPr vert="horz" wrap="none" lIns="0" tIns="0" rIns="0" bIns="0" rtlCol="0" anchor="t">
            <a:noAutofit/>
          </a:bodyPr>
          <a:lstStyle/>
          <a:p>
            <a:pPr marL="0" indent="0" algn="l">
              <a:lnSpc>
                <a:spcPts val="2100"/>
              </a:lnSpc>
              <a:buNone/>
            </a:pPr>
            <a:r>
              <a:rPr lang="en-US" b="1" kern="0" spc="-40" dirty="0">
                <a:solidFill>
                  <a:srgbClr val="FFFFFF"/>
                </a:solidFill>
                <a:latin typeface="Berlin Sans FB" panose="020E0602020502020306" pitchFamily="34" charset="0"/>
                <a:ea typeface="Bebas Neue" pitchFamily="34" charset="-122"/>
                <a:cs typeface="Bebas Neue" pitchFamily="34" charset="-120"/>
              </a:rPr>
              <a:t>Dr. </a:t>
            </a:r>
            <a:r>
              <a:rPr lang="en-US" b="1" kern="0" spc="-40" dirty="0" err="1">
                <a:solidFill>
                  <a:srgbClr val="FFFFFF"/>
                </a:solidFill>
                <a:latin typeface="Berlin Sans FB" panose="020E0602020502020306" pitchFamily="34" charset="0"/>
                <a:ea typeface="Bebas Neue" pitchFamily="34" charset="-122"/>
                <a:cs typeface="Bebas Neue" pitchFamily="34" charset="-120"/>
              </a:rPr>
              <a:t>apik</a:t>
            </a:r>
            <a:r>
              <a:rPr lang="en-US" b="1" kern="0" spc="-40" dirty="0">
                <a:solidFill>
                  <a:srgbClr val="FFFFFF"/>
                </a:solidFill>
                <a:latin typeface="Berlin Sans FB" panose="020E0602020502020306" pitchFamily="34" charset="0"/>
                <a:ea typeface="Bebas Neue" pitchFamily="34" charset="-122"/>
                <a:cs typeface="Bebas Neue" pitchFamily="34" charset="-120"/>
              </a:rPr>
              <a:t> </a:t>
            </a:r>
            <a:r>
              <a:rPr lang="en-US" b="1" kern="0" spc="-40" dirty="0" err="1">
                <a:solidFill>
                  <a:srgbClr val="FFFFFF"/>
                </a:solidFill>
                <a:latin typeface="Berlin Sans FB" panose="020E0602020502020306" pitchFamily="34" charset="0"/>
                <a:ea typeface="Bebas Neue" pitchFamily="34" charset="-122"/>
                <a:cs typeface="Bebas Neue" pitchFamily="34" charset="-120"/>
              </a:rPr>
              <a:t>anitasari</a:t>
            </a:r>
            <a:r>
              <a:rPr lang="en-US" b="1" kern="0" spc="-40" dirty="0">
                <a:solidFill>
                  <a:srgbClr val="FFFFFF"/>
                </a:solidFill>
                <a:latin typeface="Berlin Sans FB" panose="020E0602020502020306" pitchFamily="34" charset="0"/>
                <a:ea typeface="Bebas Neue" pitchFamily="34" charset="-122"/>
                <a:cs typeface="Bebas Neue" pitchFamily="34" charset="-120"/>
              </a:rPr>
              <a:t> intan </a:t>
            </a:r>
            <a:r>
              <a:rPr lang="en-US" b="1" kern="0" spc="-40" dirty="0" err="1">
                <a:solidFill>
                  <a:srgbClr val="FFFFFF"/>
                </a:solidFill>
                <a:latin typeface="Berlin Sans FB" panose="020E0602020502020306" pitchFamily="34" charset="0"/>
                <a:ea typeface="Bebas Neue" pitchFamily="34" charset="-122"/>
                <a:cs typeface="Bebas Neue" pitchFamily="34" charset="-120"/>
              </a:rPr>
              <a:t>saputri</a:t>
            </a:r>
            <a:r>
              <a:rPr lang="en-US" b="1" kern="0" spc="-40" dirty="0">
                <a:solidFill>
                  <a:srgbClr val="FFFFFF"/>
                </a:solidFill>
                <a:latin typeface="Berlin Sans FB" panose="020E0602020502020306" pitchFamily="34" charset="0"/>
                <a:ea typeface="Bebas Neue" pitchFamily="34" charset="-122"/>
                <a:cs typeface="Bebas Neue" pitchFamily="34" charset="-120"/>
              </a:rPr>
              <a:t> S.H.,M.H</a:t>
            </a:r>
            <a:endParaRPr lang="en-US" dirty="0">
              <a:latin typeface="Berlin Sans FB" panose="020E0602020502020306" pitchFamily="34" charset="0"/>
            </a:endParaRPr>
          </a:p>
        </p:txBody>
      </p:sp>
      <p:sp>
        <p:nvSpPr>
          <p:cNvPr id="23" name="Text 15"/>
          <p:cNvSpPr/>
          <p:nvPr/>
        </p:nvSpPr>
        <p:spPr>
          <a:xfrm>
            <a:off x="10243757" y="533400"/>
            <a:ext cx="749808" cy="182880"/>
          </a:xfrm>
          <a:prstGeom prst="rect">
            <a:avLst/>
          </a:prstGeom>
          <a:noFill/>
          <a:ln/>
        </p:spPr>
        <p:txBody>
          <a:bodyPr vert="horz" wrap="none" lIns="0" tIns="0" rIns="0" bIns="0" rtlCol="0" anchor="t">
            <a:normAutofit/>
          </a:bodyPr>
          <a:lstStyle/>
          <a:p>
            <a:pPr marL="0" indent="0" algn="r">
              <a:lnSpc>
                <a:spcPts val="1200"/>
              </a:lnSpc>
              <a:buNone/>
            </a:pPr>
            <a:r>
              <a:rPr lang="en-US" sz="900" kern="0" spc="180" dirty="0">
                <a:solidFill>
                  <a:srgbClr val="FFFFFF">
                    <a:alpha val="40000"/>
                  </a:srgbClr>
                </a:solidFill>
                <a:latin typeface="Poppins" pitchFamily="34" charset="0"/>
                <a:ea typeface="Poppins" pitchFamily="34" charset="-122"/>
                <a:cs typeface="Poppins" pitchFamily="34" charset="-120"/>
              </a:rPr>
              <a:t>EDISI</a:t>
            </a:r>
            <a:endParaRPr lang="en-US" sz="900" dirty="0"/>
          </a:p>
        </p:txBody>
      </p:sp>
      <p:sp>
        <p:nvSpPr>
          <p:cNvPr id="24" name="Text 16"/>
          <p:cNvSpPr/>
          <p:nvPr/>
        </p:nvSpPr>
        <p:spPr>
          <a:xfrm>
            <a:off x="10243471" y="685800"/>
            <a:ext cx="768096" cy="301752"/>
          </a:xfrm>
          <a:prstGeom prst="rect">
            <a:avLst/>
          </a:prstGeom>
          <a:noFill/>
          <a:ln/>
        </p:spPr>
        <p:txBody>
          <a:bodyPr vert="horz" wrap="none" lIns="0" tIns="0" rIns="0" bIns="0" rtlCol="0" anchor="t">
            <a:normAutofit/>
          </a:bodyPr>
          <a:lstStyle/>
          <a:p>
            <a:pPr marL="0" indent="0" algn="r">
              <a:lnSpc>
                <a:spcPts val="2100"/>
              </a:lnSpc>
              <a:buNone/>
            </a:pPr>
            <a:r>
              <a:rPr lang="en-US" sz="1350" b="1" dirty="0">
                <a:solidFill>
                  <a:srgbClr val="FFFFFF"/>
                </a:solidFill>
                <a:latin typeface="Bebas Neue" pitchFamily="34" charset="0"/>
                <a:ea typeface="Bebas Neue" pitchFamily="34" charset="-122"/>
                <a:cs typeface="Bebas Neue" pitchFamily="34" charset="-120"/>
              </a:rPr>
              <a:t>2026 / VOL. 1</a:t>
            </a:r>
            <a:endParaRPr lang="en-US" sz="1350" dirty="0"/>
          </a:p>
        </p:txBody>
      </p:sp>
      <p:pic>
        <p:nvPicPr>
          <p:cNvPr id="25" name="Image 6" descr="image.png"/>
          <p:cNvPicPr>
            <a:picLocks noChangeAspect="1"/>
          </p:cNvPicPr>
          <p:nvPr/>
        </p:nvPicPr>
        <p:blipFill>
          <a:blip r:embed="rId9"/>
          <a:srcRect/>
          <a:stretch/>
        </p:blipFill>
        <p:spPr>
          <a:xfrm>
            <a:off x="11191875" y="457200"/>
            <a:ext cx="9525" cy="571500"/>
          </a:xfrm>
          <a:prstGeom prst="rect">
            <a:avLst/>
          </a:prstGeom>
        </p:spPr>
      </p:pic>
      <p:sp>
        <p:nvSpPr>
          <p:cNvPr id="26" name="Text 17"/>
          <p:cNvSpPr/>
          <p:nvPr/>
        </p:nvSpPr>
        <p:spPr>
          <a:xfrm>
            <a:off x="11430000" y="457200"/>
            <a:ext cx="411480" cy="630936"/>
          </a:xfrm>
          <a:prstGeom prst="rect">
            <a:avLst/>
          </a:prstGeom>
          <a:noFill/>
          <a:ln/>
        </p:spPr>
        <p:txBody>
          <a:bodyPr vert="horz" wrap="none" lIns="0" tIns="0" rIns="0" bIns="0" rtlCol="0" anchor="t">
            <a:normAutofit/>
          </a:bodyPr>
          <a:lstStyle/>
          <a:p>
            <a:pPr marL="0" indent="0" algn="l">
              <a:lnSpc>
                <a:spcPts val="4500"/>
              </a:lnSpc>
              <a:buNone/>
            </a:pPr>
            <a:r>
              <a:rPr lang="en-US" sz="3000" b="1" dirty="0">
                <a:solidFill>
                  <a:srgbClr val="FFFFFF">
                    <a:alpha val="10000"/>
                  </a:srgbClr>
                </a:solidFill>
                <a:latin typeface="Bebas Neue" pitchFamily="34" charset="0"/>
                <a:ea typeface="Bebas Neue" pitchFamily="34" charset="-122"/>
                <a:cs typeface="Bebas Neue" pitchFamily="34" charset="-120"/>
              </a:rPr>
              <a:t>01</a:t>
            </a:r>
            <a:endParaRPr lang="en-US" sz="3000" dirty="0"/>
          </a:p>
        </p:txBody>
      </p:sp>
      <p:sp>
        <p:nvSpPr>
          <p:cNvPr id="27" name="Text 18"/>
          <p:cNvSpPr/>
          <p:nvPr/>
        </p:nvSpPr>
        <p:spPr>
          <a:xfrm rot="10800000">
            <a:off x="457200" y="1276350"/>
            <a:ext cx="173736" cy="5157216"/>
          </a:xfrm>
          <a:prstGeom prst="rect">
            <a:avLst/>
          </a:prstGeom>
          <a:noFill/>
          <a:ln/>
        </p:spPr>
        <p:txBody>
          <a:bodyPr vert="vert" wrap="none" lIns="0" tIns="0" rIns="0" bIns="0" rtlCol="0" anchor="t">
            <a:normAutofit/>
          </a:bodyPr>
          <a:lstStyle/>
          <a:p>
            <a:pPr marL="0" indent="0" algn="l">
              <a:lnSpc>
                <a:spcPts val="1125"/>
              </a:lnSpc>
              <a:buNone/>
            </a:pPr>
            <a:r>
              <a:rPr lang="en-US" sz="750" kern="0" spc="370" dirty="0">
                <a:solidFill>
                  <a:srgbClr val="FFFFFF">
                    <a:alpha val="20000"/>
                  </a:srgbClr>
                </a:solidFill>
                <a:latin typeface="Poppins" pitchFamily="34" charset="0"/>
                <a:ea typeface="Poppins" pitchFamily="34" charset="-122"/>
                <a:cs typeface="Poppins" pitchFamily="34" charset="-120"/>
              </a:rPr>
              <a:t>PERLINDUNGAN ASET DIGITAL / STRATEGI BISNIS MODERN</a:t>
            </a:r>
            <a:endParaRPr lang="en-US" sz="750" dirty="0"/>
          </a:p>
        </p:txBody>
      </p:sp>
      <p:sp>
        <p:nvSpPr>
          <p:cNvPr id="28" name="Text 19"/>
          <p:cNvSpPr/>
          <p:nvPr/>
        </p:nvSpPr>
        <p:spPr>
          <a:xfrm>
            <a:off x="9429083" y="5910263"/>
            <a:ext cx="1499616" cy="173736"/>
          </a:xfrm>
          <a:prstGeom prst="rect">
            <a:avLst/>
          </a:prstGeom>
          <a:noFill/>
          <a:ln/>
        </p:spPr>
        <p:txBody>
          <a:bodyPr vert="horz" wrap="none" lIns="0" tIns="0" rIns="0" bIns="0" rtlCol="0" anchor="t">
            <a:normAutofit/>
          </a:bodyPr>
          <a:lstStyle/>
          <a:p>
            <a:pPr marL="0" indent="0" algn="r">
              <a:lnSpc>
                <a:spcPts val="1125"/>
              </a:lnSpc>
              <a:buNone/>
            </a:pPr>
            <a:r>
              <a:rPr lang="en-US" sz="750" b="1" kern="0" spc="220" dirty="0">
                <a:solidFill>
                  <a:srgbClr val="FFFFFF">
                    <a:alpha val="40000"/>
                  </a:srgbClr>
                </a:solidFill>
                <a:latin typeface="Poppins" pitchFamily="34" charset="0"/>
                <a:ea typeface="Poppins" pitchFamily="34" charset="-122"/>
                <a:cs typeface="Poppins" pitchFamily="34" charset="-120"/>
              </a:rPr>
              <a:t>KLIK UNTUK MASUK</a:t>
            </a:r>
            <a:endParaRPr lang="en-US" sz="750" dirty="0"/>
          </a:p>
        </p:txBody>
      </p:sp>
      <p:sp>
        <p:nvSpPr>
          <p:cNvPr id="29" name="Text 20"/>
          <p:cNvSpPr/>
          <p:nvPr/>
        </p:nvSpPr>
        <p:spPr>
          <a:xfrm>
            <a:off x="9428893" y="6091238"/>
            <a:ext cx="1508760" cy="219456"/>
          </a:xfrm>
          <a:prstGeom prst="rect">
            <a:avLst/>
          </a:prstGeom>
          <a:noFill/>
          <a:ln/>
        </p:spPr>
        <p:txBody>
          <a:bodyPr vert="horz" wrap="none" lIns="0" tIns="0" rIns="0" bIns="0" rtlCol="0" anchor="t">
            <a:normAutofit/>
          </a:bodyPr>
          <a:lstStyle/>
          <a:p>
            <a:pPr marL="0" indent="0" algn="r">
              <a:lnSpc>
                <a:spcPts val="1500"/>
              </a:lnSpc>
              <a:buNone/>
            </a:pPr>
            <a:r>
              <a:rPr lang="en-US" sz="1050" kern="0" spc="200" dirty="0">
                <a:solidFill>
                  <a:srgbClr val="FFFFFF"/>
                </a:solidFill>
                <a:latin typeface="Poppins" pitchFamily="34" charset="0"/>
                <a:ea typeface="Poppins" pitchFamily="34" charset="-122"/>
                <a:cs typeface="Poppins" pitchFamily="34" charset="-120"/>
              </a:rPr>
              <a:t>MULAI SESI</a:t>
            </a:r>
            <a:endParaRPr lang="en-US" sz="1050" dirty="0"/>
          </a:p>
        </p:txBody>
      </p:sp>
      <p:pic>
        <p:nvPicPr>
          <p:cNvPr id="30" name="Image 7" descr="image.png"/>
          <p:cNvPicPr>
            <a:picLocks noChangeAspect="1"/>
          </p:cNvPicPr>
          <p:nvPr/>
        </p:nvPicPr>
        <p:blipFill>
          <a:blip r:embed="rId10">
            <a:alphaModFix amt="0"/>
          </a:blip>
          <a:srcRect/>
          <a:stretch/>
        </p:blipFill>
        <p:spPr>
          <a:xfrm>
            <a:off x="11125200" y="5791200"/>
            <a:ext cx="609600" cy="609600"/>
          </a:xfrm>
          <a:prstGeom prst="rect">
            <a:avLst/>
          </a:prstGeom>
        </p:spPr>
      </p:pic>
      <p:sp>
        <p:nvSpPr>
          <p:cNvPr id="31" name="Text 21"/>
          <p:cNvSpPr/>
          <p:nvPr/>
        </p:nvSpPr>
        <p:spPr>
          <a:xfrm>
            <a:off x="11125200" y="5791200"/>
            <a:ext cx="609600" cy="609600"/>
          </a:xfrm>
          <a:prstGeom prst="roundRect">
            <a:avLst>
              <a:gd name="adj" fmla="val 100000"/>
            </a:avLst>
          </a:prstGeom>
          <a:noFill/>
          <a:ln w="9525">
            <a:solidFill>
              <a:srgbClr val="FFFFFF">
                <a:alpha val="20000"/>
              </a:srgbClr>
            </a:solidFill>
          </a:ln>
        </p:spPr>
        <p:txBody>
          <a:bodyPr wrap="square" rtlCol="0" anchor="ctr"/>
          <a:lstStyle/>
          <a:p>
            <a:pPr marL="0" indent="0">
              <a:buNone/>
            </a:pPr>
            <a:endParaRPr lang="en-US" dirty="0"/>
          </a:p>
        </p:txBody>
      </p:sp>
      <p:pic>
        <p:nvPicPr>
          <p:cNvPr id="32" name="Image 8" descr="image.png"/>
          <p:cNvPicPr>
            <a:picLocks noChangeAspect="1"/>
          </p:cNvPicPr>
          <p:nvPr/>
        </p:nvPicPr>
        <p:blipFill>
          <a:blip r:embed="rId11"/>
          <a:srcRect/>
          <a:stretch/>
        </p:blipFill>
        <p:spPr>
          <a:xfrm>
            <a:off x="11358563" y="5981700"/>
            <a:ext cx="142875" cy="228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25000"/>
          </a:blip>
          <a:srcRect r="-32653"/>
          <a:stretch/>
        </p:blipFill>
        <p:spPr>
          <a:xfrm>
            <a:off x="609600" y="-476250"/>
            <a:ext cx="4762500" cy="2857500"/>
          </a:xfrm>
          <a:prstGeom prst="rect">
            <a:avLst/>
          </a:prstGeom>
        </p:spPr>
      </p:pic>
      <p:pic>
        <p:nvPicPr>
          <p:cNvPr id="4" name="Image 1" descr="image.png"/>
          <p:cNvPicPr>
            <a:picLocks noChangeAspect="1"/>
          </p:cNvPicPr>
          <p:nvPr/>
        </p:nvPicPr>
        <p:blipFill>
          <a:blip r:embed="rId4">
            <a:alphaModFix amt="25000"/>
          </a:blip>
          <a:srcRect/>
          <a:stretch/>
        </p:blipFill>
        <p:spPr>
          <a:xfrm>
            <a:off x="7772400" y="3524250"/>
            <a:ext cx="3810000" cy="3810000"/>
          </a:xfrm>
          <a:prstGeom prst="rect">
            <a:avLst/>
          </a:prstGeom>
        </p:spPr>
      </p:pic>
      <p:sp>
        <p:nvSpPr>
          <p:cNvPr id="5" name="Text 1"/>
          <p:cNvSpPr/>
          <p:nvPr/>
        </p:nvSpPr>
        <p:spPr>
          <a:xfrm>
            <a:off x="3371850" y="1714500"/>
            <a:ext cx="6144768" cy="3776472"/>
          </a:xfrm>
          <a:prstGeom prst="rect">
            <a:avLst/>
          </a:prstGeom>
          <a:noFill/>
          <a:ln/>
        </p:spPr>
        <p:txBody>
          <a:bodyPr vert="horz" wrap="none" lIns="0" tIns="0" rIns="0" bIns="0" rtlCol="0" anchor="t">
            <a:normAutofit/>
          </a:bodyPr>
          <a:lstStyle/>
          <a:p>
            <a:pPr marL="0" indent="0" algn="l">
              <a:lnSpc>
                <a:spcPts val="27000"/>
              </a:lnSpc>
              <a:buNone/>
            </a:pPr>
            <a:r>
              <a:rPr lang="en-US" sz="18000" b="1" dirty="0">
                <a:solidFill>
                  <a:srgbClr val="FFFFFF">
                    <a:alpha val="2000"/>
                  </a:srgbClr>
                </a:solidFill>
                <a:latin typeface="Bebas Neue" pitchFamily="34" charset="0"/>
                <a:ea typeface="Bebas Neue" pitchFamily="34" charset="-122"/>
                <a:cs typeface="Bebas Neue" pitchFamily="34" charset="-120"/>
              </a:rPr>
              <a:t>AGENDA</a:t>
            </a:r>
            <a:endParaRPr lang="en-US" sz="18000" dirty="0"/>
          </a:p>
        </p:txBody>
      </p:sp>
      <p:sp>
        <p:nvSpPr>
          <p:cNvPr id="6" name="Shape 2"/>
          <p:cNvSpPr/>
          <p:nvPr/>
        </p:nvSpPr>
        <p:spPr>
          <a:xfrm>
            <a:off x="609600" y="1121718"/>
            <a:ext cx="10972800" cy="0"/>
          </a:xfrm>
          <a:prstGeom prst="line">
            <a:avLst/>
          </a:prstGeom>
          <a:noFill/>
          <a:ln w="9525">
            <a:solidFill>
              <a:srgbClr val="FFFFFF">
                <a:alpha val="5000"/>
              </a:srgbClr>
            </a:solidFill>
            <a:prstDash val="solid"/>
          </a:ln>
        </p:spPr>
      </p:sp>
      <p:sp>
        <p:nvSpPr>
          <p:cNvPr id="7" name="Text 3"/>
          <p:cNvSpPr/>
          <p:nvPr/>
        </p:nvSpPr>
        <p:spPr>
          <a:xfrm>
            <a:off x="609600" y="381000"/>
            <a:ext cx="381000" cy="38100"/>
          </a:xfrm>
          <a:prstGeom prst="rect">
            <a:avLst/>
          </a:prstGeom>
          <a:solidFill>
            <a:srgbClr val="6A44F2"/>
          </a:solidFill>
          <a:ln/>
        </p:spPr>
        <p:txBody>
          <a:bodyPr wrap="square" rtlCol="0" anchor="ctr"/>
          <a:lstStyle/>
          <a:p>
            <a:pPr marL="0" indent="0">
              <a:buNone/>
            </a:pPr>
            <a:endParaRPr lang="en-US" dirty="0"/>
          </a:p>
        </p:txBody>
      </p:sp>
      <p:sp>
        <p:nvSpPr>
          <p:cNvPr id="8" name="Text 4"/>
          <p:cNvSpPr/>
          <p:nvPr/>
        </p:nvSpPr>
        <p:spPr>
          <a:xfrm>
            <a:off x="608558" y="496565"/>
            <a:ext cx="2386584" cy="521208"/>
          </a:xfrm>
          <a:prstGeom prst="rect">
            <a:avLst/>
          </a:prstGeom>
          <a:noFill/>
          <a:ln/>
        </p:spPr>
        <p:txBody>
          <a:bodyPr vert="horz" wrap="none" lIns="0" tIns="0" rIns="0" bIns="0" rtlCol="0" anchor="t">
            <a:normAutofit/>
          </a:bodyPr>
          <a:lstStyle/>
          <a:p>
            <a:pPr marL="0" indent="0" algn="l">
              <a:lnSpc>
                <a:spcPts val="3696"/>
              </a:lnSpc>
              <a:buNone/>
            </a:pPr>
            <a:r>
              <a:rPr lang="en-US" sz="3360" b="1" kern="0" spc="-70" dirty="0">
                <a:solidFill>
                  <a:srgbClr val="FFFFFF"/>
                </a:solidFill>
                <a:latin typeface="Bebas Neue" pitchFamily="34" charset="0"/>
                <a:ea typeface="Bebas Neue" pitchFamily="34" charset="-122"/>
                <a:cs typeface="Bebas Neue" pitchFamily="34" charset="-120"/>
              </a:rPr>
              <a:t>DAFTAR </a:t>
            </a:r>
            <a:r>
              <a:rPr lang="en-US" sz="3360" b="1" kern="0" spc="-70" dirty="0">
                <a:solidFill>
                  <a:srgbClr val="6A44F2"/>
                </a:solidFill>
                <a:latin typeface="Bebas Neue" pitchFamily="34" charset="0"/>
                <a:ea typeface="Bebas Neue" pitchFamily="34" charset="-122"/>
                <a:cs typeface="Bebas Neue" pitchFamily="34" charset="-120"/>
              </a:rPr>
              <a:t>ISI MATERI</a:t>
            </a:r>
            <a:endParaRPr lang="en-US" sz="3360" dirty="0"/>
          </a:p>
        </p:txBody>
      </p:sp>
      <p:sp>
        <p:nvSpPr>
          <p:cNvPr id="9" name="Text 5"/>
          <p:cNvSpPr/>
          <p:nvPr/>
        </p:nvSpPr>
        <p:spPr>
          <a:xfrm>
            <a:off x="10221473" y="514127"/>
            <a:ext cx="1389888" cy="192024"/>
          </a:xfrm>
          <a:prstGeom prst="rect">
            <a:avLst/>
          </a:prstGeom>
          <a:noFill/>
          <a:ln/>
        </p:spPr>
        <p:txBody>
          <a:bodyPr vert="horz" wrap="none" lIns="0" tIns="0" rIns="0" bIns="0" rtlCol="0" anchor="t">
            <a:normAutofit/>
          </a:bodyPr>
          <a:lstStyle/>
          <a:p>
            <a:pPr marL="0" indent="0" algn="r">
              <a:lnSpc>
                <a:spcPts val="1260"/>
              </a:lnSpc>
              <a:buNone/>
            </a:pPr>
            <a:r>
              <a:rPr lang="en-US" sz="840" kern="0" spc="80" dirty="0">
                <a:solidFill>
                  <a:srgbClr val="9CA3AF"/>
                </a:solidFill>
                <a:latin typeface="Poppins" pitchFamily="34" charset="0"/>
                <a:ea typeface="Poppins" pitchFamily="34" charset="-122"/>
                <a:cs typeface="Poppins" pitchFamily="34" charset="-120"/>
              </a:rPr>
              <a:t>TANGGAL PERTEMUAN</a:t>
            </a:r>
            <a:endParaRPr lang="en-US" sz="840" dirty="0"/>
          </a:p>
        </p:txBody>
      </p:sp>
      <p:sp>
        <p:nvSpPr>
          <p:cNvPr id="10" name="Text 6"/>
          <p:cNvSpPr/>
          <p:nvPr/>
        </p:nvSpPr>
        <p:spPr>
          <a:xfrm>
            <a:off x="10221169" y="676945"/>
            <a:ext cx="1408176" cy="283464"/>
          </a:xfrm>
          <a:prstGeom prst="rect">
            <a:avLst/>
          </a:prstGeom>
          <a:noFill/>
          <a:ln/>
        </p:spPr>
        <p:txBody>
          <a:bodyPr vert="horz" wrap="none" lIns="0" tIns="0" rIns="0" bIns="0" rtlCol="0" anchor="t">
            <a:normAutofit/>
          </a:bodyPr>
          <a:lstStyle/>
          <a:p>
            <a:pPr marL="0" indent="0" algn="r">
              <a:lnSpc>
                <a:spcPts val="1980"/>
              </a:lnSpc>
              <a:buNone/>
            </a:pPr>
            <a:r>
              <a:rPr lang="en-US" sz="1320" b="1" dirty="0">
                <a:solidFill>
                  <a:srgbClr val="FFFFFF">
                    <a:alpha val="90000"/>
                  </a:srgbClr>
                </a:solidFill>
                <a:latin typeface="Bebas Neue" pitchFamily="34" charset="0"/>
                <a:ea typeface="Bebas Neue" pitchFamily="34" charset="-122"/>
                <a:cs typeface="Bebas Neue" pitchFamily="34" charset="-120"/>
              </a:rPr>
              <a:t>25 SEPTEMBER 2026</a:t>
            </a:r>
            <a:endParaRPr lang="en-US" sz="1320" dirty="0"/>
          </a:p>
        </p:txBody>
      </p:sp>
      <p:sp>
        <p:nvSpPr>
          <p:cNvPr id="11" name="Text 7"/>
          <p:cNvSpPr/>
          <p:nvPr/>
        </p:nvSpPr>
        <p:spPr>
          <a:xfrm>
            <a:off x="609600" y="1431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12" name="Shape 8"/>
          <p:cNvSpPr/>
          <p:nvPr/>
        </p:nvSpPr>
        <p:spPr>
          <a:xfrm>
            <a:off x="609600" y="1431280"/>
            <a:ext cx="0" cy="495300"/>
          </a:xfrm>
          <a:prstGeom prst="line">
            <a:avLst/>
          </a:prstGeom>
          <a:noFill/>
          <a:ln w="28575">
            <a:solidFill>
              <a:srgbClr val="FFFFFF">
                <a:alpha val="5000"/>
              </a:srgbClr>
            </a:solidFill>
            <a:prstDash val="solid"/>
          </a:ln>
        </p:spPr>
      </p:sp>
      <p:sp>
        <p:nvSpPr>
          <p:cNvPr id="13" name="Text 9"/>
          <p:cNvSpPr/>
          <p:nvPr/>
        </p:nvSpPr>
        <p:spPr>
          <a:xfrm>
            <a:off x="789608" y="1540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01</a:t>
            </a:r>
            <a:endParaRPr lang="en-US" sz="1440" dirty="0"/>
          </a:p>
        </p:txBody>
      </p:sp>
      <p:sp>
        <p:nvSpPr>
          <p:cNvPr id="14" name="Text 10"/>
          <p:cNvSpPr/>
          <p:nvPr/>
        </p:nvSpPr>
        <p:spPr>
          <a:xfrm>
            <a:off x="1217265" y="1515070"/>
            <a:ext cx="1847088"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PEMBUKAAN</a:t>
            </a:r>
            <a:endParaRPr lang="en-US" sz="675" dirty="0"/>
          </a:p>
        </p:txBody>
      </p:sp>
      <p:sp>
        <p:nvSpPr>
          <p:cNvPr id="15" name="Text 11"/>
          <p:cNvSpPr/>
          <p:nvPr/>
        </p:nvSpPr>
        <p:spPr>
          <a:xfrm>
            <a:off x="1217265" y="1647899"/>
            <a:ext cx="1856232"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AGENDA PERTEMUAN HARI INI</a:t>
            </a:r>
            <a:endParaRPr lang="en-US" sz="1020" dirty="0"/>
          </a:p>
        </p:txBody>
      </p:sp>
      <p:sp>
        <p:nvSpPr>
          <p:cNvPr id="16" name="Text 12"/>
          <p:cNvSpPr/>
          <p:nvPr/>
        </p:nvSpPr>
        <p:spPr>
          <a:xfrm>
            <a:off x="609600" y="2002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17" name="Shape 13"/>
          <p:cNvSpPr/>
          <p:nvPr/>
        </p:nvSpPr>
        <p:spPr>
          <a:xfrm>
            <a:off x="609600" y="2002780"/>
            <a:ext cx="0" cy="495300"/>
          </a:xfrm>
          <a:prstGeom prst="line">
            <a:avLst/>
          </a:prstGeom>
          <a:noFill/>
          <a:ln w="28575">
            <a:solidFill>
              <a:srgbClr val="FFFFFF">
                <a:alpha val="5000"/>
              </a:srgbClr>
            </a:solidFill>
            <a:prstDash val="solid"/>
          </a:ln>
        </p:spPr>
      </p:sp>
      <p:sp>
        <p:nvSpPr>
          <p:cNvPr id="18" name="Text 14"/>
          <p:cNvSpPr/>
          <p:nvPr/>
        </p:nvSpPr>
        <p:spPr>
          <a:xfrm>
            <a:off x="789608" y="2112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02</a:t>
            </a:r>
            <a:endParaRPr lang="en-US" sz="1440" dirty="0"/>
          </a:p>
        </p:txBody>
      </p:sp>
      <p:sp>
        <p:nvSpPr>
          <p:cNvPr id="19" name="Text 15"/>
          <p:cNvSpPr/>
          <p:nvPr/>
        </p:nvSpPr>
        <p:spPr>
          <a:xfrm>
            <a:off x="1217265" y="2086570"/>
            <a:ext cx="3191256"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STRATEGI</a:t>
            </a:r>
            <a:endParaRPr lang="en-US" sz="675" dirty="0"/>
          </a:p>
        </p:txBody>
      </p:sp>
      <p:sp>
        <p:nvSpPr>
          <p:cNvPr id="20" name="Text 16"/>
          <p:cNvSpPr/>
          <p:nvPr/>
        </p:nvSpPr>
        <p:spPr>
          <a:xfrm>
            <a:off x="1217265" y="2219399"/>
            <a:ext cx="3200400"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PENTINGNYA HAKI SEBAGAI ASET STRATEGIS BISNIS</a:t>
            </a:r>
            <a:endParaRPr lang="en-US" sz="1020" dirty="0"/>
          </a:p>
        </p:txBody>
      </p:sp>
      <p:sp>
        <p:nvSpPr>
          <p:cNvPr id="21" name="Text 17"/>
          <p:cNvSpPr/>
          <p:nvPr/>
        </p:nvSpPr>
        <p:spPr>
          <a:xfrm>
            <a:off x="609600" y="2574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22" name="Shape 18"/>
          <p:cNvSpPr/>
          <p:nvPr/>
        </p:nvSpPr>
        <p:spPr>
          <a:xfrm>
            <a:off x="609600" y="2574280"/>
            <a:ext cx="0" cy="495300"/>
          </a:xfrm>
          <a:prstGeom prst="line">
            <a:avLst/>
          </a:prstGeom>
          <a:noFill/>
          <a:ln w="28575">
            <a:solidFill>
              <a:srgbClr val="FFFFFF">
                <a:alpha val="5000"/>
              </a:srgbClr>
            </a:solidFill>
            <a:prstDash val="solid"/>
          </a:ln>
        </p:spPr>
      </p:sp>
      <p:sp>
        <p:nvSpPr>
          <p:cNvPr id="23" name="Text 19"/>
          <p:cNvSpPr/>
          <p:nvPr/>
        </p:nvSpPr>
        <p:spPr>
          <a:xfrm>
            <a:off x="789608" y="2683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03</a:t>
            </a:r>
            <a:endParaRPr lang="en-US" sz="1440" dirty="0"/>
          </a:p>
        </p:txBody>
      </p:sp>
      <p:sp>
        <p:nvSpPr>
          <p:cNvPr id="24" name="Text 20"/>
          <p:cNvSpPr/>
          <p:nvPr/>
        </p:nvSpPr>
        <p:spPr>
          <a:xfrm>
            <a:off x="1217265" y="2658070"/>
            <a:ext cx="3108960"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KONSEP</a:t>
            </a:r>
            <a:endParaRPr lang="en-US" sz="675" dirty="0"/>
          </a:p>
        </p:txBody>
      </p:sp>
      <p:sp>
        <p:nvSpPr>
          <p:cNvPr id="25" name="Text 21"/>
          <p:cNvSpPr/>
          <p:nvPr/>
        </p:nvSpPr>
        <p:spPr>
          <a:xfrm>
            <a:off x="1217265" y="2790899"/>
            <a:ext cx="3118104"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DEFINISI DAN FILOSOFI DASAR PELINDUNGAN HAKI</a:t>
            </a:r>
            <a:endParaRPr lang="en-US" sz="1020" dirty="0"/>
          </a:p>
        </p:txBody>
      </p:sp>
      <p:sp>
        <p:nvSpPr>
          <p:cNvPr id="26" name="Text 22"/>
          <p:cNvSpPr/>
          <p:nvPr/>
        </p:nvSpPr>
        <p:spPr>
          <a:xfrm>
            <a:off x="609600" y="3145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27" name="Shape 23"/>
          <p:cNvSpPr/>
          <p:nvPr/>
        </p:nvSpPr>
        <p:spPr>
          <a:xfrm>
            <a:off x="609600" y="3145780"/>
            <a:ext cx="0" cy="495300"/>
          </a:xfrm>
          <a:prstGeom prst="line">
            <a:avLst/>
          </a:prstGeom>
          <a:noFill/>
          <a:ln w="28575">
            <a:solidFill>
              <a:srgbClr val="FFFFFF">
                <a:alpha val="5000"/>
              </a:srgbClr>
            </a:solidFill>
            <a:prstDash val="solid"/>
          </a:ln>
        </p:spPr>
      </p:sp>
      <p:sp>
        <p:nvSpPr>
          <p:cNvPr id="28" name="Text 24"/>
          <p:cNvSpPr/>
          <p:nvPr/>
        </p:nvSpPr>
        <p:spPr>
          <a:xfrm>
            <a:off x="789608" y="3255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04</a:t>
            </a:r>
            <a:endParaRPr lang="en-US" sz="1440" dirty="0"/>
          </a:p>
        </p:txBody>
      </p:sp>
      <p:sp>
        <p:nvSpPr>
          <p:cNvPr id="29" name="Text 25"/>
          <p:cNvSpPr/>
          <p:nvPr/>
        </p:nvSpPr>
        <p:spPr>
          <a:xfrm>
            <a:off x="1217265" y="3229570"/>
            <a:ext cx="1874520"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PRINSIP</a:t>
            </a:r>
            <a:endParaRPr lang="en-US" sz="675" dirty="0"/>
          </a:p>
        </p:txBody>
      </p:sp>
      <p:sp>
        <p:nvSpPr>
          <p:cNvPr id="30" name="Text 26"/>
          <p:cNvSpPr/>
          <p:nvPr/>
        </p:nvSpPr>
        <p:spPr>
          <a:xfrm>
            <a:off x="1217265" y="3362399"/>
            <a:ext cx="1883664"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HAK EKONOMI VS HAK MORAL</a:t>
            </a:r>
            <a:endParaRPr lang="en-US" sz="1020" dirty="0"/>
          </a:p>
        </p:txBody>
      </p:sp>
      <p:sp>
        <p:nvSpPr>
          <p:cNvPr id="31" name="Text 27"/>
          <p:cNvSpPr/>
          <p:nvPr/>
        </p:nvSpPr>
        <p:spPr>
          <a:xfrm>
            <a:off x="609600" y="3717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32" name="Shape 28"/>
          <p:cNvSpPr/>
          <p:nvPr/>
        </p:nvSpPr>
        <p:spPr>
          <a:xfrm>
            <a:off x="609600" y="3717280"/>
            <a:ext cx="0" cy="495300"/>
          </a:xfrm>
          <a:prstGeom prst="line">
            <a:avLst/>
          </a:prstGeom>
          <a:noFill/>
          <a:ln w="28575">
            <a:solidFill>
              <a:srgbClr val="FFFFFF">
                <a:alpha val="5000"/>
              </a:srgbClr>
            </a:solidFill>
            <a:prstDash val="solid"/>
          </a:ln>
        </p:spPr>
      </p:sp>
      <p:sp>
        <p:nvSpPr>
          <p:cNvPr id="33" name="Text 29"/>
          <p:cNvSpPr/>
          <p:nvPr/>
        </p:nvSpPr>
        <p:spPr>
          <a:xfrm>
            <a:off x="789608" y="3826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05</a:t>
            </a:r>
            <a:endParaRPr lang="en-US" sz="1440" dirty="0"/>
          </a:p>
        </p:txBody>
      </p:sp>
      <p:sp>
        <p:nvSpPr>
          <p:cNvPr id="34" name="Text 30"/>
          <p:cNvSpPr/>
          <p:nvPr/>
        </p:nvSpPr>
        <p:spPr>
          <a:xfrm>
            <a:off x="1217265" y="3801070"/>
            <a:ext cx="2953512"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KATEGORI</a:t>
            </a:r>
            <a:endParaRPr lang="en-US" sz="675" dirty="0"/>
          </a:p>
        </p:txBody>
      </p:sp>
      <p:sp>
        <p:nvSpPr>
          <p:cNvPr id="35" name="Text 31"/>
          <p:cNvSpPr/>
          <p:nvPr/>
        </p:nvSpPr>
        <p:spPr>
          <a:xfrm>
            <a:off x="1217265" y="3933899"/>
            <a:ext cx="2962656"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KLASIFIKASI UMUM HAK KEKAYAAN INTELEKTUAL</a:t>
            </a:r>
            <a:endParaRPr lang="en-US" sz="1020" dirty="0"/>
          </a:p>
        </p:txBody>
      </p:sp>
      <p:sp>
        <p:nvSpPr>
          <p:cNvPr id="36" name="Text 32"/>
          <p:cNvSpPr/>
          <p:nvPr/>
        </p:nvSpPr>
        <p:spPr>
          <a:xfrm>
            <a:off x="609600" y="4288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37" name="Shape 33"/>
          <p:cNvSpPr/>
          <p:nvPr/>
        </p:nvSpPr>
        <p:spPr>
          <a:xfrm>
            <a:off x="609600" y="4288780"/>
            <a:ext cx="0" cy="495300"/>
          </a:xfrm>
          <a:prstGeom prst="line">
            <a:avLst/>
          </a:prstGeom>
          <a:noFill/>
          <a:ln w="28575">
            <a:solidFill>
              <a:srgbClr val="FFFFFF">
                <a:alpha val="5000"/>
              </a:srgbClr>
            </a:solidFill>
            <a:prstDash val="solid"/>
          </a:ln>
        </p:spPr>
      </p:sp>
      <p:sp>
        <p:nvSpPr>
          <p:cNvPr id="38" name="Text 34"/>
          <p:cNvSpPr/>
          <p:nvPr/>
        </p:nvSpPr>
        <p:spPr>
          <a:xfrm>
            <a:off x="789608" y="4398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06</a:t>
            </a:r>
            <a:endParaRPr lang="en-US" sz="1440" dirty="0"/>
          </a:p>
        </p:txBody>
      </p:sp>
      <p:sp>
        <p:nvSpPr>
          <p:cNvPr id="39" name="Text 35"/>
          <p:cNvSpPr/>
          <p:nvPr/>
        </p:nvSpPr>
        <p:spPr>
          <a:xfrm>
            <a:off x="1217265" y="4372570"/>
            <a:ext cx="3044952"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KONTEN</a:t>
            </a:r>
            <a:endParaRPr lang="en-US" sz="675" dirty="0"/>
          </a:p>
        </p:txBody>
      </p:sp>
      <p:sp>
        <p:nvSpPr>
          <p:cNvPr id="40" name="Text 36"/>
          <p:cNvSpPr/>
          <p:nvPr/>
        </p:nvSpPr>
        <p:spPr>
          <a:xfrm>
            <a:off x="1217265" y="4505399"/>
            <a:ext cx="3063240"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HAK CIPTA (COPYRIGHT) DALAM DUNIA DIGITAL</a:t>
            </a:r>
            <a:endParaRPr lang="en-US" sz="1020" dirty="0"/>
          </a:p>
        </p:txBody>
      </p:sp>
      <p:sp>
        <p:nvSpPr>
          <p:cNvPr id="41" name="Text 37"/>
          <p:cNvSpPr/>
          <p:nvPr/>
        </p:nvSpPr>
        <p:spPr>
          <a:xfrm>
            <a:off x="609600" y="4860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42" name="Shape 38"/>
          <p:cNvSpPr/>
          <p:nvPr/>
        </p:nvSpPr>
        <p:spPr>
          <a:xfrm>
            <a:off x="609600" y="4860280"/>
            <a:ext cx="0" cy="495300"/>
          </a:xfrm>
          <a:prstGeom prst="line">
            <a:avLst/>
          </a:prstGeom>
          <a:noFill/>
          <a:ln w="28575">
            <a:solidFill>
              <a:srgbClr val="FFFFFF">
                <a:alpha val="5000"/>
              </a:srgbClr>
            </a:solidFill>
            <a:prstDash val="solid"/>
          </a:ln>
        </p:spPr>
      </p:sp>
      <p:sp>
        <p:nvSpPr>
          <p:cNvPr id="43" name="Text 39"/>
          <p:cNvSpPr/>
          <p:nvPr/>
        </p:nvSpPr>
        <p:spPr>
          <a:xfrm>
            <a:off x="789608" y="4969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6A44F2"/>
                </a:solidFill>
                <a:latin typeface="Bebas Neue" pitchFamily="34" charset="0"/>
                <a:ea typeface="Bebas Neue" pitchFamily="34" charset="-122"/>
                <a:cs typeface="Bebas Neue" pitchFamily="34" charset="-120"/>
              </a:rPr>
              <a:t>07</a:t>
            </a:r>
            <a:endParaRPr lang="en-US" sz="1440" dirty="0"/>
          </a:p>
        </p:txBody>
      </p:sp>
      <p:sp>
        <p:nvSpPr>
          <p:cNvPr id="44" name="Text 40"/>
          <p:cNvSpPr/>
          <p:nvPr/>
        </p:nvSpPr>
        <p:spPr>
          <a:xfrm>
            <a:off x="1217265" y="4944070"/>
            <a:ext cx="3438144"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INDUSTRI</a:t>
            </a:r>
            <a:endParaRPr lang="en-US" sz="675" dirty="0"/>
          </a:p>
        </p:txBody>
      </p:sp>
      <p:sp>
        <p:nvSpPr>
          <p:cNvPr id="45" name="Text 41"/>
          <p:cNvSpPr/>
          <p:nvPr/>
        </p:nvSpPr>
        <p:spPr>
          <a:xfrm>
            <a:off x="1217265" y="5076899"/>
            <a:ext cx="3447288"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HAK KEKAYAAN INDUSTRI: PATEN DAN DESAIN INDUSTRI</a:t>
            </a:r>
            <a:endParaRPr lang="en-US" sz="1020" dirty="0"/>
          </a:p>
        </p:txBody>
      </p:sp>
      <p:sp>
        <p:nvSpPr>
          <p:cNvPr id="46" name="Text 42"/>
          <p:cNvSpPr/>
          <p:nvPr/>
        </p:nvSpPr>
        <p:spPr>
          <a:xfrm>
            <a:off x="6286500" y="1431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47" name="Shape 43"/>
          <p:cNvSpPr/>
          <p:nvPr/>
        </p:nvSpPr>
        <p:spPr>
          <a:xfrm>
            <a:off x="6286500" y="1431280"/>
            <a:ext cx="0" cy="495300"/>
          </a:xfrm>
          <a:prstGeom prst="line">
            <a:avLst/>
          </a:prstGeom>
          <a:noFill/>
          <a:ln w="28575">
            <a:solidFill>
              <a:srgbClr val="3D68FF">
                <a:alpha val="30000"/>
              </a:srgbClr>
            </a:solidFill>
            <a:prstDash val="solid"/>
          </a:ln>
        </p:spPr>
      </p:sp>
      <p:sp>
        <p:nvSpPr>
          <p:cNvPr id="48" name="Text 44"/>
          <p:cNvSpPr/>
          <p:nvPr/>
        </p:nvSpPr>
        <p:spPr>
          <a:xfrm>
            <a:off x="6466508" y="1540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08</a:t>
            </a:r>
            <a:endParaRPr lang="en-US" sz="1440" dirty="0"/>
          </a:p>
        </p:txBody>
      </p:sp>
      <p:sp>
        <p:nvSpPr>
          <p:cNvPr id="49" name="Text 45"/>
          <p:cNvSpPr/>
          <p:nvPr/>
        </p:nvSpPr>
        <p:spPr>
          <a:xfrm>
            <a:off x="6894165" y="1515070"/>
            <a:ext cx="3483864"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IDENTITAS</a:t>
            </a:r>
            <a:endParaRPr lang="en-US" sz="675" dirty="0"/>
          </a:p>
        </p:txBody>
      </p:sp>
      <p:sp>
        <p:nvSpPr>
          <p:cNvPr id="50" name="Text 46"/>
          <p:cNvSpPr/>
          <p:nvPr/>
        </p:nvSpPr>
        <p:spPr>
          <a:xfrm>
            <a:off x="6894165" y="1647899"/>
            <a:ext cx="3493008"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PERAN MEREK (TRADEMARK) DALAM BRANDING DIGITAL</a:t>
            </a:r>
            <a:endParaRPr lang="en-US" sz="1020" dirty="0"/>
          </a:p>
        </p:txBody>
      </p:sp>
      <p:sp>
        <p:nvSpPr>
          <p:cNvPr id="51" name="Text 47"/>
          <p:cNvSpPr/>
          <p:nvPr/>
        </p:nvSpPr>
        <p:spPr>
          <a:xfrm>
            <a:off x="6286500" y="2002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52" name="Shape 48"/>
          <p:cNvSpPr/>
          <p:nvPr/>
        </p:nvSpPr>
        <p:spPr>
          <a:xfrm>
            <a:off x="6286500" y="2002780"/>
            <a:ext cx="0" cy="495300"/>
          </a:xfrm>
          <a:prstGeom prst="line">
            <a:avLst/>
          </a:prstGeom>
          <a:noFill/>
          <a:ln w="28575">
            <a:solidFill>
              <a:srgbClr val="3D68FF">
                <a:alpha val="30000"/>
              </a:srgbClr>
            </a:solidFill>
            <a:prstDash val="solid"/>
          </a:ln>
        </p:spPr>
      </p:sp>
      <p:sp>
        <p:nvSpPr>
          <p:cNvPr id="53" name="Text 49"/>
          <p:cNvSpPr/>
          <p:nvPr/>
        </p:nvSpPr>
        <p:spPr>
          <a:xfrm>
            <a:off x="6466508" y="2112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09</a:t>
            </a:r>
            <a:endParaRPr lang="en-US" sz="1440" dirty="0"/>
          </a:p>
        </p:txBody>
      </p:sp>
      <p:sp>
        <p:nvSpPr>
          <p:cNvPr id="54" name="Text 50"/>
          <p:cNvSpPr/>
          <p:nvPr/>
        </p:nvSpPr>
        <p:spPr>
          <a:xfrm>
            <a:off x="6894165" y="2086570"/>
            <a:ext cx="2487168"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PROSEDUR</a:t>
            </a:r>
            <a:endParaRPr lang="en-US" sz="675" dirty="0"/>
          </a:p>
        </p:txBody>
      </p:sp>
      <p:sp>
        <p:nvSpPr>
          <p:cNvPr id="55" name="Text 51"/>
          <p:cNvSpPr/>
          <p:nvPr/>
        </p:nvSpPr>
        <p:spPr>
          <a:xfrm>
            <a:off x="6894165" y="2219399"/>
            <a:ext cx="2496312"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STRATEGI PENDAFTARAN MEREK DI DJKI</a:t>
            </a:r>
            <a:endParaRPr lang="en-US" sz="1020" dirty="0"/>
          </a:p>
        </p:txBody>
      </p:sp>
      <p:sp>
        <p:nvSpPr>
          <p:cNvPr id="56" name="Text 52"/>
          <p:cNvSpPr/>
          <p:nvPr/>
        </p:nvSpPr>
        <p:spPr>
          <a:xfrm>
            <a:off x="6286500" y="2574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57" name="Shape 53"/>
          <p:cNvSpPr/>
          <p:nvPr/>
        </p:nvSpPr>
        <p:spPr>
          <a:xfrm>
            <a:off x="6286500" y="2574280"/>
            <a:ext cx="0" cy="495300"/>
          </a:xfrm>
          <a:prstGeom prst="line">
            <a:avLst/>
          </a:prstGeom>
          <a:noFill/>
          <a:ln w="28575">
            <a:solidFill>
              <a:srgbClr val="3D68FF">
                <a:alpha val="30000"/>
              </a:srgbClr>
            </a:solidFill>
            <a:prstDash val="solid"/>
          </a:ln>
        </p:spPr>
      </p:sp>
      <p:sp>
        <p:nvSpPr>
          <p:cNvPr id="58" name="Text 54"/>
          <p:cNvSpPr/>
          <p:nvPr/>
        </p:nvSpPr>
        <p:spPr>
          <a:xfrm>
            <a:off x="6466508" y="2683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10</a:t>
            </a:r>
            <a:endParaRPr lang="en-US" sz="1440" dirty="0"/>
          </a:p>
        </p:txBody>
      </p:sp>
      <p:sp>
        <p:nvSpPr>
          <p:cNvPr id="59" name="Text 55"/>
          <p:cNvSpPr/>
          <p:nvPr/>
        </p:nvSpPr>
        <p:spPr>
          <a:xfrm>
            <a:off x="6894165" y="2658070"/>
            <a:ext cx="3566160"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KERAHASIAAN</a:t>
            </a:r>
            <a:endParaRPr lang="en-US" sz="675" dirty="0"/>
          </a:p>
        </p:txBody>
      </p:sp>
      <p:sp>
        <p:nvSpPr>
          <p:cNvPr id="60" name="Text 56"/>
          <p:cNvSpPr/>
          <p:nvPr/>
        </p:nvSpPr>
        <p:spPr>
          <a:xfrm>
            <a:off x="6894165" y="2790899"/>
            <a:ext cx="3575304"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RAHASIA DAGANG (TRADE SECRETS) UNTUK TEKNOLOGI</a:t>
            </a:r>
            <a:endParaRPr lang="en-US" sz="1020" dirty="0"/>
          </a:p>
        </p:txBody>
      </p:sp>
      <p:sp>
        <p:nvSpPr>
          <p:cNvPr id="61" name="Text 57"/>
          <p:cNvSpPr/>
          <p:nvPr/>
        </p:nvSpPr>
        <p:spPr>
          <a:xfrm>
            <a:off x="6286500" y="3145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62" name="Shape 58"/>
          <p:cNvSpPr/>
          <p:nvPr/>
        </p:nvSpPr>
        <p:spPr>
          <a:xfrm>
            <a:off x="6286500" y="3145780"/>
            <a:ext cx="0" cy="495300"/>
          </a:xfrm>
          <a:prstGeom prst="line">
            <a:avLst/>
          </a:prstGeom>
          <a:noFill/>
          <a:ln w="28575">
            <a:solidFill>
              <a:srgbClr val="3D68FF">
                <a:alpha val="30000"/>
              </a:srgbClr>
            </a:solidFill>
            <a:prstDash val="solid"/>
          </a:ln>
        </p:spPr>
      </p:sp>
      <p:sp>
        <p:nvSpPr>
          <p:cNvPr id="63" name="Text 59"/>
          <p:cNvSpPr/>
          <p:nvPr/>
        </p:nvSpPr>
        <p:spPr>
          <a:xfrm>
            <a:off x="6466508" y="3255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11</a:t>
            </a:r>
            <a:endParaRPr lang="en-US" sz="1440" dirty="0"/>
          </a:p>
        </p:txBody>
      </p:sp>
      <p:sp>
        <p:nvSpPr>
          <p:cNvPr id="64" name="Text 60"/>
          <p:cNvSpPr/>
          <p:nvPr/>
        </p:nvSpPr>
        <p:spPr>
          <a:xfrm>
            <a:off x="6894165" y="3229570"/>
            <a:ext cx="3200400"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DATA</a:t>
            </a:r>
            <a:endParaRPr lang="en-US" sz="675" dirty="0"/>
          </a:p>
        </p:txBody>
      </p:sp>
      <p:sp>
        <p:nvSpPr>
          <p:cNvPr id="65" name="Text 61"/>
          <p:cNvSpPr/>
          <p:nvPr/>
        </p:nvSpPr>
        <p:spPr>
          <a:xfrm>
            <a:off x="6894165" y="3362399"/>
            <a:ext cx="3218688"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MELINDUNGI BASIS DATA PELANGGAN (DATABASE)</a:t>
            </a:r>
            <a:endParaRPr lang="en-US" sz="1020" dirty="0"/>
          </a:p>
        </p:txBody>
      </p:sp>
      <p:sp>
        <p:nvSpPr>
          <p:cNvPr id="66" name="Text 62"/>
          <p:cNvSpPr/>
          <p:nvPr/>
        </p:nvSpPr>
        <p:spPr>
          <a:xfrm>
            <a:off x="6286500" y="3717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67" name="Shape 63"/>
          <p:cNvSpPr/>
          <p:nvPr/>
        </p:nvSpPr>
        <p:spPr>
          <a:xfrm>
            <a:off x="6286500" y="3717280"/>
            <a:ext cx="0" cy="495300"/>
          </a:xfrm>
          <a:prstGeom prst="line">
            <a:avLst/>
          </a:prstGeom>
          <a:noFill/>
          <a:ln w="28575">
            <a:solidFill>
              <a:srgbClr val="3D68FF">
                <a:alpha val="30000"/>
              </a:srgbClr>
            </a:solidFill>
            <a:prstDash val="solid"/>
          </a:ln>
        </p:spPr>
      </p:sp>
      <p:sp>
        <p:nvSpPr>
          <p:cNvPr id="68" name="Text 64"/>
          <p:cNvSpPr/>
          <p:nvPr/>
        </p:nvSpPr>
        <p:spPr>
          <a:xfrm>
            <a:off x="6466508" y="3826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12</a:t>
            </a:r>
            <a:endParaRPr lang="en-US" sz="1440" dirty="0"/>
          </a:p>
        </p:txBody>
      </p:sp>
      <p:sp>
        <p:nvSpPr>
          <p:cNvPr id="69" name="Text 65"/>
          <p:cNvSpPr/>
          <p:nvPr/>
        </p:nvSpPr>
        <p:spPr>
          <a:xfrm>
            <a:off x="6894165" y="3801070"/>
            <a:ext cx="3099816"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ANALISIS</a:t>
            </a:r>
            <a:endParaRPr lang="en-US" sz="675" dirty="0"/>
          </a:p>
        </p:txBody>
      </p:sp>
      <p:sp>
        <p:nvSpPr>
          <p:cNvPr id="70" name="Text 66"/>
          <p:cNvSpPr/>
          <p:nvPr/>
        </p:nvSpPr>
        <p:spPr>
          <a:xfrm>
            <a:off x="6894165" y="3933899"/>
            <a:ext cx="3108960"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STUDI KASUS: SENGKETA MEREK DI MARKETPLACE</a:t>
            </a:r>
            <a:endParaRPr lang="en-US" sz="1020" dirty="0"/>
          </a:p>
        </p:txBody>
      </p:sp>
      <p:sp>
        <p:nvSpPr>
          <p:cNvPr id="71" name="Text 67"/>
          <p:cNvSpPr/>
          <p:nvPr/>
        </p:nvSpPr>
        <p:spPr>
          <a:xfrm>
            <a:off x="6286500" y="42887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72" name="Shape 68"/>
          <p:cNvSpPr/>
          <p:nvPr/>
        </p:nvSpPr>
        <p:spPr>
          <a:xfrm>
            <a:off x="6286500" y="4288780"/>
            <a:ext cx="0" cy="495300"/>
          </a:xfrm>
          <a:prstGeom prst="line">
            <a:avLst/>
          </a:prstGeom>
          <a:noFill/>
          <a:ln w="28575">
            <a:solidFill>
              <a:srgbClr val="3D68FF">
                <a:alpha val="30000"/>
              </a:srgbClr>
            </a:solidFill>
            <a:prstDash val="solid"/>
          </a:ln>
        </p:spPr>
      </p:sp>
      <p:sp>
        <p:nvSpPr>
          <p:cNvPr id="73" name="Text 69"/>
          <p:cNvSpPr/>
          <p:nvPr/>
        </p:nvSpPr>
        <p:spPr>
          <a:xfrm>
            <a:off x="6466508" y="43982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13</a:t>
            </a:r>
            <a:endParaRPr lang="en-US" sz="1440" dirty="0"/>
          </a:p>
        </p:txBody>
      </p:sp>
      <p:sp>
        <p:nvSpPr>
          <p:cNvPr id="74" name="Text 70"/>
          <p:cNvSpPr/>
          <p:nvPr/>
        </p:nvSpPr>
        <p:spPr>
          <a:xfrm>
            <a:off x="6894165" y="4372570"/>
            <a:ext cx="2944368"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MITIGASI</a:t>
            </a:r>
            <a:endParaRPr lang="en-US" sz="675" dirty="0"/>
          </a:p>
        </p:txBody>
      </p:sp>
      <p:sp>
        <p:nvSpPr>
          <p:cNvPr id="75" name="Text 71"/>
          <p:cNvSpPr/>
          <p:nvPr/>
        </p:nvSpPr>
        <p:spPr>
          <a:xfrm>
            <a:off x="6894165" y="4505399"/>
            <a:ext cx="2953512"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STRATEGI MITIGASI RISIKO PELANGGARAN HAKI</a:t>
            </a:r>
            <a:endParaRPr lang="en-US" sz="1020" dirty="0"/>
          </a:p>
        </p:txBody>
      </p:sp>
      <p:sp>
        <p:nvSpPr>
          <p:cNvPr id="76" name="Text 72"/>
          <p:cNvSpPr/>
          <p:nvPr/>
        </p:nvSpPr>
        <p:spPr>
          <a:xfrm>
            <a:off x="6286500" y="4860280"/>
            <a:ext cx="5295900" cy="495300"/>
          </a:xfrm>
          <a:prstGeom prst="rect">
            <a:avLst/>
          </a:prstGeom>
          <a:solidFill>
            <a:srgbClr val="FFFFFF">
              <a:alpha val="2000"/>
            </a:srgbClr>
          </a:solidFill>
          <a:ln/>
        </p:spPr>
        <p:txBody>
          <a:bodyPr wrap="square" rtlCol="0" anchor="ctr"/>
          <a:lstStyle/>
          <a:p>
            <a:pPr marL="0" indent="0">
              <a:buNone/>
            </a:pPr>
            <a:endParaRPr lang="en-US" dirty="0"/>
          </a:p>
        </p:txBody>
      </p:sp>
      <p:sp>
        <p:nvSpPr>
          <p:cNvPr id="77" name="Shape 73"/>
          <p:cNvSpPr/>
          <p:nvPr/>
        </p:nvSpPr>
        <p:spPr>
          <a:xfrm>
            <a:off x="6286500" y="4860280"/>
            <a:ext cx="0" cy="495300"/>
          </a:xfrm>
          <a:prstGeom prst="line">
            <a:avLst/>
          </a:prstGeom>
          <a:noFill/>
          <a:ln w="28575">
            <a:solidFill>
              <a:srgbClr val="3D68FF">
                <a:alpha val="30000"/>
              </a:srgbClr>
            </a:solidFill>
            <a:prstDash val="solid"/>
          </a:ln>
        </p:spPr>
      </p:sp>
      <p:sp>
        <p:nvSpPr>
          <p:cNvPr id="78" name="Text 74"/>
          <p:cNvSpPr/>
          <p:nvPr/>
        </p:nvSpPr>
        <p:spPr>
          <a:xfrm>
            <a:off x="6466508" y="4969743"/>
            <a:ext cx="329184" cy="310896"/>
          </a:xfrm>
          <a:prstGeom prst="rect">
            <a:avLst/>
          </a:prstGeom>
          <a:noFill/>
          <a:ln/>
        </p:spPr>
        <p:txBody>
          <a:bodyPr vert="horz" wrap="none" lIns="0" tIns="0" rIns="0" bIns="0" rtlCol="0" anchor="t">
            <a:normAutofit/>
          </a:bodyPr>
          <a:lstStyle/>
          <a:p>
            <a:pPr marL="0" indent="0" algn="l">
              <a:lnSpc>
                <a:spcPts val="2160"/>
              </a:lnSpc>
              <a:buNone/>
            </a:pPr>
            <a:r>
              <a:rPr lang="en-US" sz="1440" b="1" i="1" dirty="0">
                <a:solidFill>
                  <a:srgbClr val="3D68FF"/>
                </a:solidFill>
                <a:latin typeface="Bebas Neue" pitchFamily="34" charset="0"/>
                <a:ea typeface="Bebas Neue" pitchFamily="34" charset="-122"/>
                <a:cs typeface="Bebas Neue" pitchFamily="34" charset="-120"/>
              </a:rPr>
              <a:t>14</a:t>
            </a:r>
            <a:endParaRPr lang="en-US" sz="1440" dirty="0"/>
          </a:p>
        </p:txBody>
      </p:sp>
      <p:sp>
        <p:nvSpPr>
          <p:cNvPr id="79" name="Text 75"/>
          <p:cNvSpPr/>
          <p:nvPr/>
        </p:nvSpPr>
        <p:spPr>
          <a:xfrm>
            <a:off x="6894165" y="4944070"/>
            <a:ext cx="2633472" cy="164592"/>
          </a:xfrm>
          <a:prstGeom prst="rect">
            <a:avLst/>
          </a:prstGeom>
          <a:noFill/>
          <a:ln/>
        </p:spPr>
        <p:txBody>
          <a:bodyPr vert="horz" wrap="none" lIns="0" tIns="0" rIns="0" bIns="0" rtlCol="0" anchor="t">
            <a:normAutofit/>
          </a:bodyPr>
          <a:lstStyle/>
          <a:p>
            <a:pPr marL="0" indent="0" algn="l">
              <a:lnSpc>
                <a:spcPts val="1013"/>
              </a:lnSpc>
              <a:buNone/>
            </a:pPr>
            <a:r>
              <a:rPr lang="en-US" sz="675" kern="0" spc="30" dirty="0">
                <a:solidFill>
                  <a:srgbClr val="9CA3AF"/>
                </a:solidFill>
                <a:latin typeface="Poppins" pitchFamily="34" charset="0"/>
                <a:ea typeface="Poppins" pitchFamily="34" charset="-122"/>
                <a:cs typeface="Poppins" pitchFamily="34" charset="-120"/>
              </a:rPr>
              <a:t>PENUTUP</a:t>
            </a:r>
            <a:endParaRPr lang="en-US" sz="675" dirty="0"/>
          </a:p>
        </p:txBody>
      </p:sp>
      <p:sp>
        <p:nvSpPr>
          <p:cNvPr id="80" name="Text 76"/>
          <p:cNvSpPr/>
          <p:nvPr/>
        </p:nvSpPr>
        <p:spPr>
          <a:xfrm>
            <a:off x="6894165" y="5076899"/>
            <a:ext cx="2642616" cy="219456"/>
          </a:xfrm>
          <a:prstGeom prst="rect">
            <a:avLst/>
          </a:prstGeom>
          <a:noFill/>
          <a:ln/>
        </p:spPr>
        <p:txBody>
          <a:bodyPr vert="horz" wrap="none" lIns="0" tIns="0" rIns="0" bIns="0" rtlCol="0" anchor="t">
            <a:normAutofit/>
          </a:bodyPr>
          <a:lstStyle/>
          <a:p>
            <a:pPr marL="0" indent="0" algn="l">
              <a:lnSpc>
                <a:spcPts val="1530"/>
              </a:lnSpc>
              <a:buNone/>
            </a:pPr>
            <a:r>
              <a:rPr lang="en-US" sz="1020" dirty="0">
                <a:solidFill>
                  <a:srgbClr val="FFFFFF"/>
                </a:solidFill>
                <a:latin typeface="Poppins" pitchFamily="34" charset="0"/>
                <a:ea typeface="Poppins" pitchFamily="34" charset="-122"/>
                <a:cs typeface="Poppins" pitchFamily="34" charset="-120"/>
              </a:rPr>
              <a:t>KESIMPULAN DAN LANGKAH SELANJUTNYA</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3223355" y="609600"/>
            <a:ext cx="5925312" cy="758952"/>
          </a:xfrm>
          <a:prstGeom prst="rect">
            <a:avLst/>
          </a:prstGeom>
          <a:noFill/>
          <a:ln/>
        </p:spPr>
        <p:txBody>
          <a:bodyPr vert="horz" wrap="none" lIns="0" tIns="0" rIns="0" bIns="0" rtlCol="0" anchor="t">
            <a:normAutofit/>
          </a:bodyPr>
          <a:lstStyle/>
          <a:p>
            <a:pPr marL="0" indent="0" algn="ctr">
              <a:lnSpc>
                <a:spcPts val="5400"/>
              </a:lnSpc>
              <a:buNone/>
            </a:pPr>
            <a:r>
              <a:rPr lang="en-US" sz="5400" b="1" kern="0" spc="-270" dirty="0">
                <a:solidFill>
                  <a:srgbClr val="FFFFFF"/>
                </a:solidFill>
                <a:latin typeface="Bebas Neue" pitchFamily="34" charset="0"/>
                <a:ea typeface="Bebas Neue" pitchFamily="34" charset="-122"/>
                <a:cs typeface="Bebas Neue" pitchFamily="34" charset="-120"/>
              </a:rPr>
              <a:t>AGENDA PERTEMUAN </a:t>
            </a:r>
            <a:r>
              <a:rPr lang="en-US" sz="5400" b="1" kern="0" spc="-270" dirty="0">
                <a:solidFill>
                  <a:srgbClr val="3D68FF"/>
                </a:solidFill>
                <a:latin typeface="Bebas Neue" pitchFamily="34" charset="0"/>
                <a:ea typeface="Bebas Neue" pitchFamily="34" charset="-122"/>
                <a:cs typeface="Bebas Neue" pitchFamily="34" charset="-120"/>
              </a:rPr>
              <a:t>HARI INI</a:t>
            </a:r>
            <a:endParaRPr lang="en-US" sz="5400" dirty="0"/>
          </a:p>
        </p:txBody>
      </p:sp>
      <p:sp>
        <p:nvSpPr>
          <p:cNvPr id="6" name="Text 2"/>
          <p:cNvSpPr/>
          <p:nvPr/>
        </p:nvSpPr>
        <p:spPr>
          <a:xfrm>
            <a:off x="3282255" y="1595438"/>
            <a:ext cx="762000" cy="9525"/>
          </a:xfrm>
          <a:prstGeom prst="rect">
            <a:avLst/>
          </a:prstGeom>
          <a:solidFill>
            <a:srgbClr val="3D68FF"/>
          </a:solidFill>
          <a:ln/>
        </p:spPr>
        <p:txBody>
          <a:bodyPr wrap="square" rtlCol="0" anchor="ctr"/>
          <a:lstStyle/>
          <a:p>
            <a:pPr marL="0" indent="0">
              <a:buNone/>
            </a:pPr>
            <a:endParaRPr lang="en-US" dirty="0"/>
          </a:p>
        </p:txBody>
      </p:sp>
      <p:sp>
        <p:nvSpPr>
          <p:cNvPr id="7" name="Text 3"/>
          <p:cNvSpPr/>
          <p:nvPr/>
        </p:nvSpPr>
        <p:spPr>
          <a:xfrm>
            <a:off x="4157472" y="1524000"/>
            <a:ext cx="3913632" cy="182880"/>
          </a:xfrm>
          <a:prstGeom prst="rect">
            <a:avLst/>
          </a:prstGeom>
          <a:noFill/>
          <a:ln/>
        </p:spPr>
        <p:txBody>
          <a:bodyPr vert="horz" wrap="none" lIns="0" tIns="0" rIns="0" bIns="0" rtlCol="0" anchor="t">
            <a:normAutofit/>
          </a:bodyPr>
          <a:lstStyle/>
          <a:p>
            <a:pPr marL="0" indent="0" algn="ctr">
              <a:lnSpc>
                <a:spcPts val="1200"/>
              </a:lnSpc>
              <a:buNone/>
            </a:pPr>
            <a:r>
              <a:rPr lang="en-US" sz="900" kern="0" spc="360" dirty="0">
                <a:solidFill>
                  <a:srgbClr val="9CA3AF"/>
                </a:solidFill>
                <a:latin typeface="Poppins" pitchFamily="34" charset="0"/>
                <a:ea typeface="Poppins" pitchFamily="34" charset="-122"/>
                <a:cs typeface="Poppins" pitchFamily="34" charset="-120"/>
              </a:rPr>
              <a:t>SESI PENGANTAR HAKI &amp; BISNIS DIGITAL</a:t>
            </a:r>
            <a:endParaRPr lang="en-US" sz="900" dirty="0"/>
          </a:p>
        </p:txBody>
      </p:sp>
      <p:sp>
        <p:nvSpPr>
          <p:cNvPr id="8" name="Text 4"/>
          <p:cNvSpPr/>
          <p:nvPr/>
        </p:nvSpPr>
        <p:spPr>
          <a:xfrm>
            <a:off x="8147745" y="1595438"/>
            <a:ext cx="762000" cy="9525"/>
          </a:xfrm>
          <a:prstGeom prst="rect">
            <a:avLst/>
          </a:prstGeom>
          <a:solidFill>
            <a:srgbClr val="3D68FF"/>
          </a:solidFill>
          <a:ln/>
        </p:spPr>
        <p:txBody>
          <a:bodyPr wrap="square" rtlCol="0" anchor="ctr"/>
          <a:lstStyle/>
          <a:p>
            <a:pPr marL="0" indent="0">
              <a:buNone/>
            </a:pPr>
            <a:endParaRPr lang="en-US" dirty="0"/>
          </a:p>
        </p:txBody>
      </p:sp>
      <p:sp>
        <p:nvSpPr>
          <p:cNvPr id="9" name="Text 5"/>
          <p:cNvSpPr/>
          <p:nvPr/>
        </p:nvSpPr>
        <p:spPr>
          <a:xfrm>
            <a:off x="762000" y="2362200"/>
            <a:ext cx="5181600" cy="2447925"/>
          </a:xfrm>
          <a:prstGeom prst="roundRect">
            <a:avLst>
              <a:gd name="adj" fmla="val 933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0" name="Text 6"/>
          <p:cNvSpPr/>
          <p:nvPr/>
        </p:nvSpPr>
        <p:spPr>
          <a:xfrm>
            <a:off x="1151334" y="2752725"/>
            <a:ext cx="2487168"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3D68FF"/>
                </a:solidFill>
                <a:latin typeface="Poppins" pitchFamily="34" charset="0"/>
                <a:ea typeface="Poppins" pitchFamily="34" charset="-122"/>
                <a:cs typeface="Poppins" pitchFamily="34" charset="-120"/>
              </a:rPr>
              <a:t>PENGANTAR SINKRON</a:t>
            </a:r>
            <a:endParaRPr lang="en-US" sz="1050" dirty="0"/>
          </a:p>
        </p:txBody>
      </p:sp>
      <p:sp>
        <p:nvSpPr>
          <p:cNvPr id="11" name="Text 7"/>
          <p:cNvSpPr/>
          <p:nvPr/>
        </p:nvSpPr>
        <p:spPr>
          <a:xfrm>
            <a:off x="1151334" y="2981325"/>
            <a:ext cx="2523744"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SELAMAT DATANG DI SESI HAKI</a:t>
            </a:r>
            <a:endParaRPr lang="en-US" sz="2250" dirty="0"/>
          </a:p>
        </p:txBody>
      </p:sp>
      <p:sp>
        <p:nvSpPr>
          <p:cNvPr id="12" name="Text 8"/>
          <p:cNvSpPr/>
          <p:nvPr/>
        </p:nvSpPr>
        <p:spPr>
          <a:xfrm>
            <a:off x="5095875" y="2752725"/>
            <a:ext cx="457200" cy="457200"/>
          </a:xfrm>
          <a:prstGeom prst="roundRect">
            <a:avLst>
              <a:gd name="adj" fmla="val 25000"/>
            </a:avLst>
          </a:prstGeom>
          <a:solidFill>
            <a:srgbClr val="3D68FF">
              <a:alpha val="10000"/>
            </a:srgbClr>
          </a:solidFill>
          <a:ln/>
        </p:spPr>
        <p:txBody>
          <a:bodyPr wrap="square" rtlCol="0" anchor="ctr"/>
          <a:lstStyle/>
          <a:p>
            <a:pPr marL="0" indent="0">
              <a:buNone/>
            </a:pPr>
            <a:endParaRPr lang="en-US" dirty="0"/>
          </a:p>
        </p:txBody>
      </p:sp>
      <p:pic>
        <p:nvPicPr>
          <p:cNvPr id="13" name="Image 2" descr="image.png"/>
          <p:cNvPicPr>
            <a:picLocks noChangeAspect="1"/>
          </p:cNvPicPr>
          <p:nvPr/>
        </p:nvPicPr>
        <p:blipFill>
          <a:blip r:embed="rId5"/>
          <a:srcRect/>
          <a:stretch/>
        </p:blipFill>
        <p:spPr>
          <a:xfrm>
            <a:off x="5205413" y="2847975"/>
            <a:ext cx="238125" cy="266700"/>
          </a:xfrm>
          <a:prstGeom prst="rect">
            <a:avLst/>
          </a:prstGeom>
        </p:spPr>
      </p:pic>
      <p:sp>
        <p:nvSpPr>
          <p:cNvPr id="14" name="Text 9"/>
          <p:cNvSpPr/>
          <p:nvPr/>
        </p:nvSpPr>
        <p:spPr>
          <a:xfrm>
            <a:off x="1152525" y="3552825"/>
            <a:ext cx="4434840"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Fokus utama sesi ini adalah menguasai perlindungan kekayaan intelektual sebagai aset strategis dalam ekosistem bisnis digital modern. Pahami bagaimana HAKI melindungi inovasi Anda di pasar yang kompetitif.</a:t>
            </a:r>
            <a:endParaRPr lang="en-US" sz="1050" dirty="0"/>
          </a:p>
        </p:txBody>
      </p:sp>
      <p:sp>
        <p:nvSpPr>
          <p:cNvPr id="15" name="Text 10"/>
          <p:cNvSpPr/>
          <p:nvPr/>
        </p:nvSpPr>
        <p:spPr>
          <a:xfrm>
            <a:off x="6248400" y="2362200"/>
            <a:ext cx="5181600" cy="2447925"/>
          </a:xfrm>
          <a:prstGeom prst="roundRect">
            <a:avLst>
              <a:gd name="adj" fmla="val 933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6" name="Text 11"/>
          <p:cNvSpPr/>
          <p:nvPr/>
        </p:nvSpPr>
        <p:spPr>
          <a:xfrm>
            <a:off x="6638925" y="2752725"/>
            <a:ext cx="2441448"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3D68FF"/>
                </a:solidFill>
                <a:latin typeface="Poppins" pitchFamily="34" charset="0"/>
                <a:ea typeface="Poppins" pitchFamily="34" charset="-122"/>
                <a:cs typeface="Poppins" pitchFamily="34" charset="-120"/>
              </a:rPr>
              <a:t>SILABUS MATERI</a:t>
            </a:r>
            <a:endParaRPr lang="en-US" sz="1050" dirty="0"/>
          </a:p>
        </p:txBody>
      </p:sp>
      <p:sp>
        <p:nvSpPr>
          <p:cNvPr id="17" name="Text 12"/>
          <p:cNvSpPr/>
          <p:nvPr/>
        </p:nvSpPr>
        <p:spPr>
          <a:xfrm>
            <a:off x="6638925" y="2981325"/>
            <a:ext cx="2478024"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GAMBARAN LIMA POIN UTAMA</a:t>
            </a:r>
            <a:endParaRPr lang="en-US" sz="2250" dirty="0"/>
          </a:p>
        </p:txBody>
      </p:sp>
      <p:sp>
        <p:nvSpPr>
          <p:cNvPr id="18" name="Text 13"/>
          <p:cNvSpPr/>
          <p:nvPr/>
        </p:nvSpPr>
        <p:spPr>
          <a:xfrm>
            <a:off x="10582275" y="2752725"/>
            <a:ext cx="457200" cy="457200"/>
          </a:xfrm>
          <a:prstGeom prst="roundRect">
            <a:avLst>
              <a:gd name="adj" fmla="val 25000"/>
            </a:avLst>
          </a:prstGeom>
          <a:solidFill>
            <a:srgbClr val="3D68FF">
              <a:alpha val="10000"/>
            </a:srgbClr>
          </a:solidFill>
          <a:ln/>
        </p:spPr>
        <p:txBody>
          <a:bodyPr wrap="square" rtlCol="0" anchor="ctr"/>
          <a:lstStyle/>
          <a:p>
            <a:pPr marL="0" indent="0">
              <a:buNone/>
            </a:pPr>
            <a:endParaRPr lang="en-US" dirty="0"/>
          </a:p>
        </p:txBody>
      </p:sp>
      <p:pic>
        <p:nvPicPr>
          <p:cNvPr id="19" name="Image 3" descr="image.png"/>
          <p:cNvPicPr>
            <a:picLocks noChangeAspect="1"/>
          </p:cNvPicPr>
          <p:nvPr/>
        </p:nvPicPr>
        <p:blipFill>
          <a:blip r:embed="rId6"/>
          <a:srcRect/>
          <a:stretch/>
        </p:blipFill>
        <p:spPr>
          <a:xfrm>
            <a:off x="10715625" y="2847975"/>
            <a:ext cx="190500" cy="266700"/>
          </a:xfrm>
          <a:prstGeom prst="rect">
            <a:avLst/>
          </a:prstGeom>
        </p:spPr>
      </p:pic>
      <p:sp>
        <p:nvSpPr>
          <p:cNvPr id="20" name="Text 14"/>
          <p:cNvSpPr/>
          <p:nvPr/>
        </p:nvSpPr>
        <p:spPr>
          <a:xfrm>
            <a:off x="6638925" y="3552825"/>
            <a:ext cx="4434840"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Mencakup filosofi hak moral/ekonomi, klasifikasi HAKI, pendaftaran merek di DJKI, rahasia dagang untuk algoritma, serta studi kasus sengketa marketplace yang relevan dengan industri saat ini.</a:t>
            </a:r>
            <a:endParaRPr lang="en-US" sz="1050" dirty="0"/>
          </a:p>
        </p:txBody>
      </p:sp>
      <p:sp>
        <p:nvSpPr>
          <p:cNvPr id="21" name="Text 15"/>
          <p:cNvSpPr/>
          <p:nvPr/>
        </p:nvSpPr>
        <p:spPr>
          <a:xfrm>
            <a:off x="6210300" y="5114925"/>
            <a:ext cx="76200" cy="762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
        <p:nvSpPr>
          <p:cNvPr id="22" name="Text 16"/>
          <p:cNvSpPr/>
          <p:nvPr/>
        </p:nvSpPr>
        <p:spPr>
          <a:xfrm>
            <a:off x="6362700" y="5114925"/>
            <a:ext cx="76200" cy="762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2329815" y="609600"/>
            <a:ext cx="7680960" cy="630936"/>
          </a:xfrm>
          <a:prstGeom prst="rect">
            <a:avLst/>
          </a:prstGeom>
          <a:noFill/>
          <a:ln/>
        </p:spPr>
        <p:txBody>
          <a:bodyPr vert="horz" wrap="none" lIns="0" tIns="0" rIns="0" bIns="0" rtlCol="0" anchor="t">
            <a:normAutofit/>
          </a:bodyPr>
          <a:lstStyle/>
          <a:p>
            <a:pPr marL="0" indent="0" algn="ctr">
              <a:lnSpc>
                <a:spcPts val="4500"/>
              </a:lnSpc>
              <a:buNone/>
            </a:pPr>
            <a:r>
              <a:rPr lang="en-US" sz="4500" b="1" kern="0" spc="-230" dirty="0">
                <a:solidFill>
                  <a:srgbClr val="FFFFFF"/>
                </a:solidFill>
                <a:latin typeface="Bebas Neue" pitchFamily="34" charset="0"/>
                <a:ea typeface="Bebas Neue" pitchFamily="34" charset="-122"/>
                <a:cs typeface="Bebas Neue" pitchFamily="34" charset="-120"/>
              </a:rPr>
              <a:t>PENTINGNYA HAKI SEBAGAI </a:t>
            </a:r>
            <a:r>
              <a:rPr lang="en-US" sz="4500" b="1" kern="0" spc="-230" dirty="0">
                <a:solidFill>
                  <a:srgbClr val="3D68FF"/>
                </a:solidFill>
                <a:latin typeface="Bebas Neue" pitchFamily="34" charset="0"/>
                <a:ea typeface="Bebas Neue" pitchFamily="34" charset="-122"/>
                <a:cs typeface="Bebas Neue" pitchFamily="34" charset="-120"/>
              </a:rPr>
              <a:t>ASET STRATEGIS BISNIS</a:t>
            </a:r>
            <a:endParaRPr lang="en-US" sz="4500" dirty="0"/>
          </a:p>
        </p:txBody>
      </p:sp>
      <p:sp>
        <p:nvSpPr>
          <p:cNvPr id="6" name="Text 2"/>
          <p:cNvSpPr/>
          <p:nvPr/>
        </p:nvSpPr>
        <p:spPr>
          <a:xfrm>
            <a:off x="762000" y="1790700"/>
            <a:ext cx="10668000" cy="2000250"/>
          </a:xfrm>
          <a:prstGeom prst="roundRect">
            <a:avLst>
              <a:gd name="adj" fmla="val 9524"/>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7" name="Image 2" descr="image.png"/>
          <p:cNvPicPr>
            <a:picLocks noChangeAspect="1"/>
          </p:cNvPicPr>
          <p:nvPr/>
        </p:nvPicPr>
        <p:blipFill>
          <a:blip r:embed="rId5"/>
          <a:srcRect/>
          <a:stretch/>
        </p:blipFill>
        <p:spPr>
          <a:xfrm>
            <a:off x="1162050" y="2190750"/>
            <a:ext cx="1809750" cy="1200150"/>
          </a:xfrm>
          <a:prstGeom prst="rect">
            <a:avLst/>
          </a:prstGeom>
        </p:spPr>
      </p:pic>
      <p:sp>
        <p:nvSpPr>
          <p:cNvPr id="8" name="Text 3"/>
          <p:cNvSpPr/>
          <p:nvPr/>
        </p:nvSpPr>
        <p:spPr>
          <a:xfrm>
            <a:off x="3362325" y="2231231"/>
            <a:ext cx="2295144" cy="338328"/>
          </a:xfrm>
          <a:prstGeom prst="rect">
            <a:avLst/>
          </a:prstGeom>
          <a:noFill/>
          <a:ln/>
        </p:spPr>
        <p:txBody>
          <a:bodyPr vert="horz" wrap="none" lIns="0" tIns="0" rIns="0" bIns="0" rtlCol="0" anchor="t">
            <a:normAutofit/>
          </a:bodyPr>
          <a:lstStyle/>
          <a:p>
            <a:pPr marL="0" indent="0" algn="l">
              <a:lnSpc>
                <a:spcPts val="2400"/>
              </a:lnSpc>
              <a:buNone/>
            </a:pPr>
            <a:r>
              <a:rPr lang="en-US" sz="1800" b="1" dirty="0">
                <a:solidFill>
                  <a:srgbClr val="FFFFFF"/>
                </a:solidFill>
                <a:latin typeface="Bebas Neue" pitchFamily="34" charset="0"/>
                <a:ea typeface="Bebas Neue" pitchFamily="34" charset="-122"/>
                <a:cs typeface="Bebas Neue" pitchFamily="34" charset="-120"/>
              </a:rPr>
              <a:t>PERLINDUNGAN INOVASI DIGITAL</a:t>
            </a:r>
            <a:endParaRPr lang="en-US" sz="1800" dirty="0"/>
          </a:p>
        </p:txBody>
      </p:sp>
      <p:sp>
        <p:nvSpPr>
          <p:cNvPr id="9" name="Text 4"/>
          <p:cNvSpPr/>
          <p:nvPr/>
        </p:nvSpPr>
        <p:spPr>
          <a:xfrm>
            <a:off x="10086603" y="2326481"/>
            <a:ext cx="1005840" cy="219456"/>
          </a:xfrm>
          <a:prstGeom prst="rect">
            <a:avLst/>
          </a:prstGeom>
          <a:noFill/>
          <a:ln/>
        </p:spPr>
        <p:txBody>
          <a:bodyPr vert="horz" wrap="none" lIns="0" tIns="0" rIns="0" bIns="0" rtlCol="0" anchor="t">
            <a:normAutofit/>
          </a:bodyPr>
          <a:lstStyle/>
          <a:p>
            <a:pPr marL="0" indent="0" algn="l">
              <a:lnSpc>
                <a:spcPts val="1500"/>
              </a:lnSpc>
              <a:buNone/>
            </a:pPr>
            <a:r>
              <a:rPr lang="en-US" sz="1050" dirty="0">
                <a:solidFill>
                  <a:srgbClr val="3D68FF"/>
                </a:solidFill>
                <a:latin typeface="Monaco" pitchFamily="34" charset="0"/>
                <a:ea typeface="Monaco" pitchFamily="34" charset="-122"/>
                <a:cs typeface="Monaco" pitchFamily="34" charset="-120"/>
              </a:rPr>
              <a:t>FONDASI VITAL</a:t>
            </a:r>
            <a:endParaRPr lang="en-US" sz="1050" dirty="0"/>
          </a:p>
        </p:txBody>
      </p:sp>
      <p:sp>
        <p:nvSpPr>
          <p:cNvPr id="10" name="Text 5"/>
          <p:cNvSpPr/>
          <p:nvPr/>
        </p:nvSpPr>
        <p:spPr>
          <a:xfrm>
            <a:off x="3362325" y="2612231"/>
            <a:ext cx="78638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9CA3AF"/>
                </a:solidFill>
                <a:latin typeface="MiSans Normal" pitchFamily="34" charset="0"/>
                <a:ea typeface="MiSans Normal" pitchFamily="34" charset="-122"/>
                <a:cs typeface="MiSans Normal" pitchFamily="34" charset="-120"/>
              </a:rPr>
              <a:t>KEAMANAN IDE BISNIS</a:t>
            </a:r>
            <a:endParaRPr lang="en-US" sz="900" dirty="0"/>
          </a:p>
        </p:txBody>
      </p:sp>
      <p:sp>
        <p:nvSpPr>
          <p:cNvPr id="11" name="Text 6"/>
          <p:cNvSpPr/>
          <p:nvPr/>
        </p:nvSpPr>
        <p:spPr>
          <a:xfrm>
            <a:off x="3362325" y="2914650"/>
            <a:ext cx="7717536"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HAKI melindungi inovasi dan kreativitas dari eksploitasi pihak lain. Perlindungan hukum ini menjamin keamanan ide serta memberikan nilai tambah signifikan.</a:t>
            </a:r>
            <a:endParaRPr lang="en-US" sz="1050" dirty="0"/>
          </a:p>
        </p:txBody>
      </p:sp>
      <p:sp>
        <p:nvSpPr>
          <p:cNvPr id="12" name="Text 7"/>
          <p:cNvSpPr/>
          <p:nvPr/>
        </p:nvSpPr>
        <p:spPr>
          <a:xfrm>
            <a:off x="762000" y="4095750"/>
            <a:ext cx="10668000" cy="2000250"/>
          </a:xfrm>
          <a:prstGeom prst="roundRect">
            <a:avLst>
              <a:gd name="adj" fmla="val 9524"/>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3" name="Image 3" descr="image.png"/>
          <p:cNvPicPr>
            <a:picLocks noChangeAspect="1"/>
          </p:cNvPicPr>
          <p:nvPr/>
        </p:nvPicPr>
        <p:blipFill>
          <a:blip r:embed="rId6"/>
          <a:srcRect/>
          <a:stretch/>
        </p:blipFill>
        <p:spPr>
          <a:xfrm>
            <a:off x="1162050" y="4495800"/>
            <a:ext cx="1809750" cy="1200150"/>
          </a:xfrm>
          <a:prstGeom prst="rect">
            <a:avLst/>
          </a:prstGeom>
        </p:spPr>
      </p:pic>
      <p:sp>
        <p:nvSpPr>
          <p:cNvPr id="14" name="Text 8"/>
          <p:cNvSpPr/>
          <p:nvPr/>
        </p:nvSpPr>
        <p:spPr>
          <a:xfrm>
            <a:off x="3362325" y="4536281"/>
            <a:ext cx="2441448" cy="338328"/>
          </a:xfrm>
          <a:prstGeom prst="rect">
            <a:avLst/>
          </a:prstGeom>
          <a:noFill/>
          <a:ln/>
        </p:spPr>
        <p:txBody>
          <a:bodyPr vert="horz" wrap="none" lIns="0" tIns="0" rIns="0" bIns="0" rtlCol="0" anchor="t">
            <a:normAutofit/>
          </a:bodyPr>
          <a:lstStyle/>
          <a:p>
            <a:pPr marL="0" indent="0" algn="l">
              <a:lnSpc>
                <a:spcPts val="2400"/>
              </a:lnSpc>
              <a:buNone/>
            </a:pPr>
            <a:r>
              <a:rPr lang="en-US" sz="1800" b="1" dirty="0">
                <a:solidFill>
                  <a:srgbClr val="FFFFFF"/>
                </a:solidFill>
                <a:latin typeface="Bebas Neue" pitchFamily="34" charset="0"/>
                <a:ea typeface="Bebas Neue" pitchFamily="34" charset="-122"/>
                <a:cs typeface="Bebas Neue" pitchFamily="34" charset="-120"/>
              </a:rPr>
              <a:t>KEUNGGULAN KOMPETITIF GLOBAL</a:t>
            </a:r>
            <a:endParaRPr lang="en-US" sz="1800" dirty="0"/>
          </a:p>
        </p:txBody>
      </p:sp>
      <p:sp>
        <p:nvSpPr>
          <p:cNvPr id="15" name="Text 9"/>
          <p:cNvSpPr/>
          <p:nvPr/>
        </p:nvSpPr>
        <p:spPr>
          <a:xfrm>
            <a:off x="9941868" y="4631531"/>
            <a:ext cx="1152144" cy="219456"/>
          </a:xfrm>
          <a:prstGeom prst="rect">
            <a:avLst/>
          </a:prstGeom>
          <a:noFill/>
          <a:ln/>
        </p:spPr>
        <p:txBody>
          <a:bodyPr vert="horz" wrap="none" lIns="0" tIns="0" rIns="0" bIns="0" rtlCol="0" anchor="t">
            <a:normAutofit/>
          </a:bodyPr>
          <a:lstStyle/>
          <a:p>
            <a:pPr marL="0" indent="0" algn="l">
              <a:lnSpc>
                <a:spcPts val="1500"/>
              </a:lnSpc>
              <a:buNone/>
            </a:pPr>
            <a:r>
              <a:rPr lang="en-US" sz="1050" dirty="0">
                <a:solidFill>
                  <a:srgbClr val="3D68FF"/>
                </a:solidFill>
                <a:latin typeface="Monaco" pitchFamily="34" charset="0"/>
                <a:ea typeface="Monaco" pitchFamily="34" charset="-122"/>
                <a:cs typeface="Monaco" pitchFamily="34" charset="-120"/>
              </a:rPr>
              <a:t>IDENTITAS BRAND</a:t>
            </a:r>
            <a:endParaRPr lang="en-US" sz="1050" dirty="0"/>
          </a:p>
        </p:txBody>
      </p:sp>
      <p:sp>
        <p:nvSpPr>
          <p:cNvPr id="16" name="Text 10"/>
          <p:cNvSpPr/>
          <p:nvPr/>
        </p:nvSpPr>
        <p:spPr>
          <a:xfrm>
            <a:off x="3362325" y="4917281"/>
            <a:ext cx="78638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9CA3AF"/>
                </a:solidFill>
                <a:latin typeface="MiSans Normal" pitchFamily="34" charset="0"/>
                <a:ea typeface="MiSans Normal" pitchFamily="34" charset="-122"/>
                <a:cs typeface="MiSans Normal" pitchFamily="34" charset="-120"/>
              </a:rPr>
              <a:t>POSISI PASAR STRATEGIS</a:t>
            </a:r>
            <a:endParaRPr lang="en-US" sz="900" dirty="0"/>
          </a:p>
        </p:txBody>
      </p:sp>
      <p:sp>
        <p:nvSpPr>
          <p:cNvPr id="17" name="Text 11"/>
          <p:cNvSpPr/>
          <p:nvPr/>
        </p:nvSpPr>
        <p:spPr>
          <a:xfrm>
            <a:off x="3362325" y="5219700"/>
            <a:ext cx="7717536"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Menciptakan keunggulan kompetitif di pasar global, memperkuat identitas brand, dan memposisikan bisnis digital lebih unggul dibandingkan dengan pesaing.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5715000" y="609600"/>
            <a:ext cx="762000" cy="38100"/>
          </a:xfrm>
          <a:prstGeom prst="roundRect">
            <a:avLst>
              <a:gd name="adj" fmla="val 50000"/>
            </a:avLst>
          </a:prstGeom>
          <a:solidFill>
            <a:srgbClr val="6A44F2"/>
          </a:solidFill>
          <a:ln/>
        </p:spPr>
        <p:txBody>
          <a:bodyPr wrap="square" rtlCol="0" anchor="ctr"/>
          <a:lstStyle/>
          <a:p>
            <a:pPr marL="0" indent="0">
              <a:buNone/>
            </a:pPr>
            <a:endParaRPr lang="en-US" dirty="0"/>
          </a:p>
        </p:txBody>
      </p:sp>
      <p:sp>
        <p:nvSpPr>
          <p:cNvPr id="6" name="Text 2"/>
          <p:cNvSpPr/>
          <p:nvPr/>
        </p:nvSpPr>
        <p:spPr>
          <a:xfrm>
            <a:off x="3918320" y="874365"/>
            <a:ext cx="4489704" cy="658368"/>
          </a:xfrm>
          <a:prstGeom prst="rect">
            <a:avLst/>
          </a:prstGeom>
          <a:noFill/>
          <a:ln/>
        </p:spPr>
        <p:txBody>
          <a:bodyPr vert="horz" wrap="none" lIns="0" tIns="0" rIns="0" bIns="0" rtlCol="0" anchor="t">
            <a:normAutofit/>
          </a:bodyPr>
          <a:lstStyle/>
          <a:p>
            <a:pPr marL="0" indent="0" algn="ctr">
              <a:lnSpc>
                <a:spcPts val="4620"/>
              </a:lnSpc>
              <a:buNone/>
            </a:pPr>
            <a:r>
              <a:rPr lang="en-US" sz="4200" b="1" kern="0" spc="-90" dirty="0">
                <a:solidFill>
                  <a:srgbClr val="FFFFFF"/>
                </a:solidFill>
                <a:latin typeface="Bebas Neue" pitchFamily="34" charset="0"/>
                <a:ea typeface="Bebas Neue" pitchFamily="34" charset="-122"/>
                <a:cs typeface="Bebas Neue" pitchFamily="34" charset="-120"/>
              </a:rPr>
              <a:t>FILOSOFI </a:t>
            </a:r>
            <a:r>
              <a:rPr lang="en-US" sz="4200" b="1" kern="0" spc="-90" dirty="0">
                <a:solidFill>
                  <a:srgbClr val="3D68FF"/>
                </a:solidFill>
                <a:latin typeface="Bebas Neue" pitchFamily="34" charset="0"/>
                <a:ea typeface="Bebas Neue" pitchFamily="34" charset="-122"/>
                <a:cs typeface="Bebas Neue" pitchFamily="34" charset="-120"/>
              </a:rPr>
              <a:t>PELINDUNGAN HAKI</a:t>
            </a:r>
            <a:endParaRPr lang="en-US" sz="4200" dirty="0"/>
          </a:p>
        </p:txBody>
      </p:sp>
      <p:sp>
        <p:nvSpPr>
          <p:cNvPr id="7" name="Text 3"/>
          <p:cNvSpPr/>
          <p:nvPr/>
        </p:nvSpPr>
        <p:spPr>
          <a:xfrm>
            <a:off x="2578495" y="1541041"/>
            <a:ext cx="7077456" cy="283464"/>
          </a:xfrm>
          <a:prstGeom prst="rect">
            <a:avLst/>
          </a:prstGeom>
          <a:noFill/>
          <a:ln/>
        </p:spPr>
        <p:txBody>
          <a:bodyPr vert="horz" wrap="none" lIns="0" tIns="0" rIns="0" bIns="0" rtlCol="0" anchor="t">
            <a:normAutofit/>
          </a:bodyPr>
          <a:lstStyle/>
          <a:p>
            <a:pPr marL="0" indent="0" algn="ctr">
              <a:lnSpc>
                <a:spcPts val="1980"/>
              </a:lnSpc>
              <a:buNone/>
            </a:pPr>
            <a:r>
              <a:rPr lang="en-US" sz="1320" kern="0" spc="260" dirty="0">
                <a:solidFill>
                  <a:srgbClr val="9CA3AF"/>
                </a:solidFill>
                <a:latin typeface="Poppins" pitchFamily="34" charset="0"/>
                <a:ea typeface="Poppins" pitchFamily="34" charset="-122"/>
                <a:cs typeface="Poppins" pitchFamily="34" charset="-120"/>
              </a:rPr>
              <a:t>PENGANTAR HUKUM KEKAYAAN INTELEKTUAL DAN BISNIS DIGITAL</a:t>
            </a:r>
            <a:endParaRPr lang="en-US" sz="1320" dirty="0"/>
          </a:p>
        </p:txBody>
      </p:sp>
      <p:sp>
        <p:nvSpPr>
          <p:cNvPr id="8" name="Text 4"/>
          <p:cNvSpPr/>
          <p:nvPr/>
        </p:nvSpPr>
        <p:spPr>
          <a:xfrm>
            <a:off x="1828800" y="2169170"/>
            <a:ext cx="8586216" cy="566928"/>
          </a:xfrm>
          <a:prstGeom prst="rect">
            <a:avLst/>
          </a:prstGeom>
          <a:noFill/>
          <a:ln/>
        </p:spPr>
        <p:txBody>
          <a:bodyPr vert="horz" wrap="square" lIns="381000" tIns="0" rIns="381000" bIns="0" rtlCol="0" anchor="t"/>
          <a:lstStyle/>
          <a:p>
            <a:pPr marL="0" indent="0" algn="ctr">
              <a:lnSpc>
                <a:spcPts val="2194"/>
              </a:lnSpc>
              <a:buNone/>
            </a:pPr>
            <a:r>
              <a:rPr lang="en-US" sz="1350" i="1" dirty="0">
                <a:solidFill>
                  <a:srgbClr val="9CA3AF"/>
                </a:solidFill>
                <a:latin typeface="Poppins" pitchFamily="34" charset="0"/>
                <a:ea typeface="Poppins" pitchFamily="34" charset="-122"/>
                <a:cs typeface="Poppins" pitchFamily="34" charset="-120"/>
              </a:rPr>
              <a:t>"Memahami esensi hak eksklusif bagi pencipta atas karya intelektualnya sebagai pilar utama inovasi dalam ekosistem hukum bisnis digital di Indonesia."</a:t>
            </a:r>
            <a:endParaRPr lang="en-US" sz="1350" dirty="0"/>
          </a:p>
        </p:txBody>
      </p:sp>
      <p:sp>
        <p:nvSpPr>
          <p:cNvPr id="9" name="Text 5"/>
          <p:cNvSpPr/>
          <p:nvPr/>
        </p:nvSpPr>
        <p:spPr>
          <a:xfrm>
            <a:off x="762000" y="3262164"/>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0" name="Text 6"/>
          <p:cNvSpPr/>
          <p:nvPr/>
        </p:nvSpPr>
        <p:spPr>
          <a:xfrm>
            <a:off x="1076325" y="3576489"/>
            <a:ext cx="1101179" cy="266700"/>
          </a:xfrm>
          <a:prstGeom prst="roundRect">
            <a:avLst>
              <a:gd name="adj" fmla="val 100000"/>
            </a:avLst>
          </a:prstGeom>
          <a:solidFill>
            <a:srgbClr val="6A44F2">
              <a:alpha val="10000"/>
            </a:srgbClr>
          </a:solidFill>
          <a:ln w="9525">
            <a:solidFill>
              <a:srgbClr val="FFFFFF">
                <a:alpha val="10000"/>
              </a:srgbClr>
            </a:solidFill>
          </a:ln>
        </p:spPr>
        <p:txBody>
          <a:bodyPr wrap="square" rtlCol="0" anchor="ctr"/>
          <a:lstStyle/>
          <a:p>
            <a:pPr marL="0" indent="0">
              <a:buNone/>
            </a:pPr>
            <a:endParaRPr lang="en-US" dirty="0"/>
          </a:p>
        </p:txBody>
      </p:sp>
      <p:sp>
        <p:nvSpPr>
          <p:cNvPr id="11" name="Text 7"/>
          <p:cNvSpPr/>
          <p:nvPr/>
        </p:nvSpPr>
        <p:spPr>
          <a:xfrm>
            <a:off x="1074465" y="3576489"/>
            <a:ext cx="1133856"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6A44F2"/>
                </a:solidFill>
                <a:latin typeface="Poppins" pitchFamily="34" charset="0"/>
                <a:ea typeface="Poppins" pitchFamily="34" charset="-122"/>
                <a:cs typeface="Poppins" pitchFamily="34" charset="-120"/>
              </a:rPr>
              <a:t>DEFINISI HAKI</a:t>
            </a:r>
            <a:endParaRPr lang="en-US" sz="900" dirty="0"/>
          </a:p>
        </p:txBody>
      </p:sp>
      <p:pic>
        <p:nvPicPr>
          <p:cNvPr id="12" name="Image 2" descr="image.png"/>
          <p:cNvPicPr>
            <a:picLocks noChangeAspect="1"/>
          </p:cNvPicPr>
          <p:nvPr/>
        </p:nvPicPr>
        <p:blipFill>
          <a:blip r:embed="rId5"/>
          <a:srcRect/>
          <a:stretch/>
        </p:blipFill>
        <p:spPr>
          <a:xfrm>
            <a:off x="3609975" y="3576489"/>
            <a:ext cx="190500" cy="266700"/>
          </a:xfrm>
          <a:prstGeom prst="rect">
            <a:avLst/>
          </a:prstGeom>
        </p:spPr>
      </p:pic>
      <p:sp>
        <p:nvSpPr>
          <p:cNvPr id="13" name="Text 8"/>
          <p:cNvSpPr/>
          <p:nvPr/>
        </p:nvSpPr>
        <p:spPr>
          <a:xfrm>
            <a:off x="1076325" y="4071789"/>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HAK EKSKLUSIF</a:t>
            </a:r>
            <a:endParaRPr lang="en-US" sz="1500" dirty="0"/>
          </a:p>
        </p:txBody>
      </p:sp>
      <p:sp>
        <p:nvSpPr>
          <p:cNvPr id="14" name="Text 9"/>
          <p:cNvSpPr/>
          <p:nvPr/>
        </p:nvSpPr>
        <p:spPr>
          <a:xfrm>
            <a:off x="1076325" y="4452789"/>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HAKI adalah hak eksklusif bagi pencipta atas karya intelektualnya, memberikan wewenang penuh untuk mengelola hasil olah pikir manusia.</a:t>
            </a:r>
            <a:endParaRPr lang="en-US" sz="1050" dirty="0"/>
          </a:p>
        </p:txBody>
      </p:sp>
      <p:sp>
        <p:nvSpPr>
          <p:cNvPr id="15" name="Text 10"/>
          <p:cNvSpPr/>
          <p:nvPr/>
        </p:nvSpPr>
        <p:spPr>
          <a:xfrm>
            <a:off x="4419600" y="3262164"/>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6" name="Text 11"/>
          <p:cNvSpPr/>
          <p:nvPr/>
        </p:nvSpPr>
        <p:spPr>
          <a:xfrm>
            <a:off x="4733925" y="3576489"/>
            <a:ext cx="1284089" cy="266700"/>
          </a:xfrm>
          <a:prstGeom prst="roundRect">
            <a:avLst>
              <a:gd name="adj" fmla="val 100000"/>
            </a:avLst>
          </a:prstGeom>
          <a:solidFill>
            <a:srgbClr val="3D68FF">
              <a:alpha val="10000"/>
            </a:srgbClr>
          </a:solidFill>
          <a:ln w="9525">
            <a:solidFill>
              <a:srgbClr val="FFFFFF">
                <a:alpha val="10000"/>
              </a:srgbClr>
            </a:solidFill>
          </a:ln>
        </p:spPr>
        <p:txBody>
          <a:bodyPr wrap="square" rtlCol="0" anchor="ctr"/>
          <a:lstStyle/>
          <a:p>
            <a:pPr marL="0" indent="0">
              <a:buNone/>
            </a:pPr>
            <a:endParaRPr lang="en-US" dirty="0"/>
          </a:p>
        </p:txBody>
      </p:sp>
      <p:sp>
        <p:nvSpPr>
          <p:cNvPr id="17" name="Text 12"/>
          <p:cNvSpPr/>
          <p:nvPr/>
        </p:nvSpPr>
        <p:spPr>
          <a:xfrm>
            <a:off x="4733032" y="3576489"/>
            <a:ext cx="1316736"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3D68FF"/>
                </a:solidFill>
                <a:latin typeface="Poppins" pitchFamily="34" charset="0"/>
                <a:ea typeface="Poppins" pitchFamily="34" charset="-122"/>
                <a:cs typeface="Poppins" pitchFamily="34" charset="-120"/>
              </a:rPr>
              <a:t>FILOSOFI DASAR</a:t>
            </a:r>
            <a:endParaRPr lang="en-US" sz="900" dirty="0"/>
          </a:p>
        </p:txBody>
      </p:sp>
      <p:pic>
        <p:nvPicPr>
          <p:cNvPr id="18" name="Image 3" descr="image.png"/>
          <p:cNvPicPr>
            <a:picLocks noChangeAspect="1"/>
          </p:cNvPicPr>
          <p:nvPr/>
        </p:nvPicPr>
        <p:blipFill>
          <a:blip r:embed="rId6"/>
          <a:srcRect/>
          <a:stretch/>
        </p:blipFill>
        <p:spPr>
          <a:xfrm>
            <a:off x="7219950" y="3576489"/>
            <a:ext cx="238125" cy="266700"/>
          </a:xfrm>
          <a:prstGeom prst="rect">
            <a:avLst/>
          </a:prstGeom>
        </p:spPr>
      </p:pic>
      <p:sp>
        <p:nvSpPr>
          <p:cNvPr id="19" name="Text 13"/>
          <p:cNvSpPr/>
          <p:nvPr/>
        </p:nvSpPr>
        <p:spPr>
          <a:xfrm>
            <a:off x="4733925" y="4071789"/>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KESEIMBANGAN HAK</a:t>
            </a:r>
            <a:endParaRPr lang="en-US" sz="1500" dirty="0"/>
          </a:p>
        </p:txBody>
      </p:sp>
      <p:sp>
        <p:nvSpPr>
          <p:cNvPr id="20" name="Text 14"/>
          <p:cNvSpPr/>
          <p:nvPr/>
        </p:nvSpPr>
        <p:spPr>
          <a:xfrm>
            <a:off x="4733925" y="4452789"/>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Menjaga harmoni antara hak ekonomi kreator dan kepentingan publik, memastikan akses pengetahuan tetap terbuka bagi masyarakat umum.</a:t>
            </a:r>
            <a:endParaRPr lang="en-US" sz="1050" dirty="0"/>
          </a:p>
        </p:txBody>
      </p:sp>
      <p:sp>
        <p:nvSpPr>
          <p:cNvPr id="21" name="Text 15"/>
          <p:cNvSpPr/>
          <p:nvPr/>
        </p:nvSpPr>
        <p:spPr>
          <a:xfrm>
            <a:off x="8077200" y="3262164"/>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22" name="Text 16"/>
          <p:cNvSpPr/>
          <p:nvPr/>
        </p:nvSpPr>
        <p:spPr>
          <a:xfrm>
            <a:off x="8391525" y="3576489"/>
            <a:ext cx="872579" cy="266700"/>
          </a:xfrm>
          <a:prstGeom prst="roundRect">
            <a:avLst>
              <a:gd name="adj" fmla="val 100000"/>
            </a:avLst>
          </a:prstGeom>
          <a:solidFill>
            <a:srgbClr val="FFFFFF">
              <a:alpha val="10000"/>
            </a:srgbClr>
          </a:solidFill>
          <a:ln w="9525">
            <a:solidFill>
              <a:srgbClr val="FFFFFF">
                <a:alpha val="10000"/>
              </a:srgbClr>
            </a:solidFill>
          </a:ln>
        </p:spPr>
        <p:txBody>
          <a:bodyPr wrap="square" rtlCol="0" anchor="ctr"/>
          <a:lstStyle/>
          <a:p>
            <a:pPr marL="0" indent="0">
              <a:buNone/>
            </a:pPr>
            <a:endParaRPr lang="en-US" dirty="0"/>
          </a:p>
        </p:txBody>
      </p:sp>
      <p:sp>
        <p:nvSpPr>
          <p:cNvPr id="23" name="Text 17"/>
          <p:cNvSpPr/>
          <p:nvPr/>
        </p:nvSpPr>
        <p:spPr>
          <a:xfrm>
            <a:off x="8389665" y="3576489"/>
            <a:ext cx="905256"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FFFFFF"/>
                </a:solidFill>
                <a:latin typeface="Poppins" pitchFamily="34" charset="0"/>
                <a:ea typeface="Poppins" pitchFamily="34" charset="-122"/>
                <a:cs typeface="Poppins" pitchFamily="34" charset="-120"/>
              </a:rPr>
              <a:t>REGULASI</a:t>
            </a:r>
            <a:endParaRPr lang="en-US" sz="900" dirty="0"/>
          </a:p>
        </p:txBody>
      </p:sp>
      <p:pic>
        <p:nvPicPr>
          <p:cNvPr id="24" name="Image 4" descr="image.png"/>
          <p:cNvPicPr>
            <a:picLocks noChangeAspect="1"/>
          </p:cNvPicPr>
          <p:nvPr/>
        </p:nvPicPr>
        <p:blipFill>
          <a:blip r:embed="rId7"/>
          <a:srcRect/>
          <a:stretch/>
        </p:blipFill>
        <p:spPr>
          <a:xfrm>
            <a:off x="10925175" y="3576489"/>
            <a:ext cx="190500" cy="266700"/>
          </a:xfrm>
          <a:prstGeom prst="rect">
            <a:avLst/>
          </a:prstGeom>
        </p:spPr>
      </p:pic>
      <p:sp>
        <p:nvSpPr>
          <p:cNvPr id="25" name="Text 18"/>
          <p:cNvSpPr/>
          <p:nvPr/>
        </p:nvSpPr>
        <p:spPr>
          <a:xfrm>
            <a:off x="8391525" y="4071789"/>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PERLINDUNGAN HUKUM</a:t>
            </a:r>
            <a:endParaRPr lang="en-US" sz="1500" dirty="0"/>
          </a:p>
        </p:txBody>
      </p:sp>
      <p:sp>
        <p:nvSpPr>
          <p:cNvPr id="26" name="Text 19"/>
          <p:cNvSpPr/>
          <p:nvPr/>
        </p:nvSpPr>
        <p:spPr>
          <a:xfrm>
            <a:off x="8391525" y="4452789"/>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Landasan hukum Indonesia secara tegas menjamin perlindungan bagi setiap inovasi dan kreativitas intelektual di era transformasi digital.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3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30000"/>
          </a:blip>
          <a:srcRect/>
          <a:stretch/>
        </p:blipFill>
        <p:spPr>
          <a:xfrm>
            <a:off x="7905750" y="3048000"/>
            <a:ext cx="4762500" cy="4762500"/>
          </a:xfrm>
          <a:prstGeom prst="rect">
            <a:avLst/>
          </a:prstGeom>
        </p:spPr>
      </p:pic>
      <p:sp>
        <p:nvSpPr>
          <p:cNvPr id="5" name="Text 1"/>
          <p:cNvSpPr/>
          <p:nvPr/>
        </p:nvSpPr>
        <p:spPr>
          <a:xfrm>
            <a:off x="5791200" y="609600"/>
            <a:ext cx="609600" cy="57150"/>
          </a:xfrm>
          <a:prstGeom prst="rect">
            <a:avLst/>
          </a:prstGeom>
          <a:solidFill>
            <a:srgbClr val="6A44F2"/>
          </a:solidFill>
          <a:ln/>
        </p:spPr>
        <p:txBody>
          <a:bodyPr wrap="square" rtlCol="0" anchor="ctr"/>
          <a:lstStyle/>
          <a:p>
            <a:pPr marL="0" indent="0">
              <a:buNone/>
            </a:pPr>
            <a:endParaRPr lang="en-US" dirty="0"/>
          </a:p>
        </p:txBody>
      </p:sp>
      <p:sp>
        <p:nvSpPr>
          <p:cNvPr id="6" name="Text 2"/>
          <p:cNvSpPr/>
          <p:nvPr/>
        </p:nvSpPr>
        <p:spPr>
          <a:xfrm>
            <a:off x="653606" y="895350"/>
            <a:ext cx="11064240" cy="758952"/>
          </a:xfrm>
          <a:prstGeom prst="rect">
            <a:avLst/>
          </a:prstGeom>
          <a:noFill/>
          <a:ln/>
        </p:spPr>
        <p:txBody>
          <a:bodyPr vert="horz" wrap="none" lIns="0" tIns="0" rIns="0" bIns="0" rtlCol="0" anchor="t">
            <a:normAutofit/>
          </a:bodyPr>
          <a:lstStyle/>
          <a:p>
            <a:pPr marL="0" indent="0" algn="ctr">
              <a:lnSpc>
                <a:spcPts val="5400"/>
              </a:lnSpc>
              <a:buNone/>
            </a:pPr>
            <a:r>
              <a:rPr lang="en-US" sz="5400" b="1" kern="0" spc="-270" dirty="0">
                <a:solidFill>
                  <a:srgbClr val="FFFFFF"/>
                </a:solidFill>
                <a:latin typeface="Bebas Neue" pitchFamily="34" charset="0"/>
                <a:ea typeface="Bebas Neue" pitchFamily="34" charset="-122"/>
                <a:cs typeface="Bebas Neue" pitchFamily="34" charset="-120"/>
              </a:rPr>
              <a:t>HAK EKONOMI </a:t>
            </a:r>
            <a:r>
              <a:rPr lang="en-US" sz="5400" b="1" kern="0" spc="-270" dirty="0">
                <a:solidFill>
                  <a:srgbClr val="3D68FF"/>
                </a:solidFill>
                <a:latin typeface="Bebas Neue" pitchFamily="34" charset="0"/>
                <a:ea typeface="Bebas Neue" pitchFamily="34" charset="-122"/>
                <a:cs typeface="Bebas Neue" pitchFamily="34" charset="-120"/>
              </a:rPr>
              <a:t>VS MORAL</a:t>
            </a:r>
            <a:endParaRPr lang="en-US" sz="5400" dirty="0"/>
          </a:p>
        </p:txBody>
      </p:sp>
      <p:sp>
        <p:nvSpPr>
          <p:cNvPr id="7" name="Text 3"/>
          <p:cNvSpPr/>
          <p:nvPr/>
        </p:nvSpPr>
        <p:spPr>
          <a:xfrm>
            <a:off x="655034" y="1733550"/>
            <a:ext cx="10917936" cy="182880"/>
          </a:xfrm>
          <a:prstGeom prst="rect">
            <a:avLst/>
          </a:prstGeom>
          <a:noFill/>
          <a:ln/>
        </p:spPr>
        <p:txBody>
          <a:bodyPr vert="horz" wrap="none" lIns="0" tIns="0" rIns="0" bIns="0" rtlCol="0" anchor="t">
            <a:normAutofit/>
          </a:bodyPr>
          <a:lstStyle/>
          <a:p>
            <a:pPr marL="0" indent="0" algn="ctr">
              <a:lnSpc>
                <a:spcPts val="1200"/>
              </a:lnSpc>
              <a:buNone/>
            </a:pPr>
            <a:r>
              <a:rPr lang="en-US" sz="900" kern="0" spc="450" dirty="0">
                <a:solidFill>
                  <a:srgbClr val="9CA3AF"/>
                </a:solidFill>
                <a:latin typeface="Poppins" pitchFamily="34" charset="0"/>
                <a:ea typeface="Poppins" pitchFamily="34" charset="-122"/>
                <a:cs typeface="Poppins" pitchFamily="34" charset="-120"/>
              </a:rPr>
              <a:t>PENGANTAR HUKUM KEKAYAAN INTELEKTUAL (HAKI) // V.01</a:t>
            </a:r>
            <a:endParaRPr lang="en-US" sz="900" dirty="0"/>
          </a:p>
        </p:txBody>
      </p:sp>
      <p:sp>
        <p:nvSpPr>
          <p:cNvPr id="8" name="Text 4"/>
          <p:cNvSpPr/>
          <p:nvPr/>
        </p:nvSpPr>
        <p:spPr>
          <a:xfrm>
            <a:off x="762000" y="2495550"/>
            <a:ext cx="3352800" cy="3619500"/>
          </a:xfrm>
          <a:prstGeom prst="roundRect">
            <a:avLst>
              <a:gd name="adj" fmla="val 340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9" name="Text 5"/>
          <p:cNvSpPr/>
          <p:nvPr/>
        </p:nvSpPr>
        <p:spPr>
          <a:xfrm>
            <a:off x="3324225" y="2657475"/>
            <a:ext cx="740664" cy="758952"/>
          </a:xfrm>
          <a:prstGeom prst="rect">
            <a:avLst/>
          </a:prstGeom>
          <a:noFill/>
          <a:ln/>
        </p:spPr>
        <p:txBody>
          <a:bodyPr vert="horz" wrap="none" lIns="0" tIns="0" rIns="0" bIns="0" rtlCol="0" anchor="t">
            <a:normAutofit/>
          </a:bodyPr>
          <a:lstStyle/>
          <a:p>
            <a:pPr marL="0" indent="0" algn="l">
              <a:lnSpc>
                <a:spcPts val="5400"/>
              </a:lnSpc>
              <a:buNone/>
            </a:pPr>
            <a:r>
              <a:rPr lang="en-US" sz="5400" b="1" dirty="0">
                <a:solidFill>
                  <a:srgbClr val="FFFFFF">
                    <a:alpha val="33500"/>
                  </a:srgbClr>
                </a:solidFill>
                <a:latin typeface="Bebas Neue" pitchFamily="34" charset="0"/>
                <a:ea typeface="Bebas Neue" pitchFamily="34" charset="-122"/>
                <a:cs typeface="Bebas Neue" pitchFamily="34" charset="-120"/>
              </a:rPr>
              <a:t>01</a:t>
            </a:r>
            <a:endParaRPr lang="en-US" sz="5400" dirty="0"/>
          </a:p>
        </p:txBody>
      </p:sp>
      <p:sp>
        <p:nvSpPr>
          <p:cNvPr id="10" name="Text 6"/>
          <p:cNvSpPr/>
          <p:nvPr/>
        </p:nvSpPr>
        <p:spPr>
          <a:xfrm>
            <a:off x="1152525" y="3092053"/>
            <a:ext cx="609600" cy="609600"/>
          </a:xfrm>
          <a:prstGeom prst="roundRect">
            <a:avLst>
              <a:gd name="adj" fmla="val 18750"/>
            </a:avLst>
          </a:prstGeom>
          <a:solidFill>
            <a:srgbClr val="FFFFFF">
              <a:alpha val="5000"/>
            </a:srgbClr>
          </a:solidFill>
          <a:ln w="9525">
            <a:solidFill>
              <a:srgbClr val="FFFFFF">
                <a:alpha val="10000"/>
              </a:srgbClr>
            </a:solidFill>
          </a:ln>
        </p:spPr>
        <p:txBody>
          <a:bodyPr wrap="square" rtlCol="0" anchor="ctr"/>
          <a:lstStyle/>
          <a:p>
            <a:pPr marL="0" indent="0">
              <a:buNone/>
            </a:pPr>
            <a:endParaRPr lang="en-US" dirty="0"/>
          </a:p>
        </p:txBody>
      </p:sp>
      <p:pic>
        <p:nvPicPr>
          <p:cNvPr id="11" name="Image 2" descr="image.png"/>
          <p:cNvPicPr>
            <a:picLocks noChangeAspect="1"/>
          </p:cNvPicPr>
          <p:nvPr/>
        </p:nvPicPr>
        <p:blipFill>
          <a:blip r:embed="rId5"/>
          <a:srcRect/>
          <a:stretch/>
        </p:blipFill>
        <p:spPr>
          <a:xfrm>
            <a:off x="1314450" y="3225403"/>
            <a:ext cx="285750" cy="342900"/>
          </a:xfrm>
          <a:prstGeom prst="rect">
            <a:avLst/>
          </a:prstGeom>
        </p:spPr>
      </p:pic>
      <p:sp>
        <p:nvSpPr>
          <p:cNvPr id="12" name="Shape 7"/>
          <p:cNvSpPr/>
          <p:nvPr/>
        </p:nvSpPr>
        <p:spPr>
          <a:xfrm>
            <a:off x="1152525" y="4277916"/>
            <a:ext cx="2571750" cy="0"/>
          </a:xfrm>
          <a:prstGeom prst="line">
            <a:avLst/>
          </a:prstGeom>
          <a:noFill/>
          <a:ln w="9525">
            <a:solidFill>
              <a:srgbClr val="FFFFFF">
                <a:alpha val="10000"/>
              </a:srgbClr>
            </a:solidFill>
            <a:prstDash val="solid"/>
          </a:ln>
        </p:spPr>
      </p:sp>
      <p:sp>
        <p:nvSpPr>
          <p:cNvPr id="13" name="Text 8"/>
          <p:cNvSpPr/>
          <p:nvPr/>
        </p:nvSpPr>
        <p:spPr>
          <a:xfrm>
            <a:off x="1152525" y="3892153"/>
            <a:ext cx="2688336" cy="338328"/>
          </a:xfrm>
          <a:prstGeom prst="rect">
            <a:avLst/>
          </a:prstGeom>
          <a:noFill/>
          <a:ln/>
        </p:spPr>
        <p:txBody>
          <a:bodyPr vert="horz" wrap="none" lIns="0" tIns="0" rIns="0" bIns="0" rtlCol="0" anchor="t">
            <a:normAutofit/>
          </a:bodyPr>
          <a:lstStyle/>
          <a:p>
            <a:pPr marL="0" indent="0" algn="l">
              <a:lnSpc>
                <a:spcPts val="2400"/>
              </a:lnSpc>
              <a:buNone/>
            </a:pPr>
            <a:r>
              <a:rPr lang="en-US" sz="1800" b="1" i="1" kern="0" spc="180" dirty="0">
                <a:solidFill>
                  <a:srgbClr val="FFFFFF"/>
                </a:solidFill>
                <a:latin typeface="Bebas Neue" pitchFamily="34" charset="0"/>
                <a:ea typeface="Bebas Neue" pitchFamily="34" charset="-122"/>
                <a:cs typeface="Bebas Neue" pitchFamily="34" charset="-120"/>
              </a:rPr>
              <a:t>HAK EKONOMI</a:t>
            </a:r>
            <a:endParaRPr lang="en-US" sz="1800" dirty="0"/>
          </a:p>
        </p:txBody>
      </p:sp>
      <p:sp>
        <p:nvSpPr>
          <p:cNvPr id="14" name="Text 9"/>
          <p:cNvSpPr/>
          <p:nvPr/>
        </p:nvSpPr>
        <p:spPr>
          <a:xfrm>
            <a:off x="1152525" y="4433888"/>
            <a:ext cx="2606040" cy="1088136"/>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Hak untuk mendapatkan keuntungan finansial dari eksploitasi karya. Hak ini memiliki batas waktu tertentu sesuai dengan ketentuan hukum yang berlaku.</a:t>
            </a:r>
            <a:endParaRPr lang="en-US" sz="1050" dirty="0"/>
          </a:p>
        </p:txBody>
      </p:sp>
      <p:sp>
        <p:nvSpPr>
          <p:cNvPr id="15" name="Text 10"/>
          <p:cNvSpPr/>
          <p:nvPr/>
        </p:nvSpPr>
        <p:spPr>
          <a:xfrm>
            <a:off x="4419600" y="2495550"/>
            <a:ext cx="3352800" cy="3619500"/>
          </a:xfrm>
          <a:prstGeom prst="roundRect">
            <a:avLst>
              <a:gd name="adj" fmla="val 3409"/>
            </a:avLst>
          </a:prstGeom>
          <a:solidFill>
            <a:srgbClr val="FFFFFF">
              <a:alpha val="2000"/>
            </a:srgbClr>
          </a:solidFill>
          <a:ln w="9525">
            <a:solidFill>
              <a:srgbClr val="3D68FF">
                <a:alpha val="30000"/>
              </a:srgbClr>
            </a:solidFill>
          </a:ln>
        </p:spPr>
        <p:txBody>
          <a:bodyPr wrap="square" rtlCol="0" anchor="ctr"/>
          <a:lstStyle/>
          <a:p>
            <a:pPr marL="0" indent="0">
              <a:buNone/>
            </a:pPr>
            <a:endParaRPr lang="en-US" dirty="0"/>
          </a:p>
        </p:txBody>
      </p:sp>
      <p:pic>
        <p:nvPicPr>
          <p:cNvPr id="16" name="Image 3" descr="image.png"/>
          <p:cNvPicPr>
            <a:picLocks noChangeAspect="1"/>
          </p:cNvPicPr>
          <p:nvPr/>
        </p:nvPicPr>
        <p:blipFill>
          <a:blip r:embed="rId6"/>
          <a:srcRect r="36647"/>
          <a:stretch/>
        </p:blipFill>
        <p:spPr>
          <a:xfrm>
            <a:off x="4429125" y="2505075"/>
            <a:ext cx="3333750" cy="3600450"/>
          </a:xfrm>
          <a:prstGeom prst="rect">
            <a:avLst/>
          </a:prstGeom>
        </p:spPr>
      </p:pic>
      <p:sp>
        <p:nvSpPr>
          <p:cNvPr id="17" name="Text 11"/>
          <p:cNvSpPr/>
          <p:nvPr/>
        </p:nvSpPr>
        <p:spPr>
          <a:xfrm>
            <a:off x="5075634" y="5705475"/>
            <a:ext cx="2066544" cy="173736"/>
          </a:xfrm>
          <a:prstGeom prst="rect">
            <a:avLst/>
          </a:prstGeom>
          <a:noFill/>
          <a:ln/>
        </p:spPr>
        <p:txBody>
          <a:bodyPr vert="horz" wrap="none" lIns="0" tIns="0" rIns="0" bIns="0" rtlCol="0" anchor="t">
            <a:normAutofit/>
          </a:bodyPr>
          <a:lstStyle/>
          <a:p>
            <a:pPr marL="0" indent="0" algn="ctr">
              <a:lnSpc>
                <a:spcPts val="1125"/>
              </a:lnSpc>
              <a:buNone/>
            </a:pPr>
            <a:r>
              <a:rPr lang="en-US" sz="750" b="1" kern="0" spc="220" dirty="0">
                <a:solidFill>
                  <a:srgbClr val="FFFFFF">
                    <a:alpha val="40000"/>
                  </a:srgbClr>
                </a:solidFill>
                <a:latin typeface="Poppins" pitchFamily="34" charset="0"/>
                <a:ea typeface="Poppins" pitchFamily="34" charset="-122"/>
                <a:cs typeface="Poppins" pitchFamily="34" charset="-120"/>
              </a:rPr>
              <a:t>INTEGRASI BISNIS DIGITAL</a:t>
            </a:r>
            <a:endParaRPr lang="en-US" sz="750" dirty="0"/>
          </a:p>
        </p:txBody>
      </p:sp>
      <p:sp>
        <p:nvSpPr>
          <p:cNvPr id="18" name="Text 12"/>
          <p:cNvSpPr/>
          <p:nvPr/>
        </p:nvSpPr>
        <p:spPr>
          <a:xfrm>
            <a:off x="8077200" y="2495550"/>
            <a:ext cx="3352800" cy="3619500"/>
          </a:xfrm>
          <a:prstGeom prst="roundRect">
            <a:avLst>
              <a:gd name="adj" fmla="val 3409"/>
            </a:avLst>
          </a:prstGeom>
          <a:solidFill>
            <a:srgbClr val="FFFFFF">
              <a:alpha val="2000"/>
            </a:srgbClr>
          </a:solidFill>
          <a:ln/>
        </p:spPr>
        <p:txBody>
          <a:bodyPr wrap="square" rtlCol="0" anchor="ctr"/>
          <a:lstStyle/>
          <a:p>
            <a:pPr marL="0" indent="0">
              <a:buNone/>
            </a:pPr>
            <a:endParaRPr lang="en-US" dirty="0"/>
          </a:p>
        </p:txBody>
      </p:sp>
      <p:sp>
        <p:nvSpPr>
          <p:cNvPr id="19" name="Shape 13"/>
          <p:cNvSpPr/>
          <p:nvPr/>
        </p:nvSpPr>
        <p:spPr>
          <a:xfrm>
            <a:off x="8077200" y="2505075"/>
            <a:ext cx="3352800" cy="0"/>
          </a:xfrm>
          <a:prstGeom prst="line">
            <a:avLst/>
          </a:prstGeom>
          <a:noFill/>
          <a:ln w="19050">
            <a:solidFill>
              <a:srgbClr val="FFFFFF">
                <a:alpha val="30000"/>
              </a:srgbClr>
            </a:solidFill>
            <a:prstDash val="solid"/>
          </a:ln>
        </p:spPr>
      </p:sp>
      <p:sp>
        <p:nvSpPr>
          <p:cNvPr id="20" name="Shape 14"/>
          <p:cNvSpPr/>
          <p:nvPr/>
        </p:nvSpPr>
        <p:spPr>
          <a:xfrm>
            <a:off x="11430000" y="2495550"/>
            <a:ext cx="0" cy="3619500"/>
          </a:xfrm>
          <a:prstGeom prst="line">
            <a:avLst/>
          </a:prstGeom>
          <a:noFill/>
          <a:ln w="9525">
            <a:solidFill>
              <a:srgbClr val="FFFFFF">
                <a:alpha val="5000"/>
              </a:srgbClr>
            </a:solidFill>
            <a:prstDash val="solid"/>
          </a:ln>
        </p:spPr>
      </p:sp>
      <p:sp>
        <p:nvSpPr>
          <p:cNvPr id="21" name="Shape 15"/>
          <p:cNvSpPr/>
          <p:nvPr/>
        </p:nvSpPr>
        <p:spPr>
          <a:xfrm>
            <a:off x="8077200" y="6110288"/>
            <a:ext cx="3352800" cy="0"/>
          </a:xfrm>
          <a:prstGeom prst="line">
            <a:avLst/>
          </a:prstGeom>
          <a:noFill/>
          <a:ln w="9525">
            <a:solidFill>
              <a:srgbClr val="FFFFFF">
                <a:alpha val="5000"/>
              </a:srgbClr>
            </a:solidFill>
            <a:prstDash val="solid"/>
          </a:ln>
        </p:spPr>
      </p:sp>
      <p:sp>
        <p:nvSpPr>
          <p:cNvPr id="22" name="Shape 16"/>
          <p:cNvSpPr/>
          <p:nvPr/>
        </p:nvSpPr>
        <p:spPr>
          <a:xfrm>
            <a:off x="8077200" y="2495550"/>
            <a:ext cx="0" cy="3619500"/>
          </a:xfrm>
          <a:prstGeom prst="line">
            <a:avLst/>
          </a:prstGeom>
          <a:noFill/>
          <a:ln w="9525">
            <a:solidFill>
              <a:srgbClr val="FFFFFF">
                <a:alpha val="5000"/>
              </a:srgbClr>
            </a:solidFill>
            <a:prstDash val="solid"/>
          </a:ln>
        </p:spPr>
      </p:sp>
      <p:sp>
        <p:nvSpPr>
          <p:cNvPr id="23" name="Text 17"/>
          <p:cNvSpPr/>
          <p:nvPr/>
        </p:nvSpPr>
        <p:spPr>
          <a:xfrm>
            <a:off x="10639425" y="2667000"/>
            <a:ext cx="740664" cy="758952"/>
          </a:xfrm>
          <a:prstGeom prst="rect">
            <a:avLst/>
          </a:prstGeom>
          <a:noFill/>
          <a:ln/>
        </p:spPr>
        <p:txBody>
          <a:bodyPr vert="horz" wrap="none" lIns="0" tIns="0" rIns="0" bIns="0" rtlCol="0" anchor="t">
            <a:normAutofit/>
          </a:bodyPr>
          <a:lstStyle/>
          <a:p>
            <a:pPr marL="0" indent="0" algn="l">
              <a:lnSpc>
                <a:spcPts val="5400"/>
              </a:lnSpc>
              <a:buNone/>
            </a:pPr>
            <a:r>
              <a:rPr lang="en-US" sz="5400" b="1" dirty="0">
                <a:solidFill>
                  <a:srgbClr val="FFFFFF">
                    <a:alpha val="33500"/>
                  </a:srgbClr>
                </a:solidFill>
                <a:latin typeface="Bebas Neue" pitchFamily="34" charset="0"/>
                <a:ea typeface="Bebas Neue" pitchFamily="34" charset="-122"/>
                <a:cs typeface="Bebas Neue" pitchFamily="34" charset="-120"/>
              </a:rPr>
              <a:t>02</a:t>
            </a:r>
            <a:endParaRPr lang="en-US" sz="5400" dirty="0"/>
          </a:p>
        </p:txBody>
      </p:sp>
      <p:sp>
        <p:nvSpPr>
          <p:cNvPr id="24" name="Text 18"/>
          <p:cNvSpPr/>
          <p:nvPr/>
        </p:nvSpPr>
        <p:spPr>
          <a:xfrm>
            <a:off x="8467725" y="3096816"/>
            <a:ext cx="609600" cy="609600"/>
          </a:xfrm>
          <a:prstGeom prst="roundRect">
            <a:avLst>
              <a:gd name="adj" fmla="val 18750"/>
            </a:avLst>
          </a:prstGeom>
          <a:solidFill>
            <a:srgbClr val="FFFFFF">
              <a:alpha val="5000"/>
            </a:srgbClr>
          </a:solidFill>
          <a:ln w="9525">
            <a:solidFill>
              <a:srgbClr val="FFFFFF">
                <a:alpha val="10000"/>
              </a:srgbClr>
            </a:solidFill>
          </a:ln>
        </p:spPr>
        <p:txBody>
          <a:bodyPr wrap="square" rtlCol="0" anchor="ctr"/>
          <a:lstStyle/>
          <a:p>
            <a:pPr marL="0" indent="0">
              <a:buNone/>
            </a:pPr>
            <a:endParaRPr lang="en-US" dirty="0"/>
          </a:p>
        </p:txBody>
      </p:sp>
      <p:pic>
        <p:nvPicPr>
          <p:cNvPr id="25" name="Image 4" descr="image.png"/>
          <p:cNvPicPr>
            <a:picLocks noChangeAspect="1"/>
          </p:cNvPicPr>
          <p:nvPr/>
        </p:nvPicPr>
        <p:blipFill>
          <a:blip r:embed="rId7"/>
          <a:srcRect/>
          <a:stretch/>
        </p:blipFill>
        <p:spPr>
          <a:xfrm>
            <a:off x="8591550" y="3230166"/>
            <a:ext cx="361950" cy="342900"/>
          </a:xfrm>
          <a:prstGeom prst="rect">
            <a:avLst/>
          </a:prstGeom>
        </p:spPr>
      </p:pic>
      <p:sp>
        <p:nvSpPr>
          <p:cNvPr id="26" name="Shape 19"/>
          <p:cNvSpPr/>
          <p:nvPr/>
        </p:nvSpPr>
        <p:spPr>
          <a:xfrm>
            <a:off x="8467725" y="4282678"/>
            <a:ext cx="2571750" cy="0"/>
          </a:xfrm>
          <a:prstGeom prst="line">
            <a:avLst/>
          </a:prstGeom>
          <a:noFill/>
          <a:ln w="9525">
            <a:solidFill>
              <a:srgbClr val="FFFFFF">
                <a:alpha val="10000"/>
              </a:srgbClr>
            </a:solidFill>
            <a:prstDash val="solid"/>
          </a:ln>
        </p:spPr>
      </p:sp>
      <p:sp>
        <p:nvSpPr>
          <p:cNvPr id="27" name="Text 20"/>
          <p:cNvSpPr/>
          <p:nvPr/>
        </p:nvSpPr>
        <p:spPr>
          <a:xfrm>
            <a:off x="8467725" y="3896916"/>
            <a:ext cx="2688336" cy="338328"/>
          </a:xfrm>
          <a:prstGeom prst="rect">
            <a:avLst/>
          </a:prstGeom>
          <a:noFill/>
          <a:ln/>
        </p:spPr>
        <p:txBody>
          <a:bodyPr vert="horz" wrap="none" lIns="0" tIns="0" rIns="0" bIns="0" rtlCol="0" anchor="t">
            <a:normAutofit/>
          </a:bodyPr>
          <a:lstStyle/>
          <a:p>
            <a:pPr marL="0" indent="0" algn="l">
              <a:lnSpc>
                <a:spcPts val="2400"/>
              </a:lnSpc>
              <a:buNone/>
            </a:pPr>
            <a:r>
              <a:rPr lang="en-US" sz="1800" b="1" i="1" kern="0" spc="180" dirty="0">
                <a:solidFill>
                  <a:srgbClr val="FFFFFF"/>
                </a:solidFill>
                <a:latin typeface="Bebas Neue" pitchFamily="34" charset="0"/>
                <a:ea typeface="Bebas Neue" pitchFamily="34" charset="-122"/>
                <a:cs typeface="Bebas Neue" pitchFamily="34" charset="-120"/>
              </a:rPr>
              <a:t>HAK MORAL</a:t>
            </a:r>
            <a:endParaRPr lang="en-US" sz="1800" dirty="0"/>
          </a:p>
        </p:txBody>
      </p:sp>
      <p:sp>
        <p:nvSpPr>
          <p:cNvPr id="28" name="Text 21"/>
          <p:cNvSpPr/>
          <p:nvPr/>
        </p:nvSpPr>
        <p:spPr>
          <a:xfrm>
            <a:off x="8467725" y="4438650"/>
            <a:ext cx="2606040" cy="1088136"/>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Melindungi hak pencantuman nama dan integritas karya. Hak ini melekat selamanya pada diri pencipta dan tidak dapat dihapus meskipun hak ekonomi berakhir.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4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40000"/>
          </a:blip>
          <a:srcRect/>
          <a:stretch/>
        </p:blipFill>
        <p:spPr>
          <a:xfrm>
            <a:off x="7905750" y="3048000"/>
            <a:ext cx="4762500" cy="4762500"/>
          </a:xfrm>
          <a:prstGeom prst="rect">
            <a:avLst/>
          </a:prstGeom>
        </p:spPr>
      </p:pic>
      <p:sp>
        <p:nvSpPr>
          <p:cNvPr id="5" name="Text 1"/>
          <p:cNvSpPr/>
          <p:nvPr/>
        </p:nvSpPr>
        <p:spPr>
          <a:xfrm>
            <a:off x="609600" y="457200"/>
            <a:ext cx="4306824" cy="603504"/>
          </a:xfrm>
          <a:prstGeom prst="rect">
            <a:avLst/>
          </a:prstGeom>
          <a:noFill/>
          <a:ln/>
        </p:spPr>
        <p:txBody>
          <a:bodyPr vert="horz" wrap="square" lIns="0" tIns="0" rIns="0" bIns="0" rtlCol="0" anchor="t"/>
          <a:lstStyle/>
          <a:p>
            <a:pPr marL="0" indent="0" algn="l">
              <a:lnSpc>
                <a:spcPts val="4500"/>
              </a:lnSpc>
              <a:buNone/>
            </a:pPr>
            <a:r>
              <a:rPr lang="en-US" sz="4500" b="1" kern="0" spc="-230" dirty="0">
                <a:solidFill>
                  <a:srgbClr val="FFFFFF"/>
                </a:solidFill>
                <a:latin typeface="Bebas Neue" pitchFamily="34" charset="0"/>
                <a:ea typeface="Bebas Neue" pitchFamily="34" charset="-122"/>
                <a:cs typeface="Bebas Neue" pitchFamily="34" charset="-120"/>
              </a:rPr>
              <a:t>KLASIFIKASI UMUM </a:t>
            </a:r>
            <a:r>
              <a:rPr lang="en-US" sz="4500" b="1" kern="0" spc="-230" dirty="0">
                <a:solidFill>
                  <a:srgbClr val="3D68FF"/>
                </a:solidFill>
                <a:latin typeface="Bebas Neue" pitchFamily="34" charset="0"/>
                <a:ea typeface="Bebas Neue" pitchFamily="34" charset="-122"/>
                <a:cs typeface="Bebas Neue" pitchFamily="34" charset="-120"/>
              </a:rPr>
              <a:t>HAKI</a:t>
            </a:r>
            <a:endParaRPr lang="en-US" sz="4500" dirty="0"/>
          </a:p>
        </p:txBody>
      </p:sp>
      <p:sp>
        <p:nvSpPr>
          <p:cNvPr id="6" name="Text 2"/>
          <p:cNvSpPr/>
          <p:nvPr/>
        </p:nvSpPr>
        <p:spPr>
          <a:xfrm>
            <a:off x="609600" y="1209675"/>
            <a:ext cx="571500" cy="38100"/>
          </a:xfrm>
          <a:prstGeom prst="roundRect">
            <a:avLst>
              <a:gd name="adj" fmla="val 50000"/>
            </a:avLst>
          </a:prstGeom>
          <a:solidFill>
            <a:srgbClr val="3D68FF"/>
          </a:solidFill>
          <a:ln/>
        </p:spPr>
        <p:txBody>
          <a:bodyPr wrap="square" rtlCol="0" anchor="ctr"/>
          <a:lstStyle/>
          <a:p>
            <a:pPr marL="0" indent="0">
              <a:buNone/>
            </a:pPr>
            <a:endParaRPr lang="en-US" dirty="0"/>
          </a:p>
        </p:txBody>
      </p:sp>
      <p:sp>
        <p:nvSpPr>
          <p:cNvPr id="7" name="Text 3"/>
          <p:cNvSpPr/>
          <p:nvPr/>
        </p:nvSpPr>
        <p:spPr>
          <a:xfrm>
            <a:off x="8737047" y="1095375"/>
            <a:ext cx="2880360" cy="182880"/>
          </a:xfrm>
          <a:prstGeom prst="rect">
            <a:avLst/>
          </a:prstGeom>
          <a:noFill/>
          <a:ln/>
        </p:spPr>
        <p:txBody>
          <a:bodyPr vert="horz" wrap="none" lIns="0" tIns="0" rIns="0" bIns="0" rtlCol="0" anchor="t">
            <a:normAutofit/>
          </a:bodyPr>
          <a:lstStyle/>
          <a:p>
            <a:pPr marL="0" indent="0" algn="r">
              <a:lnSpc>
                <a:spcPts val="1200"/>
              </a:lnSpc>
              <a:buNone/>
            </a:pPr>
            <a:r>
              <a:rPr lang="en-US" sz="900" b="1" kern="0" spc="90" dirty="0">
                <a:solidFill>
                  <a:srgbClr val="9CA3AF"/>
                </a:solidFill>
                <a:latin typeface="Poppins" pitchFamily="34" charset="0"/>
                <a:ea typeface="Poppins" pitchFamily="34" charset="-122"/>
                <a:cs typeface="Poppins" pitchFamily="34" charset="-120"/>
              </a:rPr>
              <a:t>HUKUM KEKAYAAN INTELEKTUAL / 2026</a:t>
            </a:r>
            <a:endParaRPr lang="en-US" sz="900" dirty="0"/>
          </a:p>
        </p:txBody>
      </p:sp>
      <p:sp>
        <p:nvSpPr>
          <p:cNvPr id="8" name="Text 4"/>
          <p:cNvSpPr/>
          <p:nvPr/>
        </p:nvSpPr>
        <p:spPr>
          <a:xfrm>
            <a:off x="609600" y="1628775"/>
            <a:ext cx="6305550" cy="4591050"/>
          </a:xfrm>
          <a:prstGeom prst="roundRect">
            <a:avLst>
              <a:gd name="adj" fmla="val 414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9" name="Image 2" descr="image.png"/>
          <p:cNvPicPr>
            <a:picLocks noChangeAspect="1"/>
          </p:cNvPicPr>
          <p:nvPr/>
        </p:nvPicPr>
        <p:blipFill>
          <a:blip r:embed="rId5"/>
          <a:srcRect b="41818"/>
          <a:stretch/>
        </p:blipFill>
        <p:spPr>
          <a:xfrm>
            <a:off x="619125" y="1638300"/>
            <a:ext cx="6286500" cy="4572000"/>
          </a:xfrm>
          <a:prstGeom prst="rect">
            <a:avLst/>
          </a:prstGeom>
        </p:spPr>
      </p:pic>
      <p:sp>
        <p:nvSpPr>
          <p:cNvPr id="10" name="Text 5"/>
          <p:cNvSpPr/>
          <p:nvPr/>
        </p:nvSpPr>
        <p:spPr>
          <a:xfrm>
            <a:off x="7143750" y="1628775"/>
            <a:ext cx="4438650" cy="2190750"/>
          </a:xfrm>
          <a:prstGeom prst="roundRect">
            <a:avLst>
              <a:gd name="adj" fmla="val 8696"/>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1" name="Image 3" descr="image.png"/>
          <p:cNvPicPr>
            <a:picLocks noChangeAspect="1"/>
          </p:cNvPicPr>
          <p:nvPr/>
        </p:nvPicPr>
        <p:blipFill>
          <a:blip r:embed="rId6"/>
          <a:srcRect b="12323"/>
          <a:stretch/>
        </p:blipFill>
        <p:spPr>
          <a:xfrm>
            <a:off x="7153275" y="1638300"/>
            <a:ext cx="4419600" cy="2171700"/>
          </a:xfrm>
          <a:prstGeom prst="rect">
            <a:avLst/>
          </a:prstGeom>
        </p:spPr>
      </p:pic>
      <p:sp>
        <p:nvSpPr>
          <p:cNvPr id="12" name="Text 6"/>
          <p:cNvSpPr/>
          <p:nvPr/>
        </p:nvSpPr>
        <p:spPr>
          <a:xfrm>
            <a:off x="7143750" y="4048125"/>
            <a:ext cx="4438650" cy="2190750"/>
          </a:xfrm>
          <a:prstGeom prst="roundRect">
            <a:avLst>
              <a:gd name="adj" fmla="val 8696"/>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3" name="Image 4" descr="image.png"/>
          <p:cNvPicPr>
            <a:picLocks noChangeAspect="1"/>
          </p:cNvPicPr>
          <p:nvPr/>
        </p:nvPicPr>
        <p:blipFill>
          <a:blip r:embed="rId7"/>
          <a:srcRect b="50862"/>
          <a:stretch/>
        </p:blipFill>
        <p:spPr>
          <a:xfrm>
            <a:off x="7153275" y="4057650"/>
            <a:ext cx="4419600" cy="2171700"/>
          </a:xfrm>
          <a:prstGeom prst="rect">
            <a:avLst/>
          </a:prstGeom>
        </p:spPr>
      </p:pic>
      <p:sp>
        <p:nvSpPr>
          <p:cNvPr id="14" name="Text 7"/>
          <p:cNvSpPr/>
          <p:nvPr/>
        </p:nvSpPr>
        <p:spPr>
          <a:xfrm>
            <a:off x="923925" y="4579144"/>
            <a:ext cx="666750" cy="180975"/>
          </a:xfrm>
          <a:prstGeom prst="roundRect">
            <a:avLst>
              <a:gd name="adj" fmla="val 21053"/>
            </a:avLst>
          </a:prstGeom>
          <a:solidFill>
            <a:srgbClr val="3D68FF"/>
          </a:solidFill>
          <a:ln/>
        </p:spPr>
        <p:txBody>
          <a:bodyPr wrap="square" rtlCol="0" anchor="ctr"/>
          <a:lstStyle/>
          <a:p>
            <a:pPr marL="0" indent="0">
              <a:buNone/>
            </a:pPr>
            <a:endParaRPr lang="en-US" dirty="0"/>
          </a:p>
        </p:txBody>
      </p:sp>
      <p:sp>
        <p:nvSpPr>
          <p:cNvPr id="15" name="Text 8"/>
          <p:cNvSpPr/>
          <p:nvPr/>
        </p:nvSpPr>
        <p:spPr>
          <a:xfrm>
            <a:off x="923925" y="4579144"/>
            <a:ext cx="694944" cy="182880"/>
          </a:xfrm>
          <a:prstGeom prst="rect">
            <a:avLst/>
          </a:prstGeom>
          <a:noFill/>
          <a:ln/>
        </p:spPr>
        <p:txBody>
          <a:bodyPr vert="horz" wrap="square" lIns="76200" tIns="19050" rIns="76200" bIns="19050" rtlCol="0" anchor="t"/>
          <a:lstStyle/>
          <a:p>
            <a:pPr marL="0" indent="0" algn="l">
              <a:lnSpc>
                <a:spcPts val="1125"/>
              </a:lnSpc>
              <a:buNone/>
            </a:pPr>
            <a:r>
              <a:rPr lang="en-US" sz="750" b="1" dirty="0">
                <a:solidFill>
                  <a:srgbClr val="FFFFFF"/>
                </a:solidFill>
                <a:latin typeface="Poppins" pitchFamily="34" charset="0"/>
                <a:ea typeface="Poppins" pitchFamily="34" charset="-122"/>
                <a:cs typeface="Poppins" pitchFamily="34" charset="-120"/>
              </a:rPr>
              <a:t>BAGIAN 01</a:t>
            </a:r>
            <a:endParaRPr lang="en-US" sz="750" dirty="0"/>
          </a:p>
        </p:txBody>
      </p:sp>
      <p:sp>
        <p:nvSpPr>
          <p:cNvPr id="16" name="Text 9"/>
          <p:cNvSpPr/>
          <p:nvPr/>
        </p:nvSpPr>
        <p:spPr>
          <a:xfrm>
            <a:off x="1704975" y="4598194"/>
            <a:ext cx="1188720"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9CA3AF"/>
                </a:solidFill>
                <a:latin typeface="Poppins" pitchFamily="34" charset="0"/>
                <a:ea typeface="Poppins" pitchFamily="34" charset="-122"/>
                <a:cs typeface="Poppins" pitchFamily="34" charset="-120"/>
              </a:rPr>
              <a:t>KATEGORI BESAR</a:t>
            </a:r>
            <a:endParaRPr lang="en-US" sz="750" dirty="0"/>
          </a:p>
        </p:txBody>
      </p:sp>
      <p:sp>
        <p:nvSpPr>
          <p:cNvPr id="17" name="Text 10"/>
          <p:cNvSpPr/>
          <p:nvPr/>
        </p:nvSpPr>
        <p:spPr>
          <a:xfrm>
            <a:off x="619125" y="4274344"/>
            <a:ext cx="6286500" cy="1935956"/>
          </a:xfrm>
          <a:prstGeom prst="rect">
            <a:avLst/>
          </a:prstGeom>
          <a:solidFill>
            <a:srgbClr val="000000">
              <a:alpha val="40000"/>
            </a:srgbClr>
          </a:solidFill>
          <a:ln/>
        </p:spPr>
        <p:txBody>
          <a:bodyPr wrap="square" rtlCol="0" anchor="ctr"/>
          <a:lstStyle/>
          <a:p>
            <a:pPr marL="0" indent="0">
              <a:buNone/>
            </a:pPr>
            <a:endParaRPr lang="en-US" dirty="0"/>
          </a:p>
        </p:txBody>
      </p:sp>
      <p:sp>
        <p:nvSpPr>
          <p:cNvPr id="18" name="Text 11"/>
          <p:cNvSpPr/>
          <p:nvPr/>
        </p:nvSpPr>
        <p:spPr>
          <a:xfrm>
            <a:off x="923925" y="4836319"/>
            <a:ext cx="5870448"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HAK CIPTA &amp; KEKAYAAN INDUSTRI</a:t>
            </a:r>
            <a:endParaRPr lang="en-US" sz="2250" dirty="0"/>
          </a:p>
        </p:txBody>
      </p:sp>
      <p:sp>
        <p:nvSpPr>
          <p:cNvPr id="19" name="Text 12"/>
          <p:cNvSpPr/>
          <p:nvPr/>
        </p:nvSpPr>
        <p:spPr>
          <a:xfrm>
            <a:off x="923925" y="5256609"/>
            <a:ext cx="4306824"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alpha val="90000"/>
                  </a:srgbClr>
                </a:solidFill>
                <a:latin typeface="Poppins" pitchFamily="34" charset="0"/>
                <a:ea typeface="Poppins" pitchFamily="34" charset="-122"/>
                <a:cs typeface="Poppins" pitchFamily="34" charset="-120"/>
              </a:rPr>
              <a:t>Pembagian mencakup Hak Cipta untuk karya seni/sastra serta Hak Kekayaan Industri meliputi Paten, Merek, dan Desain Industri.</a:t>
            </a:r>
            <a:endParaRPr lang="en-US" sz="1050" dirty="0"/>
          </a:p>
        </p:txBody>
      </p:sp>
      <p:sp>
        <p:nvSpPr>
          <p:cNvPr id="20" name="Text 13"/>
          <p:cNvSpPr/>
          <p:nvPr/>
        </p:nvSpPr>
        <p:spPr>
          <a:xfrm>
            <a:off x="7153275" y="2781300"/>
            <a:ext cx="4419600" cy="1028700"/>
          </a:xfrm>
          <a:prstGeom prst="rect">
            <a:avLst/>
          </a:prstGeom>
          <a:solidFill>
            <a:srgbClr val="000000">
              <a:alpha val="40000"/>
            </a:srgbClr>
          </a:solidFill>
          <a:ln/>
        </p:spPr>
        <p:txBody>
          <a:bodyPr wrap="square" rtlCol="0" anchor="ctr"/>
          <a:lstStyle/>
          <a:p>
            <a:pPr marL="0" indent="0">
              <a:buNone/>
            </a:pPr>
            <a:endParaRPr lang="en-US" dirty="0"/>
          </a:p>
        </p:txBody>
      </p:sp>
      <p:sp>
        <p:nvSpPr>
          <p:cNvPr id="21" name="Text 14"/>
          <p:cNvSpPr/>
          <p:nvPr/>
        </p:nvSpPr>
        <p:spPr>
          <a:xfrm>
            <a:off x="7381875" y="3009900"/>
            <a:ext cx="4087368"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40" dirty="0">
                <a:solidFill>
                  <a:srgbClr val="FFFFFF"/>
                </a:solidFill>
                <a:latin typeface="Bebas Neue" pitchFamily="34" charset="0"/>
                <a:ea typeface="Bebas Neue" pitchFamily="34" charset="-122"/>
                <a:cs typeface="Bebas Neue" pitchFamily="34" charset="-120"/>
              </a:rPr>
              <a:t>INOVASI &amp; SISTEM DIGITAL</a:t>
            </a:r>
            <a:endParaRPr lang="en-US" sz="1350" dirty="0"/>
          </a:p>
        </p:txBody>
      </p:sp>
      <p:sp>
        <p:nvSpPr>
          <p:cNvPr id="22" name="Text 15"/>
          <p:cNvSpPr/>
          <p:nvPr/>
        </p:nvSpPr>
        <p:spPr>
          <a:xfrm>
            <a:off x="7381875" y="3276600"/>
            <a:ext cx="3995928" cy="310896"/>
          </a:xfrm>
          <a:prstGeom prst="rect">
            <a:avLst/>
          </a:prstGeom>
          <a:noFill/>
          <a:ln/>
        </p:spPr>
        <p:txBody>
          <a:bodyPr vert="horz" wrap="square" lIns="0" tIns="0" rIns="0" bIns="0" rtlCol="0" anchor="t"/>
          <a:lstStyle/>
          <a:p>
            <a:pPr marL="0" indent="0" algn="l">
              <a:lnSpc>
                <a:spcPts val="1200"/>
              </a:lnSpc>
              <a:buNone/>
            </a:pPr>
            <a:r>
              <a:rPr lang="en-US" sz="900" dirty="0">
                <a:solidFill>
                  <a:srgbClr val="9CA3AF"/>
                </a:solidFill>
                <a:latin typeface="Poppins" pitchFamily="34" charset="0"/>
                <a:ea typeface="Poppins" pitchFamily="34" charset="-122"/>
                <a:cs typeface="Poppins" pitchFamily="34" charset="-120"/>
              </a:rPr>
              <a:t>Melindungi inovasi dan identitas bisnis melalui sertifikat elektronik DJKI.</a:t>
            </a:r>
            <a:endParaRPr lang="en-US" sz="900" dirty="0"/>
          </a:p>
        </p:txBody>
      </p:sp>
      <p:sp>
        <p:nvSpPr>
          <p:cNvPr id="23" name="Text 16"/>
          <p:cNvSpPr/>
          <p:nvPr/>
        </p:nvSpPr>
        <p:spPr>
          <a:xfrm>
            <a:off x="7153275" y="5200650"/>
            <a:ext cx="4419600" cy="1028700"/>
          </a:xfrm>
          <a:prstGeom prst="rect">
            <a:avLst/>
          </a:prstGeom>
          <a:solidFill>
            <a:srgbClr val="000000">
              <a:alpha val="40000"/>
            </a:srgbClr>
          </a:solidFill>
          <a:ln/>
        </p:spPr>
        <p:txBody>
          <a:bodyPr wrap="square" rtlCol="0" anchor="ctr"/>
          <a:lstStyle/>
          <a:p>
            <a:pPr marL="0" indent="0">
              <a:buNone/>
            </a:pPr>
            <a:endParaRPr lang="en-US" dirty="0"/>
          </a:p>
        </p:txBody>
      </p:sp>
      <p:sp>
        <p:nvSpPr>
          <p:cNvPr id="24" name="Text 17"/>
          <p:cNvSpPr/>
          <p:nvPr/>
        </p:nvSpPr>
        <p:spPr>
          <a:xfrm>
            <a:off x="7381875" y="5429250"/>
            <a:ext cx="4087368"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40" dirty="0">
                <a:solidFill>
                  <a:srgbClr val="FFFFFF"/>
                </a:solidFill>
                <a:latin typeface="Bebas Neue" pitchFamily="34" charset="0"/>
                <a:ea typeface="Bebas Neue" pitchFamily="34" charset="-122"/>
                <a:cs typeface="Bebas Neue" pitchFamily="34" charset="-120"/>
              </a:rPr>
              <a:t>PENGELOLAAN STRATEGIS</a:t>
            </a:r>
            <a:endParaRPr lang="en-US" sz="1350" dirty="0"/>
          </a:p>
        </p:txBody>
      </p:sp>
      <p:sp>
        <p:nvSpPr>
          <p:cNvPr id="25" name="Text 18"/>
          <p:cNvSpPr/>
          <p:nvPr/>
        </p:nvSpPr>
        <p:spPr>
          <a:xfrm>
            <a:off x="7381875" y="5695950"/>
            <a:ext cx="3995928" cy="310896"/>
          </a:xfrm>
          <a:prstGeom prst="rect">
            <a:avLst/>
          </a:prstGeom>
          <a:noFill/>
          <a:ln/>
        </p:spPr>
        <p:txBody>
          <a:bodyPr vert="horz" wrap="square" lIns="0" tIns="0" rIns="0" bIns="0" rtlCol="0" anchor="t"/>
          <a:lstStyle/>
          <a:p>
            <a:pPr marL="0" indent="0" algn="l">
              <a:lnSpc>
                <a:spcPts val="1200"/>
              </a:lnSpc>
              <a:buNone/>
            </a:pPr>
            <a:r>
              <a:rPr lang="en-US" sz="900" dirty="0">
                <a:solidFill>
                  <a:srgbClr val="9CA3AF"/>
                </a:solidFill>
                <a:latin typeface="Poppins" pitchFamily="34" charset="0"/>
                <a:ea typeface="Poppins" pitchFamily="34" charset="-122"/>
                <a:cs typeface="Poppins" pitchFamily="34" charset="-120"/>
              </a:rPr>
              <a:t>Kolaborasi kreator, inventor, dan konsultan hukum untuk aset digital.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762000" y="609600"/>
            <a:ext cx="609600" cy="38100"/>
          </a:xfrm>
          <a:prstGeom prst="rect">
            <a:avLst/>
          </a:prstGeom>
          <a:solidFill>
            <a:srgbClr val="6A44F2"/>
          </a:solidFill>
          <a:ln/>
        </p:spPr>
        <p:txBody>
          <a:bodyPr wrap="square" rtlCol="0" anchor="ctr"/>
          <a:lstStyle/>
          <a:p>
            <a:pPr marL="0" indent="0">
              <a:buNone/>
            </a:pPr>
            <a:endParaRPr lang="en-US" dirty="0"/>
          </a:p>
        </p:txBody>
      </p:sp>
      <p:sp>
        <p:nvSpPr>
          <p:cNvPr id="6" name="Text 2"/>
          <p:cNvSpPr/>
          <p:nvPr/>
        </p:nvSpPr>
        <p:spPr>
          <a:xfrm>
            <a:off x="762000" y="800100"/>
            <a:ext cx="11064240" cy="758952"/>
          </a:xfrm>
          <a:prstGeom prst="rect">
            <a:avLst/>
          </a:prstGeom>
          <a:noFill/>
          <a:ln/>
        </p:spPr>
        <p:txBody>
          <a:bodyPr vert="horz" wrap="none" lIns="0" tIns="0" rIns="0" bIns="0" rtlCol="0" anchor="t">
            <a:normAutofit/>
          </a:bodyPr>
          <a:lstStyle/>
          <a:p>
            <a:pPr marL="0" indent="0" algn="l">
              <a:lnSpc>
                <a:spcPts val="5400"/>
              </a:lnSpc>
              <a:buNone/>
            </a:pPr>
            <a:r>
              <a:rPr lang="en-US" sz="5400" b="1" kern="0" spc="-270" dirty="0">
                <a:solidFill>
                  <a:srgbClr val="FFFFFF"/>
                </a:solidFill>
                <a:latin typeface="Bebas Neue" pitchFamily="34" charset="0"/>
                <a:ea typeface="Bebas Neue" pitchFamily="34" charset="-122"/>
                <a:cs typeface="Bebas Neue" pitchFamily="34" charset="-120"/>
              </a:rPr>
              <a:t>HAK CIPTA </a:t>
            </a:r>
            <a:r>
              <a:rPr lang="en-US" sz="5400" b="1" kern="0" spc="-270" dirty="0">
                <a:solidFill>
                  <a:srgbClr val="3D68FF"/>
                </a:solidFill>
                <a:latin typeface="Bebas Neue" pitchFamily="34" charset="0"/>
                <a:ea typeface="Bebas Neue" pitchFamily="34" charset="-122"/>
                <a:cs typeface="Bebas Neue" pitchFamily="34" charset="-120"/>
              </a:rPr>
              <a:t>DIGITAL</a:t>
            </a:r>
            <a:endParaRPr lang="en-US" sz="5400" dirty="0"/>
          </a:p>
        </p:txBody>
      </p:sp>
      <p:sp>
        <p:nvSpPr>
          <p:cNvPr id="7" name="Text 3"/>
          <p:cNvSpPr/>
          <p:nvPr/>
        </p:nvSpPr>
        <p:spPr>
          <a:xfrm>
            <a:off x="762000" y="1638300"/>
            <a:ext cx="10927080" cy="301752"/>
          </a:xfrm>
          <a:prstGeom prst="rect">
            <a:avLst/>
          </a:prstGeom>
          <a:noFill/>
          <a:ln/>
        </p:spPr>
        <p:txBody>
          <a:bodyPr vert="horz" wrap="none" lIns="0" tIns="0" rIns="0" bIns="0" rtlCol="0" anchor="t">
            <a:normAutofit/>
          </a:bodyPr>
          <a:lstStyle/>
          <a:p>
            <a:pPr marL="0" indent="0" algn="l">
              <a:lnSpc>
                <a:spcPts val="2100"/>
              </a:lnSpc>
              <a:buNone/>
            </a:pPr>
            <a:r>
              <a:rPr lang="en-US" sz="1350" kern="0" spc="540" dirty="0">
                <a:solidFill>
                  <a:srgbClr val="9CA3AF"/>
                </a:solidFill>
                <a:latin typeface="Poppins" pitchFamily="34" charset="0"/>
                <a:ea typeface="Poppins" pitchFamily="34" charset="-122"/>
                <a:cs typeface="Poppins" pitchFamily="34" charset="-120"/>
              </a:rPr>
              <a:t>HUKUM KEKAYAAN INTELEKTUAL &amp; BISNIS</a:t>
            </a:r>
            <a:endParaRPr lang="en-US" sz="1350" dirty="0"/>
          </a:p>
        </p:txBody>
      </p:sp>
      <p:sp>
        <p:nvSpPr>
          <p:cNvPr id="8" name="Text 4"/>
          <p:cNvSpPr/>
          <p:nvPr/>
        </p:nvSpPr>
        <p:spPr>
          <a:xfrm>
            <a:off x="762000" y="2362200"/>
            <a:ext cx="5105400" cy="3343275"/>
          </a:xfrm>
          <a:prstGeom prst="roundRect">
            <a:avLst>
              <a:gd name="adj" fmla="val 6838"/>
            </a:avLst>
          </a:prstGeom>
          <a:solidFill>
            <a:srgbClr val="FFFFFF">
              <a:alpha val="2000"/>
            </a:srgbClr>
          </a:solidFill>
          <a:ln/>
        </p:spPr>
        <p:txBody>
          <a:bodyPr wrap="square" rtlCol="0" anchor="ctr"/>
          <a:lstStyle/>
          <a:p>
            <a:pPr marL="0" indent="0">
              <a:buNone/>
            </a:pPr>
            <a:endParaRPr lang="en-US" dirty="0"/>
          </a:p>
        </p:txBody>
      </p:sp>
      <p:sp>
        <p:nvSpPr>
          <p:cNvPr id="9" name="Shape 5"/>
          <p:cNvSpPr/>
          <p:nvPr/>
        </p:nvSpPr>
        <p:spPr>
          <a:xfrm>
            <a:off x="762000" y="2371725"/>
            <a:ext cx="5105400" cy="0"/>
          </a:xfrm>
          <a:prstGeom prst="line">
            <a:avLst/>
          </a:prstGeom>
          <a:noFill/>
          <a:ln w="19050">
            <a:solidFill>
              <a:srgbClr val="6A44F2">
                <a:alpha val="50000"/>
              </a:srgbClr>
            </a:solidFill>
            <a:prstDash val="solid"/>
          </a:ln>
        </p:spPr>
      </p:sp>
      <p:sp>
        <p:nvSpPr>
          <p:cNvPr id="10" name="Shape 6"/>
          <p:cNvSpPr/>
          <p:nvPr/>
        </p:nvSpPr>
        <p:spPr>
          <a:xfrm>
            <a:off x="5867400" y="2362200"/>
            <a:ext cx="0" cy="3343275"/>
          </a:xfrm>
          <a:prstGeom prst="line">
            <a:avLst/>
          </a:prstGeom>
          <a:noFill/>
          <a:ln w="9525">
            <a:solidFill>
              <a:srgbClr val="FFFFFF">
                <a:alpha val="5000"/>
              </a:srgbClr>
            </a:solidFill>
            <a:prstDash val="solid"/>
          </a:ln>
        </p:spPr>
      </p:sp>
      <p:sp>
        <p:nvSpPr>
          <p:cNvPr id="11" name="Shape 7"/>
          <p:cNvSpPr/>
          <p:nvPr/>
        </p:nvSpPr>
        <p:spPr>
          <a:xfrm>
            <a:off x="762000" y="5700713"/>
            <a:ext cx="5105400" cy="0"/>
          </a:xfrm>
          <a:prstGeom prst="line">
            <a:avLst/>
          </a:prstGeom>
          <a:noFill/>
          <a:ln w="9525">
            <a:solidFill>
              <a:srgbClr val="FFFFFF">
                <a:alpha val="5000"/>
              </a:srgbClr>
            </a:solidFill>
            <a:prstDash val="solid"/>
          </a:ln>
        </p:spPr>
      </p:sp>
      <p:sp>
        <p:nvSpPr>
          <p:cNvPr id="12" name="Shape 8"/>
          <p:cNvSpPr/>
          <p:nvPr/>
        </p:nvSpPr>
        <p:spPr>
          <a:xfrm>
            <a:off x="762000" y="2362200"/>
            <a:ext cx="0" cy="3343275"/>
          </a:xfrm>
          <a:prstGeom prst="line">
            <a:avLst/>
          </a:prstGeom>
          <a:noFill/>
          <a:ln w="9525">
            <a:solidFill>
              <a:srgbClr val="FFFFFF">
                <a:alpha val="5000"/>
              </a:srgbClr>
            </a:solidFill>
            <a:prstDash val="solid"/>
          </a:ln>
        </p:spPr>
      </p:sp>
      <p:sp>
        <p:nvSpPr>
          <p:cNvPr id="13" name="Text 9"/>
          <p:cNvSpPr/>
          <p:nvPr/>
        </p:nvSpPr>
        <p:spPr>
          <a:xfrm>
            <a:off x="1152525" y="2762250"/>
            <a:ext cx="4443984"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360" dirty="0">
                <a:solidFill>
                  <a:srgbClr val="6A44F2"/>
                </a:solidFill>
                <a:latin typeface="Bebas Neue" pitchFamily="34" charset="0"/>
                <a:ea typeface="Bebas Neue" pitchFamily="34" charset="-122"/>
                <a:cs typeface="Bebas Neue" pitchFamily="34" charset="-120"/>
              </a:rPr>
              <a:t>POIN 01: PERLINDUNGAN OBJEK</a:t>
            </a:r>
            <a:endParaRPr lang="en-US" sz="900" dirty="0"/>
          </a:p>
        </p:txBody>
      </p:sp>
      <p:sp>
        <p:nvSpPr>
          <p:cNvPr id="14" name="Text 10"/>
          <p:cNvSpPr/>
          <p:nvPr/>
        </p:nvSpPr>
        <p:spPr>
          <a:xfrm>
            <a:off x="1152525" y="3143250"/>
            <a:ext cx="4489704"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Cakupan Karya Dunia Digital</a:t>
            </a:r>
            <a:endParaRPr lang="en-US" sz="2250" dirty="0"/>
          </a:p>
        </p:txBody>
      </p:sp>
      <p:sp>
        <p:nvSpPr>
          <p:cNvPr id="15" name="Text 11"/>
          <p:cNvSpPr/>
          <p:nvPr/>
        </p:nvSpPr>
        <p:spPr>
          <a:xfrm>
            <a:off x="1152525" y="3714750"/>
            <a:ext cx="43616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Hak Cipta melindungi berbagai karya kreatif mulai dari musik, film, buku, hingga kode program (software). Perlindungan ini bersifat otomatis atau deklaratif segera setelah karya tersebut diwujudkan secara nyata dalam bentuk fisik maupun digital.</a:t>
            </a:r>
            <a:endParaRPr lang="en-US" sz="1050" dirty="0"/>
          </a:p>
        </p:txBody>
      </p:sp>
      <p:pic>
        <p:nvPicPr>
          <p:cNvPr id="16" name="Image 2" descr="image.png"/>
          <p:cNvPicPr>
            <a:picLocks noChangeAspect="1"/>
          </p:cNvPicPr>
          <p:nvPr/>
        </p:nvPicPr>
        <p:blipFill>
          <a:blip r:embed="rId5"/>
          <a:srcRect/>
          <a:stretch/>
        </p:blipFill>
        <p:spPr>
          <a:xfrm>
            <a:off x="1152525" y="4912519"/>
            <a:ext cx="95250" cy="104775"/>
          </a:xfrm>
          <a:prstGeom prst="rect">
            <a:avLst/>
          </a:prstGeom>
        </p:spPr>
      </p:pic>
      <p:sp>
        <p:nvSpPr>
          <p:cNvPr id="17" name="Text 12"/>
          <p:cNvSpPr/>
          <p:nvPr/>
        </p:nvSpPr>
        <p:spPr>
          <a:xfrm>
            <a:off x="1247775" y="4883944"/>
            <a:ext cx="4343400" cy="192024"/>
          </a:xfrm>
          <a:prstGeom prst="rect">
            <a:avLst/>
          </a:prstGeom>
          <a:noFill/>
          <a:ln/>
        </p:spPr>
        <p:txBody>
          <a:bodyPr vert="horz" wrap="none" lIns="76200" tIns="0" rIns="0" bIns="0" rtlCol="0" anchor="ctr">
            <a:normAutofit/>
          </a:bodyPr>
          <a:lstStyle/>
          <a:p>
            <a:pPr marL="0" indent="0" algn="l">
              <a:lnSpc>
                <a:spcPts val="1238"/>
              </a:lnSpc>
              <a:buNone/>
            </a:pPr>
            <a:r>
              <a:rPr lang="en-US" sz="825" b="1" kern="0" spc="80" dirty="0">
                <a:solidFill>
                  <a:srgbClr val="9CA3AF"/>
                </a:solidFill>
                <a:latin typeface="Poppins" pitchFamily="34" charset="0"/>
                <a:ea typeface="Poppins" pitchFamily="34" charset="-122"/>
                <a:cs typeface="Poppins" pitchFamily="34" charset="-120"/>
              </a:rPr>
              <a:t>MUSIK, FILM &amp; LITERATUR</a:t>
            </a:r>
            <a:endParaRPr lang="en-US" sz="825" dirty="0"/>
          </a:p>
        </p:txBody>
      </p:sp>
      <p:pic>
        <p:nvPicPr>
          <p:cNvPr id="18" name="Image 3" descr="image.png"/>
          <p:cNvPicPr>
            <a:picLocks noChangeAspect="1"/>
          </p:cNvPicPr>
          <p:nvPr/>
        </p:nvPicPr>
        <p:blipFill>
          <a:blip r:embed="rId5"/>
          <a:srcRect/>
          <a:stretch/>
        </p:blipFill>
        <p:spPr>
          <a:xfrm>
            <a:off x="1152525" y="5183981"/>
            <a:ext cx="95250" cy="104775"/>
          </a:xfrm>
          <a:prstGeom prst="rect">
            <a:avLst/>
          </a:prstGeom>
        </p:spPr>
      </p:pic>
      <p:sp>
        <p:nvSpPr>
          <p:cNvPr id="19" name="Text 13"/>
          <p:cNvSpPr/>
          <p:nvPr/>
        </p:nvSpPr>
        <p:spPr>
          <a:xfrm>
            <a:off x="1247775" y="5155406"/>
            <a:ext cx="4343400" cy="192024"/>
          </a:xfrm>
          <a:prstGeom prst="rect">
            <a:avLst/>
          </a:prstGeom>
          <a:noFill/>
          <a:ln/>
        </p:spPr>
        <p:txBody>
          <a:bodyPr vert="horz" wrap="none" lIns="76200" tIns="0" rIns="0" bIns="0" rtlCol="0" anchor="ctr">
            <a:normAutofit/>
          </a:bodyPr>
          <a:lstStyle/>
          <a:p>
            <a:pPr marL="0" indent="0" algn="l">
              <a:lnSpc>
                <a:spcPts val="1238"/>
              </a:lnSpc>
              <a:buNone/>
            </a:pPr>
            <a:r>
              <a:rPr lang="en-US" sz="825" b="1" kern="0" spc="80" dirty="0">
                <a:solidFill>
                  <a:srgbClr val="9CA3AF"/>
                </a:solidFill>
                <a:latin typeface="Poppins" pitchFamily="34" charset="0"/>
                <a:ea typeface="Poppins" pitchFamily="34" charset="-122"/>
                <a:cs typeface="Poppins" pitchFamily="34" charset="-120"/>
              </a:rPr>
              <a:t>PERANGKAT LUNAK (SOFTWARE)</a:t>
            </a:r>
            <a:endParaRPr lang="en-US" sz="825" dirty="0"/>
          </a:p>
        </p:txBody>
      </p:sp>
      <p:sp>
        <p:nvSpPr>
          <p:cNvPr id="20" name="Text 14"/>
          <p:cNvSpPr/>
          <p:nvPr/>
        </p:nvSpPr>
        <p:spPr>
          <a:xfrm>
            <a:off x="6324600" y="2362200"/>
            <a:ext cx="5105400" cy="3343275"/>
          </a:xfrm>
          <a:prstGeom prst="roundRect">
            <a:avLst>
              <a:gd name="adj" fmla="val 6838"/>
            </a:avLst>
          </a:prstGeom>
          <a:solidFill>
            <a:srgbClr val="FFFFFF">
              <a:alpha val="2000"/>
            </a:srgbClr>
          </a:solidFill>
          <a:ln/>
        </p:spPr>
        <p:txBody>
          <a:bodyPr wrap="square" rtlCol="0" anchor="ctr"/>
          <a:lstStyle/>
          <a:p>
            <a:pPr marL="0" indent="0">
              <a:buNone/>
            </a:pPr>
            <a:endParaRPr lang="en-US" dirty="0"/>
          </a:p>
        </p:txBody>
      </p:sp>
      <p:sp>
        <p:nvSpPr>
          <p:cNvPr id="21" name="Shape 15"/>
          <p:cNvSpPr/>
          <p:nvPr/>
        </p:nvSpPr>
        <p:spPr>
          <a:xfrm>
            <a:off x="6324600" y="2371725"/>
            <a:ext cx="5105400" cy="0"/>
          </a:xfrm>
          <a:prstGeom prst="line">
            <a:avLst/>
          </a:prstGeom>
          <a:noFill/>
          <a:ln w="19050">
            <a:solidFill>
              <a:srgbClr val="3D68FF">
                <a:alpha val="50000"/>
              </a:srgbClr>
            </a:solidFill>
            <a:prstDash val="solid"/>
          </a:ln>
        </p:spPr>
      </p:sp>
      <p:sp>
        <p:nvSpPr>
          <p:cNvPr id="22" name="Shape 16"/>
          <p:cNvSpPr/>
          <p:nvPr/>
        </p:nvSpPr>
        <p:spPr>
          <a:xfrm>
            <a:off x="11430000" y="2362200"/>
            <a:ext cx="0" cy="3343275"/>
          </a:xfrm>
          <a:prstGeom prst="line">
            <a:avLst/>
          </a:prstGeom>
          <a:noFill/>
          <a:ln w="9525">
            <a:solidFill>
              <a:srgbClr val="FFFFFF">
                <a:alpha val="5000"/>
              </a:srgbClr>
            </a:solidFill>
            <a:prstDash val="solid"/>
          </a:ln>
        </p:spPr>
      </p:sp>
      <p:sp>
        <p:nvSpPr>
          <p:cNvPr id="23" name="Shape 17"/>
          <p:cNvSpPr/>
          <p:nvPr/>
        </p:nvSpPr>
        <p:spPr>
          <a:xfrm>
            <a:off x="6324600" y="5700713"/>
            <a:ext cx="5105400" cy="0"/>
          </a:xfrm>
          <a:prstGeom prst="line">
            <a:avLst/>
          </a:prstGeom>
          <a:noFill/>
          <a:ln w="9525">
            <a:solidFill>
              <a:srgbClr val="FFFFFF">
                <a:alpha val="5000"/>
              </a:srgbClr>
            </a:solidFill>
            <a:prstDash val="solid"/>
          </a:ln>
        </p:spPr>
      </p:sp>
      <p:sp>
        <p:nvSpPr>
          <p:cNvPr id="24" name="Shape 18"/>
          <p:cNvSpPr/>
          <p:nvPr/>
        </p:nvSpPr>
        <p:spPr>
          <a:xfrm>
            <a:off x="6324600" y="2362200"/>
            <a:ext cx="0" cy="3343275"/>
          </a:xfrm>
          <a:prstGeom prst="line">
            <a:avLst/>
          </a:prstGeom>
          <a:noFill/>
          <a:ln w="9525">
            <a:solidFill>
              <a:srgbClr val="FFFFFF">
                <a:alpha val="5000"/>
              </a:srgbClr>
            </a:solidFill>
            <a:prstDash val="solid"/>
          </a:ln>
        </p:spPr>
      </p:sp>
      <p:sp>
        <p:nvSpPr>
          <p:cNvPr id="25" name="Text 19"/>
          <p:cNvSpPr/>
          <p:nvPr/>
        </p:nvSpPr>
        <p:spPr>
          <a:xfrm>
            <a:off x="6715125" y="2762250"/>
            <a:ext cx="4443984"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360" dirty="0">
                <a:solidFill>
                  <a:srgbClr val="3D68FF"/>
                </a:solidFill>
                <a:latin typeface="Bebas Neue" pitchFamily="34" charset="0"/>
                <a:ea typeface="Bebas Neue" pitchFamily="34" charset="-122"/>
                <a:cs typeface="Bebas Neue" pitchFamily="34" charset="-120"/>
              </a:rPr>
              <a:t>POIN 02: ASPEK PEMBUKTIAN</a:t>
            </a:r>
            <a:endParaRPr lang="en-US" sz="900" dirty="0"/>
          </a:p>
        </p:txBody>
      </p:sp>
      <p:sp>
        <p:nvSpPr>
          <p:cNvPr id="26" name="Text 20"/>
          <p:cNvSpPr/>
          <p:nvPr/>
        </p:nvSpPr>
        <p:spPr>
          <a:xfrm>
            <a:off x="6715125" y="3143250"/>
            <a:ext cx="4489704"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Urgensi Dokumentasi Karya</a:t>
            </a:r>
            <a:endParaRPr lang="en-US" sz="2250" dirty="0"/>
          </a:p>
        </p:txBody>
      </p:sp>
      <p:sp>
        <p:nvSpPr>
          <p:cNvPr id="27" name="Text 21"/>
          <p:cNvSpPr/>
          <p:nvPr/>
        </p:nvSpPr>
        <p:spPr>
          <a:xfrm>
            <a:off x="6715125" y="3714750"/>
            <a:ext cx="43616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Meskipun perlindungan timbul secara otomatis, dokumentasi keaslian tetap menjadi hal krusial sebagai alat bukti hukum yang kuat. Pencatatan karya berfungsi untuk melindungi hak moral dan ekonomi pencipta di tengah ekosistem bisnis digital global.</a:t>
            </a:r>
            <a:endParaRPr lang="en-US" sz="1050" dirty="0"/>
          </a:p>
        </p:txBody>
      </p:sp>
      <p:pic>
        <p:nvPicPr>
          <p:cNvPr id="28" name="Image 4" descr="image.png"/>
          <p:cNvPicPr>
            <a:picLocks noChangeAspect="1"/>
          </p:cNvPicPr>
          <p:nvPr/>
        </p:nvPicPr>
        <p:blipFill>
          <a:blip r:embed="rId6"/>
          <a:srcRect/>
          <a:stretch/>
        </p:blipFill>
        <p:spPr>
          <a:xfrm>
            <a:off x="6715125" y="4912519"/>
            <a:ext cx="85725" cy="104775"/>
          </a:xfrm>
          <a:prstGeom prst="rect">
            <a:avLst/>
          </a:prstGeom>
        </p:spPr>
      </p:pic>
      <p:sp>
        <p:nvSpPr>
          <p:cNvPr id="29" name="Text 22"/>
          <p:cNvSpPr/>
          <p:nvPr/>
        </p:nvSpPr>
        <p:spPr>
          <a:xfrm>
            <a:off x="6800850" y="4883944"/>
            <a:ext cx="4352544" cy="192024"/>
          </a:xfrm>
          <a:prstGeom prst="rect">
            <a:avLst/>
          </a:prstGeom>
          <a:noFill/>
          <a:ln/>
        </p:spPr>
        <p:txBody>
          <a:bodyPr vert="horz" wrap="none" lIns="76200" tIns="0" rIns="0" bIns="0" rtlCol="0" anchor="ctr">
            <a:normAutofit/>
          </a:bodyPr>
          <a:lstStyle/>
          <a:p>
            <a:pPr marL="0" indent="0" algn="l">
              <a:lnSpc>
                <a:spcPts val="1238"/>
              </a:lnSpc>
              <a:buNone/>
            </a:pPr>
            <a:r>
              <a:rPr lang="en-US" sz="825" b="1" kern="0" spc="80" dirty="0">
                <a:solidFill>
                  <a:srgbClr val="9CA3AF"/>
                </a:solidFill>
                <a:latin typeface="Poppins" pitchFamily="34" charset="0"/>
                <a:ea typeface="Poppins" pitchFamily="34" charset="-122"/>
                <a:cs typeface="Poppins" pitchFamily="34" charset="-120"/>
              </a:rPr>
              <a:t>BUKTI KEASLIAN HUKUM</a:t>
            </a:r>
            <a:endParaRPr lang="en-US" sz="825" dirty="0"/>
          </a:p>
        </p:txBody>
      </p:sp>
      <p:pic>
        <p:nvPicPr>
          <p:cNvPr id="30" name="Image 5" descr="image.png"/>
          <p:cNvPicPr>
            <a:picLocks noChangeAspect="1"/>
          </p:cNvPicPr>
          <p:nvPr/>
        </p:nvPicPr>
        <p:blipFill>
          <a:blip r:embed="rId6"/>
          <a:srcRect/>
          <a:stretch/>
        </p:blipFill>
        <p:spPr>
          <a:xfrm>
            <a:off x="6715125" y="5183981"/>
            <a:ext cx="85725" cy="104775"/>
          </a:xfrm>
          <a:prstGeom prst="rect">
            <a:avLst/>
          </a:prstGeom>
        </p:spPr>
      </p:pic>
      <p:sp>
        <p:nvSpPr>
          <p:cNvPr id="31" name="Text 23"/>
          <p:cNvSpPr/>
          <p:nvPr/>
        </p:nvSpPr>
        <p:spPr>
          <a:xfrm>
            <a:off x="6800850" y="5155406"/>
            <a:ext cx="4352544" cy="192024"/>
          </a:xfrm>
          <a:prstGeom prst="rect">
            <a:avLst/>
          </a:prstGeom>
          <a:noFill/>
          <a:ln/>
        </p:spPr>
        <p:txBody>
          <a:bodyPr vert="horz" wrap="none" lIns="76200" tIns="0" rIns="0" bIns="0" rtlCol="0" anchor="ctr">
            <a:normAutofit/>
          </a:bodyPr>
          <a:lstStyle/>
          <a:p>
            <a:pPr marL="0" indent="0" algn="l">
              <a:lnSpc>
                <a:spcPts val="1238"/>
              </a:lnSpc>
              <a:buNone/>
            </a:pPr>
            <a:r>
              <a:rPr lang="en-US" sz="825" b="1" kern="0" spc="80" dirty="0">
                <a:solidFill>
                  <a:srgbClr val="9CA3AF"/>
                </a:solidFill>
                <a:latin typeface="Poppins" pitchFamily="34" charset="0"/>
                <a:ea typeface="Poppins" pitchFamily="34" charset="-122"/>
                <a:cs typeface="Poppins" pitchFamily="34" charset="-120"/>
              </a:rPr>
              <a:t>VALIDASI HAK CIPTA DIGITAL</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905625"/>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4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40000"/>
          </a:blip>
          <a:srcRect/>
          <a:stretch/>
        </p:blipFill>
        <p:spPr>
          <a:xfrm>
            <a:off x="7905750" y="3095625"/>
            <a:ext cx="4762500" cy="4762500"/>
          </a:xfrm>
          <a:prstGeom prst="rect">
            <a:avLst/>
          </a:prstGeom>
        </p:spPr>
      </p:pic>
      <p:sp>
        <p:nvSpPr>
          <p:cNvPr id="5" name="Shape 1"/>
          <p:cNvSpPr/>
          <p:nvPr/>
        </p:nvSpPr>
        <p:spPr>
          <a:xfrm>
            <a:off x="762000" y="1909762"/>
            <a:ext cx="10668000" cy="0"/>
          </a:xfrm>
          <a:prstGeom prst="line">
            <a:avLst/>
          </a:prstGeom>
          <a:noFill/>
          <a:ln w="9525">
            <a:solidFill>
              <a:srgbClr val="FFFFFF">
                <a:alpha val="10000"/>
              </a:srgbClr>
            </a:solidFill>
            <a:prstDash val="solid"/>
          </a:ln>
        </p:spPr>
      </p:sp>
      <p:sp>
        <p:nvSpPr>
          <p:cNvPr id="6" name="Text 2"/>
          <p:cNvSpPr/>
          <p:nvPr/>
        </p:nvSpPr>
        <p:spPr>
          <a:xfrm>
            <a:off x="763935" y="609600"/>
            <a:ext cx="3410712"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360" dirty="0">
                <a:solidFill>
                  <a:srgbClr val="6A44F2"/>
                </a:solidFill>
                <a:latin typeface="Poppins" pitchFamily="34" charset="0"/>
                <a:ea typeface="Poppins" pitchFamily="34" charset="-122"/>
                <a:cs typeface="Poppins" pitchFamily="34" charset="-120"/>
              </a:rPr>
              <a:t>HUKUM KEKAYAAN INDUSTRI / 02</a:t>
            </a:r>
            <a:endParaRPr lang="en-US" sz="900" dirty="0"/>
          </a:p>
        </p:txBody>
      </p:sp>
      <p:sp>
        <p:nvSpPr>
          <p:cNvPr id="7" name="Text 3"/>
          <p:cNvSpPr/>
          <p:nvPr/>
        </p:nvSpPr>
        <p:spPr>
          <a:xfrm>
            <a:off x="763935" y="838200"/>
            <a:ext cx="3557016" cy="758952"/>
          </a:xfrm>
          <a:prstGeom prst="rect">
            <a:avLst/>
          </a:prstGeom>
          <a:noFill/>
          <a:ln/>
        </p:spPr>
        <p:txBody>
          <a:bodyPr vert="horz" wrap="none" lIns="0" tIns="0" rIns="0" bIns="0" rtlCol="0" anchor="t">
            <a:normAutofit/>
          </a:bodyPr>
          <a:lstStyle/>
          <a:p>
            <a:pPr marL="0" indent="0" algn="l">
              <a:lnSpc>
                <a:spcPts val="5400"/>
              </a:lnSpc>
              <a:buNone/>
            </a:pPr>
            <a:r>
              <a:rPr lang="en-US" sz="5400" b="1" kern="0" spc="-270" dirty="0">
                <a:solidFill>
                  <a:srgbClr val="FFFFFF"/>
                </a:solidFill>
                <a:latin typeface="Bebas Neue" pitchFamily="34" charset="0"/>
                <a:ea typeface="Bebas Neue" pitchFamily="34" charset="-122"/>
                <a:cs typeface="Bebas Neue" pitchFamily="34" charset="-120"/>
              </a:rPr>
              <a:t>PATEN &amp; </a:t>
            </a:r>
            <a:r>
              <a:rPr lang="en-US" sz="5400" b="1" kern="0" spc="-270" dirty="0">
                <a:solidFill>
                  <a:srgbClr val="FFFFFF">
                    <a:alpha val="60000"/>
                  </a:srgbClr>
                </a:solidFill>
                <a:latin typeface="Bebas Neue" pitchFamily="34" charset="0"/>
                <a:ea typeface="Bebas Neue" pitchFamily="34" charset="-122"/>
                <a:cs typeface="Bebas Neue" pitchFamily="34" charset="-120"/>
              </a:rPr>
              <a:t>DESAIN</a:t>
            </a:r>
            <a:endParaRPr lang="en-US" sz="5400" dirty="0"/>
          </a:p>
        </p:txBody>
      </p:sp>
      <p:sp>
        <p:nvSpPr>
          <p:cNvPr id="8" name="Text 4"/>
          <p:cNvSpPr/>
          <p:nvPr/>
        </p:nvSpPr>
        <p:spPr>
          <a:xfrm>
            <a:off x="10972800" y="876300"/>
            <a:ext cx="457200" cy="38100"/>
          </a:xfrm>
          <a:prstGeom prst="rect">
            <a:avLst/>
          </a:prstGeom>
          <a:solidFill>
            <a:srgbClr val="3D68FF"/>
          </a:solidFill>
          <a:ln/>
        </p:spPr>
        <p:txBody>
          <a:bodyPr wrap="square" rtlCol="0" anchor="ctr"/>
          <a:lstStyle/>
          <a:p>
            <a:pPr marL="0" indent="0">
              <a:buNone/>
            </a:pPr>
            <a:endParaRPr lang="en-US" dirty="0"/>
          </a:p>
        </p:txBody>
      </p:sp>
      <p:sp>
        <p:nvSpPr>
          <p:cNvPr id="9" name="Text 5"/>
          <p:cNvSpPr/>
          <p:nvPr/>
        </p:nvSpPr>
        <p:spPr>
          <a:xfrm>
            <a:off x="8959471" y="1066800"/>
            <a:ext cx="2514600" cy="301752"/>
          </a:xfrm>
          <a:prstGeom prst="rect">
            <a:avLst/>
          </a:prstGeom>
          <a:noFill/>
          <a:ln/>
        </p:spPr>
        <p:txBody>
          <a:bodyPr vert="horz" wrap="none" lIns="0" tIns="0" rIns="0" bIns="0" rtlCol="0" anchor="t">
            <a:normAutofit/>
          </a:bodyPr>
          <a:lstStyle/>
          <a:p>
            <a:pPr marL="0" indent="0" algn="r">
              <a:lnSpc>
                <a:spcPts val="2100"/>
              </a:lnSpc>
              <a:buNone/>
            </a:pPr>
            <a:r>
              <a:rPr lang="en-US" sz="1350" b="1" kern="0" spc="-40" dirty="0">
                <a:solidFill>
                  <a:srgbClr val="FFFFFF"/>
                </a:solidFill>
                <a:latin typeface="Poppins" pitchFamily="34" charset="0"/>
                <a:ea typeface="Poppins" pitchFamily="34" charset="-122"/>
                <a:cs typeface="Poppins" pitchFamily="34" charset="-120"/>
              </a:rPr>
              <a:t>Perlindungan Inovasi Digital</a:t>
            </a:r>
            <a:endParaRPr lang="en-US" sz="1350" dirty="0"/>
          </a:p>
        </p:txBody>
      </p:sp>
      <p:sp>
        <p:nvSpPr>
          <p:cNvPr id="10" name="Text 6"/>
          <p:cNvSpPr/>
          <p:nvPr/>
        </p:nvSpPr>
        <p:spPr>
          <a:xfrm>
            <a:off x="8959757" y="1371600"/>
            <a:ext cx="2505456" cy="182880"/>
          </a:xfrm>
          <a:prstGeom prst="rect">
            <a:avLst/>
          </a:prstGeom>
          <a:noFill/>
          <a:ln/>
        </p:spPr>
        <p:txBody>
          <a:bodyPr vert="horz" wrap="none" lIns="0" tIns="0" rIns="0" bIns="0" rtlCol="0" anchor="t">
            <a:normAutofit/>
          </a:bodyPr>
          <a:lstStyle/>
          <a:p>
            <a:pPr marL="0" indent="0" algn="r">
              <a:lnSpc>
                <a:spcPts val="1200"/>
              </a:lnSpc>
              <a:buNone/>
            </a:pPr>
            <a:r>
              <a:rPr lang="en-US" sz="900" kern="0" spc="90" dirty="0">
                <a:solidFill>
                  <a:srgbClr val="9CA3AF"/>
                </a:solidFill>
                <a:latin typeface="Poppins" pitchFamily="34" charset="0"/>
                <a:ea typeface="Poppins" pitchFamily="34" charset="-122"/>
                <a:cs typeface="Poppins" pitchFamily="34" charset="-120"/>
              </a:rPr>
              <a:t>BISNIS DIGITAL &amp; HAKI 2024</a:t>
            </a:r>
            <a:endParaRPr lang="en-US" sz="900" dirty="0"/>
          </a:p>
        </p:txBody>
      </p:sp>
      <p:sp>
        <p:nvSpPr>
          <p:cNvPr id="11" name="Text 7"/>
          <p:cNvSpPr/>
          <p:nvPr/>
        </p:nvSpPr>
        <p:spPr>
          <a:xfrm>
            <a:off x="762000" y="2447925"/>
            <a:ext cx="228600" cy="19050"/>
          </a:xfrm>
          <a:prstGeom prst="rect">
            <a:avLst/>
          </a:prstGeom>
          <a:solidFill>
            <a:srgbClr val="3D68FF"/>
          </a:solidFill>
          <a:ln/>
        </p:spPr>
        <p:txBody>
          <a:bodyPr wrap="square" rtlCol="0" anchor="ctr"/>
          <a:lstStyle/>
          <a:p>
            <a:pPr marL="0" indent="0">
              <a:buNone/>
            </a:pPr>
            <a:endParaRPr lang="en-US" dirty="0"/>
          </a:p>
        </p:txBody>
      </p:sp>
      <p:sp>
        <p:nvSpPr>
          <p:cNvPr id="12" name="Text 8"/>
          <p:cNvSpPr/>
          <p:nvPr/>
        </p:nvSpPr>
        <p:spPr>
          <a:xfrm>
            <a:off x="763563" y="2619375"/>
            <a:ext cx="196596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50" dirty="0">
                <a:solidFill>
                  <a:srgbClr val="FFFFFF"/>
                </a:solidFill>
                <a:latin typeface="Bebas Neue" pitchFamily="34" charset="0"/>
                <a:ea typeface="Bebas Neue" pitchFamily="34" charset="-122"/>
                <a:cs typeface="Bebas Neue" pitchFamily="34" charset="-120"/>
              </a:rPr>
              <a:t>PATEN TEKNIS</a:t>
            </a:r>
            <a:endParaRPr lang="en-US" sz="1500" dirty="0"/>
          </a:p>
        </p:txBody>
      </p:sp>
      <p:sp>
        <p:nvSpPr>
          <p:cNvPr id="13" name="Text 9"/>
          <p:cNvSpPr/>
          <p:nvPr/>
        </p:nvSpPr>
        <p:spPr>
          <a:xfrm>
            <a:off x="763563" y="3038475"/>
            <a:ext cx="1911096"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Melindungi invensi teknologi baru, proses teknis, perangkat keras, dan algoritma sebagai solusi.</a:t>
            </a:r>
            <a:endParaRPr lang="en-US" sz="1050" dirty="0"/>
          </a:p>
        </p:txBody>
      </p:sp>
      <p:sp>
        <p:nvSpPr>
          <p:cNvPr id="14" name="Text 10"/>
          <p:cNvSpPr/>
          <p:nvPr/>
        </p:nvSpPr>
        <p:spPr>
          <a:xfrm>
            <a:off x="2870150" y="2447925"/>
            <a:ext cx="228600" cy="19050"/>
          </a:xfrm>
          <a:prstGeom prst="rect">
            <a:avLst/>
          </a:prstGeom>
          <a:solidFill>
            <a:srgbClr val="6A44F2"/>
          </a:solidFill>
          <a:ln/>
        </p:spPr>
        <p:txBody>
          <a:bodyPr wrap="square" rtlCol="0" anchor="ctr"/>
          <a:lstStyle/>
          <a:p>
            <a:pPr marL="0" indent="0">
              <a:buNone/>
            </a:pPr>
            <a:endParaRPr lang="en-US" dirty="0"/>
          </a:p>
        </p:txBody>
      </p:sp>
      <p:sp>
        <p:nvSpPr>
          <p:cNvPr id="15" name="Text 11"/>
          <p:cNvSpPr/>
          <p:nvPr/>
        </p:nvSpPr>
        <p:spPr>
          <a:xfrm>
            <a:off x="2871713" y="2619375"/>
            <a:ext cx="196596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50" dirty="0">
                <a:solidFill>
                  <a:srgbClr val="FFFFFF"/>
                </a:solidFill>
                <a:latin typeface="Bebas Neue" pitchFamily="34" charset="0"/>
                <a:ea typeface="Bebas Neue" pitchFamily="34" charset="-122"/>
                <a:cs typeface="Bebas Neue" pitchFamily="34" charset="-120"/>
              </a:rPr>
              <a:t>DESAIN PRODUK</a:t>
            </a:r>
            <a:endParaRPr lang="en-US" sz="1500" dirty="0"/>
          </a:p>
        </p:txBody>
      </p:sp>
      <p:sp>
        <p:nvSpPr>
          <p:cNvPr id="16" name="Text 12"/>
          <p:cNvSpPr/>
          <p:nvPr/>
        </p:nvSpPr>
        <p:spPr>
          <a:xfrm>
            <a:off x="2871713" y="3037284"/>
            <a:ext cx="1911096" cy="1088136"/>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Perlindungan estetika, bentuk luar, dan penampilan visual agar tidak ditiru oleh kompetitor bisnis.</a:t>
            </a:r>
            <a:endParaRPr lang="en-US" sz="1050" dirty="0"/>
          </a:p>
        </p:txBody>
      </p:sp>
      <p:sp>
        <p:nvSpPr>
          <p:cNvPr id="17" name="Text 13"/>
          <p:cNvSpPr/>
          <p:nvPr/>
        </p:nvSpPr>
        <p:spPr>
          <a:xfrm>
            <a:off x="4978301" y="2295525"/>
            <a:ext cx="228600" cy="19050"/>
          </a:xfrm>
          <a:prstGeom prst="rect">
            <a:avLst/>
          </a:prstGeom>
          <a:solidFill>
            <a:srgbClr val="FFFFFF">
              <a:alpha val="40000"/>
            </a:srgbClr>
          </a:solidFill>
          <a:ln/>
        </p:spPr>
        <p:txBody>
          <a:bodyPr wrap="square" rtlCol="0" anchor="ctr"/>
          <a:lstStyle/>
          <a:p>
            <a:pPr marL="0" indent="0">
              <a:buNone/>
            </a:pPr>
            <a:endParaRPr lang="en-US" dirty="0"/>
          </a:p>
        </p:txBody>
      </p:sp>
      <p:sp>
        <p:nvSpPr>
          <p:cNvPr id="18" name="Text 14"/>
          <p:cNvSpPr/>
          <p:nvPr/>
        </p:nvSpPr>
        <p:spPr>
          <a:xfrm>
            <a:off x="4979863" y="2466975"/>
            <a:ext cx="1965960"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150" dirty="0">
                <a:solidFill>
                  <a:srgbClr val="FFFFFF"/>
                </a:solidFill>
                <a:latin typeface="Bebas Neue" pitchFamily="34" charset="0"/>
                <a:ea typeface="Bebas Neue" pitchFamily="34" charset="-122"/>
                <a:cs typeface="Bebas Neue" pitchFamily="34" charset="-120"/>
              </a:rPr>
              <a:t>RELEVANSI AI</a:t>
            </a:r>
            <a:endParaRPr lang="en-US" sz="1500" dirty="0"/>
          </a:p>
        </p:txBody>
      </p:sp>
      <p:sp>
        <p:nvSpPr>
          <p:cNvPr id="19" name="Text 15"/>
          <p:cNvSpPr/>
          <p:nvPr/>
        </p:nvSpPr>
        <p:spPr>
          <a:xfrm>
            <a:off x="4979863" y="2886075"/>
            <a:ext cx="1911096"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Krusial bagi inovasi perangkat keras dan algoritma tertentu dalam ekosistem digital modern.</a:t>
            </a:r>
            <a:endParaRPr lang="en-US" sz="1050" dirty="0"/>
          </a:p>
        </p:txBody>
      </p:sp>
      <p:sp>
        <p:nvSpPr>
          <p:cNvPr id="20" name="Text 16"/>
          <p:cNvSpPr/>
          <p:nvPr/>
        </p:nvSpPr>
        <p:spPr>
          <a:xfrm>
            <a:off x="762000" y="5272088"/>
            <a:ext cx="6096000" cy="1552575"/>
          </a:xfrm>
          <a:prstGeom prst="roundRect">
            <a:avLst>
              <a:gd name="adj" fmla="val 12270"/>
            </a:avLst>
          </a:prstGeom>
          <a:solidFill>
            <a:srgbClr val="FFFFFF">
              <a:alpha val="2000"/>
            </a:srgbClr>
          </a:solidFill>
          <a:ln/>
        </p:spPr>
        <p:txBody>
          <a:bodyPr wrap="square" rtlCol="0" anchor="ctr"/>
          <a:lstStyle/>
          <a:p>
            <a:pPr marL="0" indent="0">
              <a:buNone/>
            </a:pPr>
            <a:endParaRPr lang="en-US" dirty="0"/>
          </a:p>
        </p:txBody>
      </p:sp>
      <p:sp>
        <p:nvSpPr>
          <p:cNvPr id="21" name="Shape 17"/>
          <p:cNvSpPr/>
          <p:nvPr/>
        </p:nvSpPr>
        <p:spPr>
          <a:xfrm>
            <a:off x="762000" y="5276850"/>
            <a:ext cx="6096000" cy="0"/>
          </a:xfrm>
          <a:prstGeom prst="line">
            <a:avLst/>
          </a:prstGeom>
          <a:noFill/>
          <a:ln w="9525">
            <a:solidFill>
              <a:srgbClr val="6A44F2"/>
            </a:solidFill>
            <a:prstDash val="solid"/>
          </a:ln>
        </p:spPr>
      </p:sp>
      <p:sp>
        <p:nvSpPr>
          <p:cNvPr id="22" name="Shape 18"/>
          <p:cNvSpPr/>
          <p:nvPr/>
        </p:nvSpPr>
        <p:spPr>
          <a:xfrm>
            <a:off x="6858000" y="5272088"/>
            <a:ext cx="0" cy="1552575"/>
          </a:xfrm>
          <a:prstGeom prst="line">
            <a:avLst/>
          </a:prstGeom>
          <a:noFill/>
          <a:ln w="9525">
            <a:solidFill>
              <a:srgbClr val="6A44F2"/>
            </a:solidFill>
            <a:prstDash val="solid"/>
          </a:ln>
        </p:spPr>
      </p:sp>
      <p:sp>
        <p:nvSpPr>
          <p:cNvPr id="23" name="Shape 19"/>
          <p:cNvSpPr/>
          <p:nvPr/>
        </p:nvSpPr>
        <p:spPr>
          <a:xfrm>
            <a:off x="762000" y="6819900"/>
            <a:ext cx="6096000" cy="0"/>
          </a:xfrm>
          <a:prstGeom prst="line">
            <a:avLst/>
          </a:prstGeom>
          <a:noFill/>
          <a:ln w="9525">
            <a:solidFill>
              <a:srgbClr val="6A44F2"/>
            </a:solidFill>
            <a:prstDash val="solid"/>
          </a:ln>
        </p:spPr>
      </p:sp>
      <p:sp>
        <p:nvSpPr>
          <p:cNvPr id="24" name="Shape 20"/>
          <p:cNvSpPr/>
          <p:nvPr/>
        </p:nvSpPr>
        <p:spPr>
          <a:xfrm>
            <a:off x="762000" y="5272088"/>
            <a:ext cx="0" cy="1552575"/>
          </a:xfrm>
          <a:prstGeom prst="line">
            <a:avLst/>
          </a:prstGeom>
          <a:noFill/>
          <a:ln w="38100">
            <a:solidFill>
              <a:srgbClr val="6A44F2"/>
            </a:solidFill>
            <a:prstDash val="solid"/>
          </a:ln>
        </p:spPr>
      </p:sp>
      <p:sp>
        <p:nvSpPr>
          <p:cNvPr id="25" name="Text 21"/>
          <p:cNvSpPr/>
          <p:nvPr/>
        </p:nvSpPr>
        <p:spPr>
          <a:xfrm>
            <a:off x="1104900" y="5586413"/>
            <a:ext cx="5486400" cy="621792"/>
          </a:xfrm>
          <a:prstGeom prst="rect">
            <a:avLst/>
          </a:prstGeom>
          <a:noFill/>
          <a:ln/>
        </p:spPr>
        <p:txBody>
          <a:bodyPr vert="horz" wrap="square" lIns="0" tIns="0" rIns="0" bIns="0" rtlCol="0" anchor="t"/>
          <a:lstStyle/>
          <a:p>
            <a:pPr marL="0" indent="0" algn="l">
              <a:lnSpc>
                <a:spcPts val="2438"/>
              </a:lnSpc>
              <a:buNone/>
            </a:pPr>
            <a:r>
              <a:rPr lang="en-US" sz="1500" i="1" dirty="0">
                <a:solidFill>
                  <a:srgbClr val="FFFFFF">
                    <a:alpha val="90000"/>
                  </a:srgbClr>
                </a:solidFill>
                <a:latin typeface="Poppins" pitchFamily="34" charset="0"/>
                <a:ea typeface="Poppins" pitchFamily="34" charset="-122"/>
                <a:cs typeface="Poppins" pitchFamily="34" charset="-120"/>
              </a:rPr>
              <a:t>"Paten menjaga inti teknologi, sementara desain industri menjaga identitas visual sebuah produk."</a:t>
            </a:r>
            <a:endParaRPr lang="en-US" sz="1500" dirty="0"/>
          </a:p>
        </p:txBody>
      </p:sp>
      <p:sp>
        <p:nvSpPr>
          <p:cNvPr id="26" name="Text 22"/>
          <p:cNvSpPr/>
          <p:nvPr/>
        </p:nvSpPr>
        <p:spPr>
          <a:xfrm>
            <a:off x="1104900" y="6357938"/>
            <a:ext cx="5577840" cy="182880"/>
          </a:xfrm>
          <a:prstGeom prst="rect">
            <a:avLst/>
          </a:prstGeom>
          <a:noFill/>
          <a:ln/>
        </p:spPr>
        <p:txBody>
          <a:bodyPr vert="horz" wrap="none" lIns="0" tIns="0" rIns="0" bIns="0" rtlCol="0" anchor="t">
            <a:normAutofit/>
          </a:bodyPr>
          <a:lstStyle/>
          <a:p>
            <a:pPr marL="0" indent="0" algn="l">
              <a:lnSpc>
                <a:spcPts val="1200"/>
              </a:lnSpc>
              <a:buNone/>
            </a:pPr>
            <a:r>
              <a:rPr lang="en-US" sz="900" kern="0" spc="90" dirty="0">
                <a:solidFill>
                  <a:srgbClr val="9CA3AF"/>
                </a:solidFill>
                <a:latin typeface="Poppins" pitchFamily="34" charset="0"/>
                <a:ea typeface="Poppins" pitchFamily="34" charset="-122"/>
                <a:cs typeface="Poppins" pitchFamily="34" charset="-120"/>
              </a:rPr>
              <a:t>— PERSPEKTIF HUKUM INDUSTRI</a:t>
            </a:r>
            <a:endParaRPr lang="en-US" sz="900" dirty="0"/>
          </a:p>
        </p:txBody>
      </p:sp>
      <p:sp>
        <p:nvSpPr>
          <p:cNvPr id="27" name="Text 23"/>
          <p:cNvSpPr/>
          <p:nvPr/>
        </p:nvSpPr>
        <p:spPr>
          <a:xfrm>
            <a:off x="7162800" y="2295525"/>
            <a:ext cx="4267200" cy="2438400"/>
          </a:xfrm>
          <a:prstGeom prst="roundRect">
            <a:avLst>
              <a:gd name="adj" fmla="val 7813"/>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28" name="Image 2" descr="image.png"/>
          <p:cNvPicPr>
            <a:picLocks noChangeAspect="1"/>
          </p:cNvPicPr>
          <p:nvPr/>
        </p:nvPicPr>
        <p:blipFill>
          <a:blip r:embed="rId5"/>
          <a:srcRect/>
          <a:stretch/>
        </p:blipFill>
        <p:spPr>
          <a:xfrm>
            <a:off x="7172325" y="2305050"/>
            <a:ext cx="4248150" cy="2419350"/>
          </a:xfrm>
          <a:prstGeom prst="rect">
            <a:avLst/>
          </a:prstGeom>
        </p:spPr>
      </p:pic>
      <p:sp>
        <p:nvSpPr>
          <p:cNvPr id="29" name="Text 24"/>
          <p:cNvSpPr/>
          <p:nvPr/>
        </p:nvSpPr>
        <p:spPr>
          <a:xfrm>
            <a:off x="7162800" y="4733925"/>
            <a:ext cx="2057400" cy="1090613"/>
          </a:xfrm>
          <a:prstGeom prst="roundRect">
            <a:avLst>
              <a:gd name="adj" fmla="val 1746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30" name="Text 25"/>
          <p:cNvSpPr/>
          <p:nvPr/>
        </p:nvSpPr>
        <p:spPr>
          <a:xfrm>
            <a:off x="7919963" y="4972050"/>
            <a:ext cx="649224" cy="420624"/>
          </a:xfrm>
          <a:prstGeom prst="rect">
            <a:avLst/>
          </a:prstGeom>
          <a:noFill/>
          <a:ln/>
        </p:spPr>
        <p:txBody>
          <a:bodyPr vert="horz" wrap="none" lIns="0" tIns="0" rIns="0" bIns="0" rtlCol="0" anchor="t">
            <a:normAutofit/>
          </a:bodyPr>
          <a:lstStyle/>
          <a:p>
            <a:pPr marL="0" indent="0" algn="l">
              <a:lnSpc>
                <a:spcPts val="3000"/>
              </a:lnSpc>
              <a:buNone/>
            </a:pPr>
            <a:r>
              <a:rPr lang="en-US" sz="2700" b="1" kern="0" spc="-140" dirty="0">
                <a:solidFill>
                  <a:srgbClr val="3D68FF"/>
                </a:solidFill>
                <a:latin typeface="Bebas Neue" pitchFamily="34" charset="0"/>
                <a:ea typeface="Bebas Neue" pitchFamily="34" charset="-122"/>
                <a:cs typeface="Bebas Neue" pitchFamily="34" charset="-120"/>
              </a:rPr>
              <a:t>PATEN</a:t>
            </a:r>
            <a:endParaRPr lang="en-US" sz="2700" dirty="0"/>
          </a:p>
        </p:txBody>
      </p:sp>
      <p:sp>
        <p:nvSpPr>
          <p:cNvPr id="31" name="Text 26"/>
          <p:cNvSpPr/>
          <p:nvPr/>
        </p:nvSpPr>
        <p:spPr>
          <a:xfrm>
            <a:off x="7729538" y="5426869"/>
            <a:ext cx="969264" cy="192024"/>
          </a:xfrm>
          <a:prstGeom prst="rect">
            <a:avLst/>
          </a:prstGeom>
          <a:noFill/>
          <a:ln/>
        </p:spPr>
        <p:txBody>
          <a:bodyPr vert="horz" wrap="none" lIns="0" tIns="0" rIns="0" bIns="0" rtlCol="0" anchor="t">
            <a:normAutofit/>
          </a:bodyPr>
          <a:lstStyle/>
          <a:p>
            <a:pPr marL="0" indent="0" algn="l">
              <a:lnSpc>
                <a:spcPts val="1238"/>
              </a:lnSpc>
              <a:buNone/>
            </a:pPr>
            <a:r>
              <a:rPr lang="en-US" sz="825" kern="0" spc="80" dirty="0">
                <a:solidFill>
                  <a:srgbClr val="9CA3AF"/>
                </a:solidFill>
                <a:latin typeface="Poppins" pitchFamily="34" charset="0"/>
                <a:ea typeface="Poppins" pitchFamily="34" charset="-122"/>
                <a:cs typeface="Poppins" pitchFamily="34" charset="-120"/>
              </a:rPr>
              <a:t>INVENSI TEKNIS</a:t>
            </a:r>
            <a:endParaRPr lang="en-US" sz="825" dirty="0"/>
          </a:p>
        </p:txBody>
      </p:sp>
      <p:sp>
        <p:nvSpPr>
          <p:cNvPr id="32" name="Text 27"/>
          <p:cNvSpPr/>
          <p:nvPr/>
        </p:nvSpPr>
        <p:spPr>
          <a:xfrm>
            <a:off x="9372600" y="4733925"/>
            <a:ext cx="2057400" cy="1090613"/>
          </a:xfrm>
          <a:prstGeom prst="roundRect">
            <a:avLst>
              <a:gd name="adj" fmla="val 1746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33" name="Text 28"/>
          <p:cNvSpPr/>
          <p:nvPr/>
        </p:nvSpPr>
        <p:spPr>
          <a:xfrm>
            <a:off x="10086901" y="4972050"/>
            <a:ext cx="731520" cy="420624"/>
          </a:xfrm>
          <a:prstGeom prst="rect">
            <a:avLst/>
          </a:prstGeom>
          <a:noFill/>
          <a:ln/>
        </p:spPr>
        <p:txBody>
          <a:bodyPr vert="horz" wrap="none" lIns="0" tIns="0" rIns="0" bIns="0" rtlCol="0" anchor="t">
            <a:normAutofit/>
          </a:bodyPr>
          <a:lstStyle/>
          <a:p>
            <a:pPr marL="0" indent="0" algn="l">
              <a:lnSpc>
                <a:spcPts val="3000"/>
              </a:lnSpc>
              <a:buNone/>
            </a:pPr>
            <a:r>
              <a:rPr lang="en-US" sz="2700" b="1" kern="0" spc="-140" dirty="0">
                <a:solidFill>
                  <a:srgbClr val="6A44F2"/>
                </a:solidFill>
                <a:latin typeface="Bebas Neue" pitchFamily="34" charset="0"/>
                <a:ea typeface="Bebas Neue" pitchFamily="34" charset="-122"/>
                <a:cs typeface="Bebas Neue" pitchFamily="34" charset="-120"/>
              </a:rPr>
              <a:t>DESAIN</a:t>
            </a:r>
            <a:endParaRPr lang="en-US" sz="2700" dirty="0"/>
          </a:p>
        </p:txBody>
      </p:sp>
      <p:sp>
        <p:nvSpPr>
          <p:cNvPr id="34" name="Text 29"/>
          <p:cNvSpPr/>
          <p:nvPr/>
        </p:nvSpPr>
        <p:spPr>
          <a:xfrm>
            <a:off x="9929813" y="5426869"/>
            <a:ext cx="996696" cy="192024"/>
          </a:xfrm>
          <a:prstGeom prst="rect">
            <a:avLst/>
          </a:prstGeom>
          <a:noFill/>
          <a:ln/>
        </p:spPr>
        <p:txBody>
          <a:bodyPr vert="horz" wrap="none" lIns="0" tIns="0" rIns="0" bIns="0" rtlCol="0" anchor="t">
            <a:normAutofit/>
          </a:bodyPr>
          <a:lstStyle/>
          <a:p>
            <a:pPr marL="0" indent="0" algn="l">
              <a:lnSpc>
                <a:spcPts val="1238"/>
              </a:lnSpc>
              <a:buNone/>
            </a:pPr>
            <a:r>
              <a:rPr lang="en-US" sz="825" kern="0" spc="80" dirty="0">
                <a:solidFill>
                  <a:srgbClr val="9CA3AF"/>
                </a:solidFill>
                <a:latin typeface="Poppins" pitchFamily="34" charset="0"/>
                <a:ea typeface="Poppins" pitchFamily="34" charset="-122"/>
                <a:cs typeface="Poppins" pitchFamily="34" charset="-120"/>
              </a:rPr>
              <a:t>ASPEK ESTETIKA</a:t>
            </a:r>
            <a:endParaRPr lang="en-US" sz="825" dirty="0"/>
          </a:p>
        </p:txBody>
      </p:sp>
      <p:sp>
        <p:nvSpPr>
          <p:cNvPr id="35" name="Text 30"/>
          <p:cNvSpPr/>
          <p:nvPr/>
        </p:nvSpPr>
        <p:spPr>
          <a:xfrm>
            <a:off x="7162800" y="5824538"/>
            <a:ext cx="4267200" cy="1000125"/>
          </a:xfrm>
          <a:prstGeom prst="roundRect">
            <a:avLst>
              <a:gd name="adj" fmla="val 19048"/>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36" name="Text 31"/>
          <p:cNvSpPr/>
          <p:nvPr/>
        </p:nvSpPr>
        <p:spPr>
          <a:xfrm>
            <a:off x="7361932" y="6022181"/>
            <a:ext cx="1527048" cy="192024"/>
          </a:xfrm>
          <a:prstGeom prst="rect">
            <a:avLst/>
          </a:prstGeom>
          <a:noFill/>
          <a:ln/>
        </p:spPr>
        <p:txBody>
          <a:bodyPr vert="horz" wrap="none" lIns="0" tIns="0" rIns="0" bIns="0" rtlCol="0" anchor="t">
            <a:normAutofit/>
          </a:bodyPr>
          <a:lstStyle/>
          <a:p>
            <a:pPr marL="0" indent="0" algn="l">
              <a:lnSpc>
                <a:spcPts val="1238"/>
              </a:lnSpc>
              <a:buNone/>
            </a:pPr>
            <a:r>
              <a:rPr lang="en-US" sz="825" b="1" kern="0" spc="80" dirty="0">
                <a:solidFill>
                  <a:srgbClr val="FFFFFF">
                    <a:alpha val="60000"/>
                  </a:srgbClr>
                </a:solidFill>
                <a:latin typeface="Poppins" pitchFamily="34" charset="0"/>
                <a:ea typeface="Poppins" pitchFamily="34" charset="-122"/>
                <a:cs typeface="Poppins" pitchFamily="34" charset="-120"/>
              </a:rPr>
              <a:t>FOKUS PERLINDUNGAN</a:t>
            </a:r>
            <a:endParaRPr lang="en-US" sz="825" dirty="0"/>
          </a:p>
        </p:txBody>
      </p:sp>
      <p:sp>
        <p:nvSpPr>
          <p:cNvPr id="37" name="Text 32"/>
          <p:cNvSpPr/>
          <p:nvPr/>
        </p:nvSpPr>
        <p:spPr>
          <a:xfrm>
            <a:off x="11115675" y="6084094"/>
            <a:ext cx="38100" cy="38100"/>
          </a:xfrm>
          <a:prstGeom prst="roundRect">
            <a:avLst>
              <a:gd name="adj" fmla="val 100000"/>
            </a:avLst>
          </a:prstGeom>
          <a:solidFill>
            <a:srgbClr val="6A44F2"/>
          </a:solidFill>
          <a:ln/>
        </p:spPr>
        <p:txBody>
          <a:bodyPr wrap="square" rtlCol="0" anchor="ctr"/>
          <a:lstStyle/>
          <a:p>
            <a:pPr marL="0" indent="0">
              <a:buNone/>
            </a:pPr>
            <a:endParaRPr lang="en-US" dirty="0"/>
          </a:p>
        </p:txBody>
      </p:sp>
      <p:sp>
        <p:nvSpPr>
          <p:cNvPr id="38" name="Text 33"/>
          <p:cNvSpPr/>
          <p:nvPr/>
        </p:nvSpPr>
        <p:spPr>
          <a:xfrm>
            <a:off x="11191875" y="6084094"/>
            <a:ext cx="38100" cy="38100"/>
          </a:xfrm>
          <a:prstGeom prst="roundRect">
            <a:avLst>
              <a:gd name="adj" fmla="val 100000"/>
            </a:avLst>
          </a:prstGeom>
          <a:solidFill>
            <a:srgbClr val="3D68FF"/>
          </a:solidFill>
          <a:ln/>
        </p:spPr>
        <p:txBody>
          <a:bodyPr wrap="square" rtlCol="0" anchor="ctr"/>
          <a:lstStyle/>
          <a:p>
            <a:pPr marL="0" indent="0">
              <a:buNone/>
            </a:pPr>
            <a:endParaRPr lang="en-US" dirty="0"/>
          </a:p>
        </p:txBody>
      </p:sp>
      <p:sp>
        <p:nvSpPr>
          <p:cNvPr id="39" name="Text 34"/>
          <p:cNvSpPr/>
          <p:nvPr/>
        </p:nvSpPr>
        <p:spPr>
          <a:xfrm>
            <a:off x="7362825" y="6334125"/>
            <a:ext cx="795189" cy="290513"/>
          </a:xfrm>
          <a:prstGeom prst="roundRect">
            <a:avLst>
              <a:gd name="adj" fmla="val 100000"/>
            </a:avLst>
          </a:prstGeom>
          <a:solidFill>
            <a:srgbClr val="FFFFFF">
              <a:alpha val="5000"/>
            </a:srgbClr>
          </a:solidFill>
          <a:ln w="9525">
            <a:solidFill>
              <a:srgbClr val="FFFFFF">
                <a:alpha val="5000"/>
              </a:srgbClr>
            </a:solidFill>
          </a:ln>
        </p:spPr>
        <p:txBody>
          <a:bodyPr wrap="square" rtlCol="0" anchor="ctr"/>
          <a:lstStyle/>
          <a:p>
            <a:pPr marL="0" indent="0">
              <a:buNone/>
            </a:pPr>
            <a:endParaRPr lang="en-US" dirty="0"/>
          </a:p>
        </p:txBody>
      </p:sp>
      <p:sp>
        <p:nvSpPr>
          <p:cNvPr id="40" name="Text 35"/>
          <p:cNvSpPr/>
          <p:nvPr/>
        </p:nvSpPr>
        <p:spPr>
          <a:xfrm>
            <a:off x="7365132" y="6331744"/>
            <a:ext cx="822960" cy="301752"/>
          </a:xfrm>
          <a:prstGeom prst="rect">
            <a:avLst/>
          </a:prstGeom>
          <a:noFill/>
          <a:ln/>
        </p:spPr>
        <p:txBody>
          <a:bodyPr vert="horz" wrap="square" lIns="114300" tIns="57150" rIns="114300" bIns="57150" rtlCol="0" anchor="t"/>
          <a:lstStyle/>
          <a:p>
            <a:pPr marL="0" indent="0" algn="l">
              <a:lnSpc>
                <a:spcPts val="1238"/>
              </a:lnSpc>
              <a:buNone/>
            </a:pPr>
            <a:r>
              <a:rPr lang="en-US" sz="825" kern="0" spc="20" dirty="0">
                <a:solidFill>
                  <a:srgbClr val="FFFFFF">
                    <a:alpha val="60000"/>
                  </a:srgbClr>
                </a:solidFill>
                <a:latin typeface="Poppins" pitchFamily="34" charset="0"/>
                <a:ea typeface="Poppins" pitchFamily="34" charset="-122"/>
                <a:cs typeface="Poppins" pitchFamily="34" charset="-120"/>
              </a:rPr>
              <a:t>Algoritma</a:t>
            </a:r>
            <a:endParaRPr lang="en-US" sz="825" dirty="0"/>
          </a:p>
        </p:txBody>
      </p:sp>
      <p:sp>
        <p:nvSpPr>
          <p:cNvPr id="41" name="Text 36"/>
          <p:cNvSpPr/>
          <p:nvPr/>
        </p:nvSpPr>
        <p:spPr>
          <a:xfrm>
            <a:off x="8234214" y="6334125"/>
            <a:ext cx="802035" cy="290513"/>
          </a:xfrm>
          <a:prstGeom prst="roundRect">
            <a:avLst>
              <a:gd name="adj" fmla="val 100000"/>
            </a:avLst>
          </a:prstGeom>
          <a:solidFill>
            <a:srgbClr val="FFFFFF">
              <a:alpha val="5000"/>
            </a:srgbClr>
          </a:solidFill>
          <a:ln w="9525">
            <a:solidFill>
              <a:srgbClr val="FFFFFF">
                <a:alpha val="5000"/>
              </a:srgbClr>
            </a:solidFill>
          </a:ln>
        </p:spPr>
        <p:txBody>
          <a:bodyPr wrap="square" rtlCol="0" anchor="ctr"/>
          <a:lstStyle/>
          <a:p>
            <a:pPr marL="0" indent="0">
              <a:buNone/>
            </a:pPr>
            <a:endParaRPr lang="en-US" dirty="0"/>
          </a:p>
        </p:txBody>
      </p:sp>
      <p:sp>
        <p:nvSpPr>
          <p:cNvPr id="42" name="Text 37"/>
          <p:cNvSpPr/>
          <p:nvPr/>
        </p:nvSpPr>
        <p:spPr>
          <a:xfrm>
            <a:off x="8235181" y="6331744"/>
            <a:ext cx="832104" cy="301752"/>
          </a:xfrm>
          <a:prstGeom prst="rect">
            <a:avLst/>
          </a:prstGeom>
          <a:noFill/>
          <a:ln/>
        </p:spPr>
        <p:txBody>
          <a:bodyPr vert="horz" wrap="square" lIns="114300" tIns="57150" rIns="114300" bIns="57150" rtlCol="0" anchor="t"/>
          <a:lstStyle/>
          <a:p>
            <a:pPr marL="0" indent="0" algn="l">
              <a:lnSpc>
                <a:spcPts val="1238"/>
              </a:lnSpc>
              <a:buNone/>
            </a:pPr>
            <a:r>
              <a:rPr lang="en-US" sz="825" kern="0" spc="20" dirty="0">
                <a:solidFill>
                  <a:srgbClr val="FFFFFF">
                    <a:alpha val="60000"/>
                  </a:srgbClr>
                </a:solidFill>
                <a:latin typeface="Poppins" pitchFamily="34" charset="0"/>
                <a:ea typeface="Poppins" pitchFamily="34" charset="-122"/>
                <a:cs typeface="Poppins" pitchFamily="34" charset="-120"/>
              </a:rPr>
              <a:t>Hardware</a:t>
            </a:r>
            <a:endParaRPr lang="en-US" sz="825" dirty="0"/>
          </a:p>
        </p:txBody>
      </p:sp>
      <p:sp>
        <p:nvSpPr>
          <p:cNvPr id="43" name="Text 38"/>
          <p:cNvSpPr/>
          <p:nvPr/>
        </p:nvSpPr>
        <p:spPr>
          <a:xfrm>
            <a:off x="9112448" y="6334125"/>
            <a:ext cx="936427" cy="290513"/>
          </a:xfrm>
          <a:prstGeom prst="roundRect">
            <a:avLst>
              <a:gd name="adj" fmla="val 100000"/>
            </a:avLst>
          </a:prstGeom>
          <a:solidFill>
            <a:srgbClr val="FFFFFF">
              <a:alpha val="5000"/>
            </a:srgbClr>
          </a:solidFill>
          <a:ln w="9525">
            <a:solidFill>
              <a:srgbClr val="FFFFFF">
                <a:alpha val="5000"/>
              </a:srgbClr>
            </a:solidFill>
          </a:ln>
        </p:spPr>
        <p:txBody>
          <a:bodyPr wrap="square" rtlCol="0" anchor="ctr"/>
          <a:lstStyle/>
          <a:p>
            <a:pPr marL="0" indent="0">
              <a:buNone/>
            </a:pPr>
            <a:endParaRPr lang="en-US" dirty="0"/>
          </a:p>
        </p:txBody>
      </p:sp>
      <p:sp>
        <p:nvSpPr>
          <p:cNvPr id="44" name="Text 39"/>
          <p:cNvSpPr/>
          <p:nvPr/>
        </p:nvSpPr>
        <p:spPr>
          <a:xfrm>
            <a:off x="9113937" y="6331744"/>
            <a:ext cx="960120" cy="301752"/>
          </a:xfrm>
          <a:prstGeom prst="rect">
            <a:avLst/>
          </a:prstGeom>
          <a:noFill/>
          <a:ln/>
        </p:spPr>
        <p:txBody>
          <a:bodyPr vert="horz" wrap="square" lIns="114300" tIns="57150" rIns="114300" bIns="57150" rtlCol="0" anchor="t"/>
          <a:lstStyle/>
          <a:p>
            <a:pPr marL="0" indent="0" algn="l">
              <a:lnSpc>
                <a:spcPts val="1238"/>
              </a:lnSpc>
              <a:buNone/>
            </a:pPr>
            <a:r>
              <a:rPr lang="en-US" sz="825" kern="0" spc="20" dirty="0">
                <a:solidFill>
                  <a:srgbClr val="FFFFFF">
                    <a:alpha val="60000"/>
                  </a:srgbClr>
                </a:solidFill>
                <a:latin typeface="Poppins" pitchFamily="34" charset="0"/>
                <a:ea typeface="Poppins" pitchFamily="34" charset="-122"/>
                <a:cs typeface="Poppins" pitchFamily="34" charset="-120"/>
              </a:rPr>
              <a:t>UI/UX Visual</a:t>
            </a:r>
            <a:endParaRPr lang="en-US" sz="825" dirty="0"/>
          </a:p>
        </p:txBody>
      </p:sp>
      <p:sp>
        <p:nvSpPr>
          <p:cNvPr id="45" name="Text 40"/>
          <p:cNvSpPr/>
          <p:nvPr/>
        </p:nvSpPr>
        <p:spPr>
          <a:xfrm>
            <a:off x="10125075" y="6334125"/>
            <a:ext cx="1015157" cy="290513"/>
          </a:xfrm>
          <a:prstGeom prst="roundRect">
            <a:avLst>
              <a:gd name="adj" fmla="val 100000"/>
            </a:avLst>
          </a:prstGeom>
          <a:solidFill>
            <a:srgbClr val="FFFFFF">
              <a:alpha val="5000"/>
            </a:srgbClr>
          </a:solidFill>
          <a:ln w="9525">
            <a:solidFill>
              <a:srgbClr val="FFFFFF">
                <a:alpha val="5000"/>
              </a:srgbClr>
            </a:solidFill>
          </a:ln>
        </p:spPr>
        <p:txBody>
          <a:bodyPr wrap="square" rtlCol="0" anchor="ctr"/>
          <a:lstStyle/>
          <a:p>
            <a:pPr marL="0" indent="0">
              <a:buNone/>
            </a:pPr>
            <a:endParaRPr lang="en-US" dirty="0"/>
          </a:p>
        </p:txBody>
      </p:sp>
      <p:sp>
        <p:nvSpPr>
          <p:cNvPr id="46" name="Text 41"/>
          <p:cNvSpPr/>
          <p:nvPr/>
        </p:nvSpPr>
        <p:spPr>
          <a:xfrm>
            <a:off x="10123066" y="6331744"/>
            <a:ext cx="1051560" cy="301752"/>
          </a:xfrm>
          <a:prstGeom prst="rect">
            <a:avLst/>
          </a:prstGeom>
          <a:noFill/>
          <a:ln/>
        </p:spPr>
        <p:txBody>
          <a:bodyPr vert="horz" wrap="square" lIns="114300" tIns="57150" rIns="114300" bIns="57150" rtlCol="0" anchor="t"/>
          <a:lstStyle/>
          <a:p>
            <a:pPr marL="0" indent="0" algn="l">
              <a:lnSpc>
                <a:spcPts val="1238"/>
              </a:lnSpc>
              <a:buNone/>
            </a:pPr>
            <a:r>
              <a:rPr lang="en-US" sz="825" kern="0" spc="20" dirty="0">
                <a:solidFill>
                  <a:srgbClr val="FFFFFF">
                    <a:alpha val="60000"/>
                  </a:srgbClr>
                </a:solidFill>
                <a:latin typeface="Poppins" pitchFamily="34" charset="0"/>
                <a:ea typeface="Poppins" pitchFamily="34" charset="-122"/>
                <a:cs typeface="Poppins" pitchFamily="34" charset="-120"/>
              </a:rPr>
              <a:t>Proses Teknis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7241381"/>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40000"/>
          </a:blip>
          <a:srcRect/>
          <a:stretch/>
        </p:blipFill>
        <p:spPr>
          <a:xfrm>
            <a:off x="7429500" y="-1905000"/>
            <a:ext cx="5715000" cy="5715000"/>
          </a:xfrm>
          <a:prstGeom prst="rect">
            <a:avLst/>
          </a:prstGeom>
        </p:spPr>
      </p:pic>
      <p:pic>
        <p:nvPicPr>
          <p:cNvPr id="4" name="Image 1" descr="image.png"/>
          <p:cNvPicPr>
            <a:picLocks noChangeAspect="1"/>
          </p:cNvPicPr>
          <p:nvPr/>
        </p:nvPicPr>
        <p:blipFill>
          <a:blip r:embed="rId4">
            <a:alphaModFix amt="40000"/>
          </a:blip>
          <a:srcRect/>
          <a:stretch/>
        </p:blipFill>
        <p:spPr>
          <a:xfrm>
            <a:off x="-476250" y="3431381"/>
            <a:ext cx="4762500" cy="4762500"/>
          </a:xfrm>
          <a:prstGeom prst="rect">
            <a:avLst/>
          </a:prstGeom>
        </p:spPr>
      </p:pic>
      <p:sp>
        <p:nvSpPr>
          <p:cNvPr id="5" name="Text 1"/>
          <p:cNvSpPr/>
          <p:nvPr/>
        </p:nvSpPr>
        <p:spPr>
          <a:xfrm>
            <a:off x="762000" y="514350"/>
            <a:ext cx="457200" cy="38100"/>
          </a:xfrm>
          <a:prstGeom prst="rect">
            <a:avLst/>
          </a:prstGeom>
          <a:solidFill>
            <a:srgbClr val="6A44F2"/>
          </a:solidFill>
          <a:ln/>
        </p:spPr>
        <p:txBody>
          <a:bodyPr wrap="square" rtlCol="0" anchor="ctr"/>
          <a:lstStyle/>
          <a:p>
            <a:pPr marL="0" indent="0">
              <a:buNone/>
            </a:pPr>
            <a:endParaRPr lang="en-US" dirty="0"/>
          </a:p>
        </p:txBody>
      </p:sp>
      <p:sp>
        <p:nvSpPr>
          <p:cNvPr id="6" name="Text 2"/>
          <p:cNvSpPr/>
          <p:nvPr/>
        </p:nvSpPr>
        <p:spPr>
          <a:xfrm>
            <a:off x="1370707" y="457200"/>
            <a:ext cx="242316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360" dirty="0">
                <a:solidFill>
                  <a:srgbClr val="9CA3AF"/>
                </a:solidFill>
                <a:latin typeface="Poppins" pitchFamily="34" charset="0"/>
                <a:ea typeface="Poppins" pitchFamily="34" charset="-122"/>
                <a:cs typeface="Poppins" pitchFamily="34" charset="-120"/>
              </a:rPr>
              <a:t>BISNIS DIGITAL &amp; HAKI</a:t>
            </a:r>
            <a:endParaRPr lang="en-US" sz="900" dirty="0"/>
          </a:p>
        </p:txBody>
      </p:sp>
      <p:sp>
        <p:nvSpPr>
          <p:cNvPr id="7" name="Text 3"/>
          <p:cNvSpPr/>
          <p:nvPr/>
        </p:nvSpPr>
        <p:spPr>
          <a:xfrm>
            <a:off x="761107" y="762000"/>
            <a:ext cx="3099816" cy="521208"/>
          </a:xfrm>
          <a:prstGeom prst="rect">
            <a:avLst/>
          </a:prstGeom>
          <a:noFill/>
          <a:ln/>
        </p:spPr>
        <p:txBody>
          <a:bodyPr vert="horz" wrap="square" lIns="0" tIns="0" rIns="0" bIns="0" rtlCol="0" anchor="t"/>
          <a:lstStyle/>
          <a:p>
            <a:pPr marL="0" indent="0" algn="l">
              <a:lnSpc>
                <a:spcPts val="3825"/>
              </a:lnSpc>
              <a:buNone/>
            </a:pPr>
            <a:r>
              <a:rPr lang="en-US" sz="4500" b="1" kern="0" spc="-230" dirty="0">
                <a:solidFill>
                  <a:srgbClr val="FFFFFF"/>
                </a:solidFill>
                <a:latin typeface="Bebas Neue" pitchFamily="34" charset="0"/>
                <a:ea typeface="Bebas Neue" pitchFamily="34" charset="-122"/>
                <a:cs typeface="Bebas Neue" pitchFamily="34" charset="-120"/>
              </a:rPr>
              <a:t>PERAN </a:t>
            </a:r>
            <a:r>
              <a:rPr lang="en-US" sz="4500" b="1" kern="0" spc="-230" dirty="0">
                <a:solidFill>
                  <a:srgbClr val="6A44F2"/>
                </a:solidFill>
                <a:latin typeface="Bebas Neue" pitchFamily="34" charset="0"/>
                <a:ea typeface="Bebas Neue" pitchFamily="34" charset="-122"/>
                <a:cs typeface="Bebas Neue" pitchFamily="34" charset="-120"/>
              </a:rPr>
              <a:t>MEREK</a:t>
            </a:r>
            <a:endParaRPr lang="en-US" sz="4500" dirty="0"/>
          </a:p>
        </p:txBody>
      </p:sp>
      <p:sp>
        <p:nvSpPr>
          <p:cNvPr id="8" name="Text 4"/>
          <p:cNvSpPr/>
          <p:nvPr/>
        </p:nvSpPr>
        <p:spPr>
          <a:xfrm>
            <a:off x="7429500" y="457200"/>
            <a:ext cx="4000500" cy="1714500"/>
          </a:xfrm>
          <a:prstGeom prst="roundRect">
            <a:avLst>
              <a:gd name="adj" fmla="val 11111"/>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9" name="Image 2" descr="image.png"/>
          <p:cNvPicPr>
            <a:picLocks noChangeAspect="1"/>
          </p:cNvPicPr>
          <p:nvPr/>
        </p:nvPicPr>
        <p:blipFill>
          <a:blip r:embed="rId5"/>
          <a:srcRect/>
          <a:stretch/>
        </p:blipFill>
        <p:spPr>
          <a:xfrm>
            <a:off x="7439025" y="466725"/>
            <a:ext cx="3981450" cy="1695450"/>
          </a:xfrm>
          <a:prstGeom prst="rect">
            <a:avLst/>
          </a:prstGeom>
        </p:spPr>
      </p:pic>
      <p:sp>
        <p:nvSpPr>
          <p:cNvPr id="10" name="Shape 5"/>
          <p:cNvSpPr/>
          <p:nvPr/>
        </p:nvSpPr>
        <p:spPr>
          <a:xfrm>
            <a:off x="11430000" y="2324100"/>
            <a:ext cx="0" cy="340519"/>
          </a:xfrm>
          <a:prstGeom prst="line">
            <a:avLst/>
          </a:prstGeom>
          <a:noFill/>
          <a:ln w="38100">
            <a:solidFill>
              <a:srgbClr val="3D68FF"/>
            </a:solidFill>
            <a:prstDash val="solid"/>
          </a:ln>
        </p:spPr>
      </p:sp>
      <p:sp>
        <p:nvSpPr>
          <p:cNvPr id="11" name="Text 6"/>
          <p:cNvSpPr/>
          <p:nvPr/>
        </p:nvSpPr>
        <p:spPr>
          <a:xfrm>
            <a:off x="7429500" y="2322909"/>
            <a:ext cx="3840480" cy="347472"/>
          </a:xfrm>
          <a:prstGeom prst="rect">
            <a:avLst/>
          </a:prstGeom>
          <a:noFill/>
          <a:ln/>
        </p:spPr>
        <p:txBody>
          <a:bodyPr vert="horz" wrap="square" lIns="0" tIns="0" rIns="0" bIns="0" rtlCol="0" anchor="t"/>
          <a:lstStyle/>
          <a:p>
            <a:pPr marL="0" indent="0" algn="r">
              <a:lnSpc>
                <a:spcPts val="1341"/>
              </a:lnSpc>
              <a:buNone/>
            </a:pPr>
            <a:r>
              <a:rPr lang="en-US" sz="825" i="1" dirty="0">
                <a:solidFill>
                  <a:srgbClr val="9CA3AF"/>
                </a:solidFill>
                <a:latin typeface="Poppins" pitchFamily="34" charset="0"/>
                <a:ea typeface="Poppins" pitchFamily="34" charset="-122"/>
                <a:cs typeface="Poppins" pitchFamily="34" charset="-120"/>
              </a:rPr>
              <a:t>"Identitas unik yang menjadi jiwa bisnis, pembeda utama dalam ekosistem marketplace yang kompetitif untuk loyalitas jangka panjang."</a:t>
            </a:r>
            <a:endParaRPr lang="en-US" sz="825" dirty="0"/>
          </a:p>
        </p:txBody>
      </p:sp>
      <p:sp>
        <p:nvSpPr>
          <p:cNvPr id="12" name="Text 7"/>
          <p:cNvSpPr/>
          <p:nvPr/>
        </p:nvSpPr>
        <p:spPr>
          <a:xfrm>
            <a:off x="762000" y="3045619"/>
            <a:ext cx="5238750" cy="1774031"/>
          </a:xfrm>
          <a:prstGeom prst="roundRect">
            <a:avLst>
              <a:gd name="adj" fmla="val 8591"/>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3" name="Text 8"/>
          <p:cNvSpPr/>
          <p:nvPr/>
        </p:nvSpPr>
        <p:spPr>
          <a:xfrm>
            <a:off x="1000125" y="3392091"/>
            <a:ext cx="969264"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40" dirty="0">
                <a:solidFill>
                  <a:srgbClr val="FFFFFF"/>
                </a:solidFill>
                <a:latin typeface="Bebas Neue" pitchFamily="34" charset="0"/>
                <a:ea typeface="Bebas Neue" pitchFamily="34" charset="-122"/>
                <a:cs typeface="Bebas Neue" pitchFamily="34" charset="-120"/>
              </a:rPr>
              <a:t>IDENTITAS BISNIS</a:t>
            </a:r>
            <a:endParaRPr lang="en-US" sz="1500" dirty="0"/>
          </a:p>
        </p:txBody>
      </p:sp>
      <p:sp>
        <p:nvSpPr>
          <p:cNvPr id="14" name="Text 9"/>
          <p:cNvSpPr/>
          <p:nvPr/>
        </p:nvSpPr>
        <p:spPr>
          <a:xfrm>
            <a:off x="5095875" y="3392091"/>
            <a:ext cx="666750" cy="238125"/>
          </a:xfrm>
          <a:prstGeom prst="roundRect">
            <a:avLst>
              <a:gd name="adj" fmla="val 100000"/>
            </a:avLst>
          </a:prstGeom>
          <a:solidFill>
            <a:srgbClr val="6A44F2">
              <a:alpha val="10000"/>
            </a:srgbClr>
          </a:solidFill>
          <a:ln w="9525">
            <a:solidFill>
              <a:srgbClr val="6A44F2">
                <a:alpha val="20000"/>
              </a:srgbClr>
            </a:solidFill>
          </a:ln>
        </p:spPr>
        <p:txBody>
          <a:bodyPr wrap="square" rtlCol="0" anchor="ctr"/>
          <a:lstStyle/>
          <a:p>
            <a:pPr marL="0" indent="0">
              <a:buNone/>
            </a:pPr>
            <a:endParaRPr lang="en-US" dirty="0"/>
          </a:p>
        </p:txBody>
      </p:sp>
      <p:sp>
        <p:nvSpPr>
          <p:cNvPr id="15" name="Text 10"/>
          <p:cNvSpPr/>
          <p:nvPr/>
        </p:nvSpPr>
        <p:spPr>
          <a:xfrm>
            <a:off x="5095875" y="3392091"/>
            <a:ext cx="694944" cy="246888"/>
          </a:xfrm>
          <a:prstGeom prst="rect">
            <a:avLst/>
          </a:prstGeom>
          <a:noFill/>
          <a:ln/>
        </p:spPr>
        <p:txBody>
          <a:bodyPr vert="horz" wrap="square" lIns="114300" tIns="38100" rIns="114300" bIns="38100" rtlCol="0" anchor="t"/>
          <a:lstStyle/>
          <a:p>
            <a:pPr marL="0" indent="0" algn="l">
              <a:lnSpc>
                <a:spcPts val="1125"/>
              </a:lnSpc>
              <a:buNone/>
            </a:pPr>
            <a:r>
              <a:rPr lang="en-US" sz="750" b="1" dirty="0">
                <a:solidFill>
                  <a:srgbClr val="6A44F2"/>
                </a:solidFill>
                <a:latin typeface="Poppins" pitchFamily="34" charset="0"/>
                <a:ea typeface="Poppins" pitchFamily="34" charset="-122"/>
                <a:cs typeface="Poppins" pitchFamily="34" charset="-120"/>
              </a:rPr>
              <a:t>DEFINISI</a:t>
            </a:r>
            <a:endParaRPr lang="en-US" sz="750" dirty="0"/>
          </a:p>
        </p:txBody>
      </p:sp>
      <p:sp>
        <p:nvSpPr>
          <p:cNvPr id="16" name="Text 11"/>
          <p:cNvSpPr/>
          <p:nvPr/>
        </p:nvSpPr>
        <p:spPr>
          <a:xfrm>
            <a:off x="1000125" y="3773091"/>
            <a:ext cx="48920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6A44F2"/>
                </a:solidFill>
                <a:latin typeface="Poppins" pitchFamily="34" charset="0"/>
                <a:ea typeface="Poppins" pitchFamily="34" charset="-122"/>
                <a:cs typeface="Poppins" pitchFamily="34" charset="-120"/>
              </a:rPr>
              <a:t>JIWA SEBUAH BISNIS</a:t>
            </a:r>
            <a:endParaRPr lang="en-US" sz="900" dirty="0"/>
          </a:p>
        </p:txBody>
      </p:sp>
      <p:sp>
        <p:nvSpPr>
          <p:cNvPr id="17" name="Text 12"/>
          <p:cNvSpPr/>
          <p:nvPr/>
        </p:nvSpPr>
        <p:spPr>
          <a:xfrm>
            <a:off x="1000125" y="4037409"/>
            <a:ext cx="480060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Merek merupakan identitas unik yang menjadi representasi visual dan emosional dari nilai-nilai inti sebuah entitas bisnis digital.</a:t>
            </a:r>
            <a:endParaRPr lang="en-US" sz="1050" dirty="0"/>
          </a:p>
        </p:txBody>
      </p:sp>
      <p:sp>
        <p:nvSpPr>
          <p:cNvPr id="18" name="Text 13"/>
          <p:cNvSpPr/>
          <p:nvPr/>
        </p:nvSpPr>
        <p:spPr>
          <a:xfrm>
            <a:off x="6191250" y="3045619"/>
            <a:ext cx="5238750" cy="1774031"/>
          </a:xfrm>
          <a:prstGeom prst="roundRect">
            <a:avLst>
              <a:gd name="adj" fmla="val 8591"/>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9" name="Text 14"/>
          <p:cNvSpPr/>
          <p:nvPr/>
        </p:nvSpPr>
        <p:spPr>
          <a:xfrm>
            <a:off x="6426994" y="3283744"/>
            <a:ext cx="950976"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40" dirty="0">
                <a:solidFill>
                  <a:srgbClr val="FFFFFF"/>
                </a:solidFill>
                <a:latin typeface="Bebas Neue" pitchFamily="34" charset="0"/>
                <a:ea typeface="Bebas Neue" pitchFamily="34" charset="-122"/>
                <a:cs typeface="Bebas Neue" pitchFamily="34" charset="-120"/>
              </a:rPr>
              <a:t>PEMBEDA PASAR</a:t>
            </a:r>
            <a:endParaRPr lang="en-US" sz="1500" dirty="0"/>
          </a:p>
        </p:txBody>
      </p:sp>
      <p:sp>
        <p:nvSpPr>
          <p:cNvPr id="20" name="Text 15"/>
          <p:cNvSpPr/>
          <p:nvPr/>
        </p:nvSpPr>
        <p:spPr>
          <a:xfrm>
            <a:off x="10439400" y="3283744"/>
            <a:ext cx="752475" cy="238125"/>
          </a:xfrm>
          <a:prstGeom prst="roundRect">
            <a:avLst>
              <a:gd name="adj" fmla="val 100000"/>
            </a:avLst>
          </a:prstGeom>
          <a:solidFill>
            <a:srgbClr val="3D68FF">
              <a:alpha val="10000"/>
            </a:srgbClr>
          </a:solidFill>
          <a:ln w="9525">
            <a:solidFill>
              <a:srgbClr val="3D68FF">
                <a:alpha val="20000"/>
              </a:srgbClr>
            </a:solidFill>
          </a:ln>
        </p:spPr>
        <p:txBody>
          <a:bodyPr wrap="square" rtlCol="0" anchor="ctr"/>
          <a:lstStyle/>
          <a:p>
            <a:pPr marL="0" indent="0">
              <a:buNone/>
            </a:pPr>
            <a:endParaRPr lang="en-US" dirty="0"/>
          </a:p>
        </p:txBody>
      </p:sp>
      <p:sp>
        <p:nvSpPr>
          <p:cNvPr id="21" name="Text 16"/>
          <p:cNvSpPr/>
          <p:nvPr/>
        </p:nvSpPr>
        <p:spPr>
          <a:xfrm>
            <a:off x="10439400" y="3283744"/>
            <a:ext cx="777240" cy="246888"/>
          </a:xfrm>
          <a:prstGeom prst="rect">
            <a:avLst/>
          </a:prstGeom>
          <a:noFill/>
          <a:ln/>
        </p:spPr>
        <p:txBody>
          <a:bodyPr vert="horz" wrap="square" lIns="114300" tIns="38100" rIns="114300" bIns="38100" rtlCol="0" anchor="t"/>
          <a:lstStyle/>
          <a:p>
            <a:pPr marL="0" indent="0" algn="l">
              <a:lnSpc>
                <a:spcPts val="1125"/>
              </a:lnSpc>
              <a:buNone/>
            </a:pPr>
            <a:r>
              <a:rPr lang="en-US" sz="750" b="1" dirty="0">
                <a:solidFill>
                  <a:srgbClr val="3D68FF"/>
                </a:solidFill>
                <a:latin typeface="Poppins" pitchFamily="34" charset="0"/>
                <a:ea typeface="Poppins" pitchFamily="34" charset="-122"/>
                <a:cs typeface="Poppins" pitchFamily="34" charset="-120"/>
              </a:rPr>
              <a:t>STRATEGI</a:t>
            </a:r>
            <a:endParaRPr lang="en-US" sz="750" dirty="0"/>
          </a:p>
        </p:txBody>
      </p:sp>
      <p:sp>
        <p:nvSpPr>
          <p:cNvPr id="22" name="Text 17"/>
          <p:cNvSpPr/>
          <p:nvPr/>
        </p:nvSpPr>
        <p:spPr>
          <a:xfrm>
            <a:off x="6429375" y="3664744"/>
            <a:ext cx="48920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D68FF"/>
                </a:solidFill>
                <a:latin typeface="Poppins" pitchFamily="34" charset="0"/>
                <a:ea typeface="Poppins" pitchFamily="34" charset="-122"/>
                <a:cs typeface="Poppins" pitchFamily="34" charset="-120"/>
              </a:rPr>
              <a:t>KOMPETISI MARKETPLACE</a:t>
            </a:r>
            <a:endParaRPr lang="en-US" sz="900" dirty="0"/>
          </a:p>
        </p:txBody>
      </p:sp>
      <p:sp>
        <p:nvSpPr>
          <p:cNvPr id="23" name="Text 18"/>
          <p:cNvSpPr/>
          <p:nvPr/>
        </p:nvSpPr>
        <p:spPr>
          <a:xfrm>
            <a:off x="6429375" y="3932634"/>
            <a:ext cx="480060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Berfungsi sebagai elemen pembeda utama agar produk mudah dikenali oleh konsumen di tengah persaingan pasar global yang sangat ketat.</a:t>
            </a:r>
            <a:endParaRPr lang="en-US" sz="1050" dirty="0"/>
          </a:p>
        </p:txBody>
      </p:sp>
      <p:sp>
        <p:nvSpPr>
          <p:cNvPr id="24" name="Text 19"/>
          <p:cNvSpPr/>
          <p:nvPr/>
        </p:nvSpPr>
        <p:spPr>
          <a:xfrm>
            <a:off x="762000" y="5010150"/>
            <a:ext cx="5238750" cy="1774031"/>
          </a:xfrm>
          <a:prstGeom prst="roundRect">
            <a:avLst>
              <a:gd name="adj" fmla="val 8591"/>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25" name="Text 20"/>
          <p:cNvSpPr/>
          <p:nvPr/>
        </p:nvSpPr>
        <p:spPr>
          <a:xfrm>
            <a:off x="1000125" y="5356622"/>
            <a:ext cx="896112"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40" dirty="0">
                <a:solidFill>
                  <a:srgbClr val="FFFFFF"/>
                </a:solidFill>
                <a:latin typeface="Bebas Neue" pitchFamily="34" charset="0"/>
                <a:ea typeface="Bebas Neue" pitchFamily="34" charset="-122"/>
                <a:cs typeface="Bebas Neue" pitchFamily="34" charset="-120"/>
              </a:rPr>
              <a:t>ASET STRATEGIS</a:t>
            </a:r>
            <a:endParaRPr lang="en-US" sz="1500" dirty="0"/>
          </a:p>
        </p:txBody>
      </p:sp>
      <p:sp>
        <p:nvSpPr>
          <p:cNvPr id="26" name="Text 21"/>
          <p:cNvSpPr/>
          <p:nvPr/>
        </p:nvSpPr>
        <p:spPr>
          <a:xfrm>
            <a:off x="5010150" y="5356622"/>
            <a:ext cx="752475" cy="238125"/>
          </a:xfrm>
          <a:prstGeom prst="roundRect">
            <a:avLst>
              <a:gd name="adj" fmla="val 100000"/>
            </a:avLst>
          </a:prstGeom>
          <a:solidFill>
            <a:srgbClr val="6A44F2">
              <a:alpha val="10000"/>
            </a:srgbClr>
          </a:solidFill>
          <a:ln w="9525">
            <a:solidFill>
              <a:srgbClr val="6A44F2">
                <a:alpha val="20000"/>
              </a:srgbClr>
            </a:solidFill>
          </a:ln>
        </p:spPr>
        <p:txBody>
          <a:bodyPr wrap="square" rtlCol="0" anchor="ctr"/>
          <a:lstStyle/>
          <a:p>
            <a:pPr marL="0" indent="0">
              <a:buNone/>
            </a:pPr>
            <a:endParaRPr lang="en-US" dirty="0"/>
          </a:p>
        </p:txBody>
      </p:sp>
      <p:sp>
        <p:nvSpPr>
          <p:cNvPr id="27" name="Text 22"/>
          <p:cNvSpPr/>
          <p:nvPr/>
        </p:nvSpPr>
        <p:spPr>
          <a:xfrm>
            <a:off x="5010150" y="5356622"/>
            <a:ext cx="777240" cy="246888"/>
          </a:xfrm>
          <a:prstGeom prst="rect">
            <a:avLst/>
          </a:prstGeom>
          <a:noFill/>
          <a:ln/>
        </p:spPr>
        <p:txBody>
          <a:bodyPr vert="horz" wrap="square" lIns="114300" tIns="38100" rIns="114300" bIns="38100" rtlCol="0" anchor="t"/>
          <a:lstStyle/>
          <a:p>
            <a:pPr marL="0" indent="0" algn="l">
              <a:lnSpc>
                <a:spcPts val="1125"/>
              </a:lnSpc>
              <a:buNone/>
            </a:pPr>
            <a:r>
              <a:rPr lang="en-US" sz="750" b="1" dirty="0">
                <a:solidFill>
                  <a:srgbClr val="6A44F2"/>
                </a:solidFill>
                <a:latin typeface="Poppins" pitchFamily="34" charset="0"/>
                <a:ea typeface="Poppins" pitchFamily="34" charset="-122"/>
                <a:cs typeface="Poppins" pitchFamily="34" charset="-120"/>
              </a:rPr>
              <a:t>PROTEKSI</a:t>
            </a:r>
            <a:endParaRPr lang="en-US" sz="750" dirty="0"/>
          </a:p>
        </p:txBody>
      </p:sp>
      <p:sp>
        <p:nvSpPr>
          <p:cNvPr id="28" name="Text 23"/>
          <p:cNvSpPr/>
          <p:nvPr/>
        </p:nvSpPr>
        <p:spPr>
          <a:xfrm>
            <a:off x="1000125" y="5737622"/>
            <a:ext cx="48920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6A44F2"/>
                </a:solidFill>
                <a:latin typeface="Poppins" pitchFamily="34" charset="0"/>
                <a:ea typeface="Poppins" pitchFamily="34" charset="-122"/>
                <a:cs typeface="Poppins" pitchFamily="34" charset="-120"/>
              </a:rPr>
              <a:t>PERLINDUNGAN HUKUM</a:t>
            </a:r>
            <a:endParaRPr lang="en-US" sz="900" dirty="0"/>
          </a:p>
        </p:txBody>
      </p:sp>
      <p:sp>
        <p:nvSpPr>
          <p:cNvPr id="29" name="Text 24"/>
          <p:cNvSpPr/>
          <p:nvPr/>
        </p:nvSpPr>
        <p:spPr>
          <a:xfrm>
            <a:off x="1000125" y="6001941"/>
            <a:ext cx="480060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Merek berfungsi sebagai aset strategis untuk perlindungan bisnis jangka panjang melalui sistem pendaftaran kekayaan intelektual resmi.</a:t>
            </a:r>
            <a:endParaRPr lang="en-US" sz="1050" dirty="0"/>
          </a:p>
        </p:txBody>
      </p:sp>
      <p:sp>
        <p:nvSpPr>
          <p:cNvPr id="30" name="Text 25"/>
          <p:cNvSpPr/>
          <p:nvPr/>
        </p:nvSpPr>
        <p:spPr>
          <a:xfrm>
            <a:off x="6191250" y="5010150"/>
            <a:ext cx="5238750" cy="1774031"/>
          </a:xfrm>
          <a:prstGeom prst="roundRect">
            <a:avLst>
              <a:gd name="adj" fmla="val 8591"/>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31" name="Text 26"/>
          <p:cNvSpPr/>
          <p:nvPr/>
        </p:nvSpPr>
        <p:spPr>
          <a:xfrm>
            <a:off x="6426994" y="5248275"/>
            <a:ext cx="1298448" cy="301752"/>
          </a:xfrm>
          <a:prstGeom prst="rect">
            <a:avLst/>
          </a:prstGeom>
          <a:noFill/>
          <a:ln/>
        </p:spPr>
        <p:txBody>
          <a:bodyPr vert="horz" wrap="none" lIns="0" tIns="0" rIns="0" bIns="0" rtlCol="0" anchor="t">
            <a:normAutofit/>
          </a:bodyPr>
          <a:lstStyle/>
          <a:p>
            <a:pPr marL="0" indent="0" algn="l">
              <a:lnSpc>
                <a:spcPts val="2100"/>
              </a:lnSpc>
              <a:buNone/>
            </a:pPr>
            <a:r>
              <a:rPr lang="en-US" sz="1500" b="1" kern="0" spc="-40" dirty="0">
                <a:solidFill>
                  <a:srgbClr val="FFFFFF"/>
                </a:solidFill>
                <a:latin typeface="Bebas Neue" pitchFamily="34" charset="0"/>
                <a:ea typeface="Bebas Neue" pitchFamily="34" charset="-122"/>
                <a:cs typeface="Bebas Neue" pitchFamily="34" charset="-120"/>
              </a:rPr>
              <a:t>LOYALITAS PELANGGAN</a:t>
            </a:r>
            <a:endParaRPr lang="en-US" sz="1500" dirty="0"/>
          </a:p>
        </p:txBody>
      </p:sp>
      <p:sp>
        <p:nvSpPr>
          <p:cNvPr id="32" name="Text 27"/>
          <p:cNvSpPr/>
          <p:nvPr/>
        </p:nvSpPr>
        <p:spPr>
          <a:xfrm>
            <a:off x="10515600" y="5248275"/>
            <a:ext cx="676275" cy="238125"/>
          </a:xfrm>
          <a:prstGeom prst="roundRect">
            <a:avLst>
              <a:gd name="adj" fmla="val 100000"/>
            </a:avLst>
          </a:prstGeom>
          <a:solidFill>
            <a:srgbClr val="3D68FF">
              <a:alpha val="10000"/>
            </a:srgbClr>
          </a:solidFill>
          <a:ln w="9525">
            <a:solidFill>
              <a:srgbClr val="3D68FF">
                <a:alpha val="20000"/>
              </a:srgbClr>
            </a:solidFill>
          </a:ln>
        </p:spPr>
        <p:txBody>
          <a:bodyPr wrap="square" rtlCol="0" anchor="ctr"/>
          <a:lstStyle/>
          <a:p>
            <a:pPr marL="0" indent="0">
              <a:buNone/>
            </a:pPr>
            <a:endParaRPr lang="en-US" dirty="0"/>
          </a:p>
        </p:txBody>
      </p:sp>
      <p:sp>
        <p:nvSpPr>
          <p:cNvPr id="33" name="Text 28"/>
          <p:cNvSpPr/>
          <p:nvPr/>
        </p:nvSpPr>
        <p:spPr>
          <a:xfrm>
            <a:off x="10515600" y="5248275"/>
            <a:ext cx="704088" cy="246888"/>
          </a:xfrm>
          <a:prstGeom prst="rect">
            <a:avLst/>
          </a:prstGeom>
          <a:noFill/>
          <a:ln/>
        </p:spPr>
        <p:txBody>
          <a:bodyPr vert="horz" wrap="square" lIns="114300" tIns="38100" rIns="114300" bIns="38100" rtlCol="0" anchor="t"/>
          <a:lstStyle/>
          <a:p>
            <a:pPr marL="0" indent="0" algn="l">
              <a:lnSpc>
                <a:spcPts val="1125"/>
              </a:lnSpc>
              <a:buNone/>
            </a:pPr>
            <a:r>
              <a:rPr lang="en-US" sz="750" b="1" dirty="0">
                <a:solidFill>
                  <a:srgbClr val="3D68FF"/>
                </a:solidFill>
                <a:latin typeface="Poppins" pitchFamily="34" charset="0"/>
                <a:ea typeface="Poppins" pitchFamily="34" charset="-122"/>
                <a:cs typeface="Poppins" pitchFamily="34" charset="-120"/>
              </a:rPr>
              <a:t>TUJUAN</a:t>
            </a:r>
            <a:endParaRPr lang="en-US" sz="750" dirty="0"/>
          </a:p>
        </p:txBody>
      </p:sp>
      <p:sp>
        <p:nvSpPr>
          <p:cNvPr id="34" name="Text 29"/>
          <p:cNvSpPr/>
          <p:nvPr/>
        </p:nvSpPr>
        <p:spPr>
          <a:xfrm>
            <a:off x="6429375" y="5629275"/>
            <a:ext cx="4892040"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3D68FF"/>
                </a:solidFill>
                <a:latin typeface="Poppins" pitchFamily="34" charset="0"/>
                <a:ea typeface="Poppins" pitchFamily="34" charset="-122"/>
                <a:cs typeface="Poppins" pitchFamily="34" charset="-120"/>
              </a:rPr>
              <a:t>KEKUATAN LOGO &amp; NAMA</a:t>
            </a:r>
            <a:endParaRPr lang="en-US" sz="900" dirty="0"/>
          </a:p>
        </p:txBody>
      </p:sp>
      <p:sp>
        <p:nvSpPr>
          <p:cNvPr id="35" name="Text 30"/>
          <p:cNvSpPr/>
          <p:nvPr/>
        </p:nvSpPr>
        <p:spPr>
          <a:xfrm>
            <a:off x="6429375" y="5897166"/>
            <a:ext cx="480060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Penggunaan nama dan logo yang kuat sangat krusial untuk membangun kepercayaan serta menjaga loyalitas pelanggan secara berkelanjutan.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40000"/>
          </a:blip>
          <a:srcRect r="-27273"/>
          <a:stretch/>
        </p:blipFill>
        <p:spPr>
          <a:xfrm>
            <a:off x="1828800" y="-952500"/>
            <a:ext cx="6667500" cy="3810000"/>
          </a:xfrm>
          <a:prstGeom prst="rect">
            <a:avLst/>
          </a:prstGeom>
        </p:spPr>
      </p:pic>
      <p:pic>
        <p:nvPicPr>
          <p:cNvPr id="4" name="Image 1" descr="image.png"/>
          <p:cNvPicPr>
            <a:picLocks noChangeAspect="1"/>
          </p:cNvPicPr>
          <p:nvPr/>
        </p:nvPicPr>
        <p:blipFill>
          <a:blip r:embed="rId4">
            <a:alphaModFix amt="40000"/>
          </a:blip>
          <a:srcRect/>
          <a:stretch/>
        </p:blipFill>
        <p:spPr>
          <a:xfrm>
            <a:off x="6210300" y="3048000"/>
            <a:ext cx="4762500" cy="4762500"/>
          </a:xfrm>
          <a:prstGeom prst="rect">
            <a:avLst/>
          </a:prstGeom>
        </p:spPr>
      </p:pic>
      <p:sp>
        <p:nvSpPr>
          <p:cNvPr id="5" name="Shape 1"/>
          <p:cNvSpPr/>
          <p:nvPr/>
        </p:nvSpPr>
        <p:spPr>
          <a:xfrm>
            <a:off x="762000" y="1262063"/>
            <a:ext cx="10668000" cy="0"/>
          </a:xfrm>
          <a:prstGeom prst="line">
            <a:avLst/>
          </a:prstGeom>
          <a:noFill/>
          <a:ln w="9525">
            <a:solidFill>
              <a:srgbClr val="FFFFFF">
                <a:alpha val="10000"/>
              </a:srgbClr>
            </a:solidFill>
            <a:prstDash val="solid"/>
          </a:ln>
        </p:spPr>
      </p:sp>
      <p:sp>
        <p:nvSpPr>
          <p:cNvPr id="6" name="Text 2"/>
          <p:cNvSpPr/>
          <p:nvPr/>
        </p:nvSpPr>
        <p:spPr>
          <a:xfrm>
            <a:off x="762000" y="457200"/>
            <a:ext cx="5696712" cy="630936"/>
          </a:xfrm>
          <a:prstGeom prst="rect">
            <a:avLst/>
          </a:prstGeom>
          <a:noFill/>
          <a:ln/>
        </p:spPr>
        <p:txBody>
          <a:bodyPr vert="horz" wrap="none" lIns="0" tIns="0" rIns="0" bIns="0" rtlCol="0" anchor="t">
            <a:normAutofit/>
          </a:bodyPr>
          <a:lstStyle/>
          <a:p>
            <a:pPr marL="0" indent="0" algn="l">
              <a:lnSpc>
                <a:spcPts val="4500"/>
              </a:lnSpc>
              <a:buNone/>
            </a:pPr>
            <a:r>
              <a:rPr lang="en-US" sz="4500" b="1" dirty="0">
                <a:solidFill>
                  <a:srgbClr val="FFFFFF"/>
                </a:solidFill>
                <a:latin typeface="Bebas Neue" pitchFamily="34" charset="0"/>
                <a:ea typeface="Bebas Neue" pitchFamily="34" charset="-122"/>
                <a:cs typeface="Bebas Neue" pitchFamily="34" charset="-120"/>
              </a:rPr>
              <a:t>STRATEGI </a:t>
            </a:r>
            <a:r>
              <a:rPr lang="en-US" sz="4500" b="1" dirty="0">
                <a:solidFill>
                  <a:srgbClr val="3D68FF"/>
                </a:solidFill>
                <a:latin typeface="Bebas Neue" pitchFamily="34" charset="0"/>
                <a:ea typeface="Bebas Neue" pitchFamily="34" charset="-122"/>
                <a:cs typeface="Bebas Neue" pitchFamily="34" charset="-120"/>
              </a:rPr>
              <a:t>PENDAFTARAN MEREK</a:t>
            </a:r>
            <a:endParaRPr lang="en-US" sz="4500" dirty="0"/>
          </a:p>
        </p:txBody>
      </p:sp>
      <p:sp>
        <p:nvSpPr>
          <p:cNvPr id="7" name="Text 3"/>
          <p:cNvSpPr/>
          <p:nvPr/>
        </p:nvSpPr>
        <p:spPr>
          <a:xfrm>
            <a:off x="6429375" y="876300"/>
            <a:ext cx="457200" cy="38100"/>
          </a:xfrm>
          <a:prstGeom prst="rect">
            <a:avLst/>
          </a:prstGeom>
          <a:solidFill>
            <a:srgbClr val="3D68FF"/>
          </a:solidFill>
          <a:ln/>
        </p:spPr>
        <p:txBody>
          <a:bodyPr wrap="square" rtlCol="0" anchor="ctr"/>
          <a:lstStyle/>
          <a:p>
            <a:pPr marL="0" indent="0">
              <a:buNone/>
            </a:pPr>
            <a:endParaRPr lang="en-US" dirty="0"/>
          </a:p>
        </p:txBody>
      </p:sp>
      <p:sp>
        <p:nvSpPr>
          <p:cNvPr id="8" name="Text 4"/>
          <p:cNvSpPr/>
          <p:nvPr/>
        </p:nvSpPr>
        <p:spPr>
          <a:xfrm>
            <a:off x="7113315" y="800100"/>
            <a:ext cx="2185416"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270" dirty="0">
                <a:solidFill>
                  <a:srgbClr val="9CA3AF"/>
                </a:solidFill>
                <a:latin typeface="Poppins" pitchFamily="34" charset="0"/>
                <a:ea typeface="Poppins" pitchFamily="34" charset="-122"/>
                <a:cs typeface="Poppins" pitchFamily="34" charset="-120"/>
              </a:rPr>
              <a:t>HAKI &amp; BISNIS DIGITAL</a:t>
            </a:r>
            <a:endParaRPr lang="en-US" sz="900" dirty="0"/>
          </a:p>
        </p:txBody>
      </p:sp>
      <p:sp>
        <p:nvSpPr>
          <p:cNvPr id="9" name="Text 5"/>
          <p:cNvSpPr/>
          <p:nvPr/>
        </p:nvSpPr>
        <p:spPr>
          <a:xfrm>
            <a:off x="10522446" y="666750"/>
            <a:ext cx="548640" cy="182880"/>
          </a:xfrm>
          <a:prstGeom prst="rect">
            <a:avLst/>
          </a:prstGeom>
          <a:noFill/>
          <a:ln/>
        </p:spPr>
        <p:txBody>
          <a:bodyPr vert="horz" wrap="none" lIns="0" tIns="0" rIns="0" bIns="0" rtlCol="0" anchor="t">
            <a:normAutofit/>
          </a:bodyPr>
          <a:lstStyle/>
          <a:p>
            <a:pPr marL="0" indent="0" algn="l">
              <a:lnSpc>
                <a:spcPts val="1200"/>
              </a:lnSpc>
              <a:buNone/>
            </a:pPr>
            <a:r>
              <a:rPr lang="en-US" sz="900" dirty="0">
                <a:solidFill>
                  <a:srgbClr val="FFFFFF">
                    <a:alpha val="20000"/>
                  </a:srgbClr>
                </a:solidFill>
                <a:latin typeface="Monaco" pitchFamily="34" charset="0"/>
                <a:ea typeface="Monaco" pitchFamily="34" charset="-122"/>
                <a:cs typeface="Monaco" pitchFamily="34" charset="-120"/>
              </a:rPr>
              <a:t>DJKI_REG</a:t>
            </a:r>
            <a:endParaRPr lang="en-US" sz="900" dirty="0"/>
          </a:p>
        </p:txBody>
      </p:sp>
      <p:sp>
        <p:nvSpPr>
          <p:cNvPr id="10" name="Text 6"/>
          <p:cNvSpPr/>
          <p:nvPr/>
        </p:nvSpPr>
        <p:spPr>
          <a:xfrm>
            <a:off x="11180490" y="666750"/>
            <a:ext cx="283464" cy="182880"/>
          </a:xfrm>
          <a:prstGeom prst="rect">
            <a:avLst/>
          </a:prstGeom>
          <a:noFill/>
          <a:ln/>
        </p:spPr>
        <p:txBody>
          <a:bodyPr vert="horz" wrap="none" lIns="0" tIns="0" rIns="0" bIns="0" rtlCol="0" anchor="t">
            <a:normAutofit/>
          </a:bodyPr>
          <a:lstStyle/>
          <a:p>
            <a:pPr marL="0" indent="0" algn="l">
              <a:lnSpc>
                <a:spcPts val="1200"/>
              </a:lnSpc>
              <a:buNone/>
            </a:pPr>
            <a:r>
              <a:rPr lang="en-US" sz="900" dirty="0">
                <a:solidFill>
                  <a:srgbClr val="FFFFFF">
                    <a:alpha val="20000"/>
                  </a:srgbClr>
                </a:solidFill>
                <a:latin typeface="Monaco" pitchFamily="34" charset="0"/>
                <a:ea typeface="Monaco" pitchFamily="34" charset="-122"/>
                <a:cs typeface="Monaco" pitchFamily="34" charset="-120"/>
              </a:rPr>
              <a:t>2024</a:t>
            </a:r>
            <a:endParaRPr lang="en-US" sz="900" dirty="0"/>
          </a:p>
        </p:txBody>
      </p:sp>
      <p:sp>
        <p:nvSpPr>
          <p:cNvPr id="11" name="Text 7"/>
          <p:cNvSpPr/>
          <p:nvPr/>
        </p:nvSpPr>
        <p:spPr>
          <a:xfrm>
            <a:off x="762000" y="1647825"/>
            <a:ext cx="5219700" cy="1527572"/>
          </a:xfrm>
          <a:prstGeom prst="roundRect">
            <a:avLst>
              <a:gd name="adj" fmla="val 997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2" name="Image 2" descr="image.png"/>
          <p:cNvPicPr>
            <a:picLocks noChangeAspect="1"/>
          </p:cNvPicPr>
          <p:nvPr/>
        </p:nvPicPr>
        <p:blipFill>
          <a:blip r:embed="rId5"/>
          <a:srcRect/>
          <a:stretch/>
        </p:blipFill>
        <p:spPr>
          <a:xfrm>
            <a:off x="971550" y="1857375"/>
            <a:ext cx="1590675" cy="1104900"/>
          </a:xfrm>
          <a:prstGeom prst="rect">
            <a:avLst/>
          </a:prstGeom>
        </p:spPr>
      </p:pic>
      <p:sp>
        <p:nvSpPr>
          <p:cNvPr id="13" name="Text 8"/>
          <p:cNvSpPr/>
          <p:nvPr/>
        </p:nvSpPr>
        <p:spPr>
          <a:xfrm>
            <a:off x="2798713" y="1847850"/>
            <a:ext cx="307238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3D68FF"/>
                </a:solidFill>
                <a:latin typeface="Poppins" pitchFamily="34" charset="0"/>
                <a:ea typeface="Poppins" pitchFamily="34" charset="-122"/>
                <a:cs typeface="Poppins" pitchFamily="34" charset="-120"/>
              </a:rPr>
              <a:t>SISTEM ONLINE</a:t>
            </a:r>
            <a:endParaRPr lang="en-US" sz="750" dirty="0"/>
          </a:p>
        </p:txBody>
      </p:sp>
      <p:sp>
        <p:nvSpPr>
          <p:cNvPr id="14" name="Text 9"/>
          <p:cNvSpPr/>
          <p:nvPr/>
        </p:nvSpPr>
        <p:spPr>
          <a:xfrm>
            <a:off x="2798713" y="2028825"/>
            <a:ext cx="3090672"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ALUR PENDAFTARAN</a:t>
            </a:r>
            <a:endParaRPr lang="en-US" sz="1500" dirty="0"/>
          </a:p>
        </p:txBody>
      </p:sp>
      <p:sp>
        <p:nvSpPr>
          <p:cNvPr id="15" name="Text 10"/>
          <p:cNvSpPr/>
          <p:nvPr/>
        </p:nvSpPr>
        <p:spPr>
          <a:xfrm>
            <a:off x="2798713" y="2373511"/>
            <a:ext cx="3017520" cy="603504"/>
          </a:xfrm>
          <a:prstGeom prst="rect">
            <a:avLst/>
          </a:prstGeom>
          <a:noFill/>
          <a:ln/>
        </p:spPr>
        <p:txBody>
          <a:bodyPr vert="horz" wrap="square" lIns="0" tIns="0" rIns="0" bIns="0" rtlCol="0" anchor="t"/>
          <a:lstStyle/>
          <a:p>
            <a:pPr marL="0" indent="0" algn="l">
              <a:lnSpc>
                <a:spcPts val="1584"/>
              </a:lnSpc>
              <a:buNone/>
            </a:pPr>
            <a:r>
              <a:rPr lang="en-US" sz="975" dirty="0">
                <a:solidFill>
                  <a:srgbClr val="9CA3AF"/>
                </a:solidFill>
                <a:latin typeface="Poppins" pitchFamily="34" charset="0"/>
                <a:ea typeface="Poppins" pitchFamily="34" charset="-122"/>
                <a:cs typeface="Poppins" pitchFamily="34" charset="-120"/>
              </a:rPr>
              <a:t>Prosedur melalui sistem online DJKI meliputi tahap permohonan, publikasi, serta pemeriksaan formal dan substantif yang ketat.</a:t>
            </a:r>
            <a:endParaRPr lang="en-US" sz="975" dirty="0"/>
          </a:p>
        </p:txBody>
      </p:sp>
      <p:sp>
        <p:nvSpPr>
          <p:cNvPr id="16" name="Text 11"/>
          <p:cNvSpPr/>
          <p:nvPr/>
        </p:nvSpPr>
        <p:spPr>
          <a:xfrm>
            <a:off x="6210300" y="1647825"/>
            <a:ext cx="5219700" cy="1527572"/>
          </a:xfrm>
          <a:prstGeom prst="roundRect">
            <a:avLst>
              <a:gd name="adj" fmla="val 997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7" name="Image 3" descr="image.png"/>
          <p:cNvPicPr>
            <a:picLocks noChangeAspect="1"/>
          </p:cNvPicPr>
          <p:nvPr/>
        </p:nvPicPr>
        <p:blipFill>
          <a:blip r:embed="rId6"/>
          <a:srcRect/>
          <a:stretch/>
        </p:blipFill>
        <p:spPr>
          <a:xfrm>
            <a:off x="6419850" y="1857375"/>
            <a:ext cx="1590675" cy="1104900"/>
          </a:xfrm>
          <a:prstGeom prst="rect">
            <a:avLst/>
          </a:prstGeom>
        </p:spPr>
      </p:pic>
      <p:sp>
        <p:nvSpPr>
          <p:cNvPr id="18" name="Text 12"/>
          <p:cNvSpPr/>
          <p:nvPr/>
        </p:nvSpPr>
        <p:spPr>
          <a:xfrm>
            <a:off x="8247013" y="1847850"/>
            <a:ext cx="307238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6A44F2"/>
                </a:solidFill>
                <a:latin typeface="Poppins" pitchFamily="34" charset="0"/>
                <a:ea typeface="Poppins" pitchFamily="34" charset="-122"/>
                <a:cs typeface="Poppins" pitchFamily="34" charset="-120"/>
              </a:rPr>
              <a:t>LEGALITAS</a:t>
            </a:r>
            <a:endParaRPr lang="en-US" sz="750" dirty="0"/>
          </a:p>
        </p:txBody>
      </p:sp>
      <p:sp>
        <p:nvSpPr>
          <p:cNvPr id="19" name="Text 13"/>
          <p:cNvSpPr/>
          <p:nvPr/>
        </p:nvSpPr>
        <p:spPr>
          <a:xfrm>
            <a:off x="8247013" y="2028825"/>
            <a:ext cx="3090672"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VERIFIKASI HUKUM</a:t>
            </a:r>
            <a:endParaRPr lang="en-US" sz="1500" dirty="0"/>
          </a:p>
        </p:txBody>
      </p:sp>
      <p:sp>
        <p:nvSpPr>
          <p:cNvPr id="20" name="Text 14"/>
          <p:cNvSpPr/>
          <p:nvPr/>
        </p:nvSpPr>
        <p:spPr>
          <a:xfrm>
            <a:off x="8247013" y="2373511"/>
            <a:ext cx="3017520" cy="603504"/>
          </a:xfrm>
          <a:prstGeom prst="rect">
            <a:avLst/>
          </a:prstGeom>
          <a:noFill/>
          <a:ln/>
        </p:spPr>
        <p:txBody>
          <a:bodyPr vert="horz" wrap="square" lIns="0" tIns="0" rIns="0" bIns="0" rtlCol="0" anchor="t"/>
          <a:lstStyle/>
          <a:p>
            <a:pPr marL="0" indent="0" algn="l">
              <a:lnSpc>
                <a:spcPts val="1584"/>
              </a:lnSpc>
              <a:buNone/>
            </a:pPr>
            <a:r>
              <a:rPr lang="en-US" sz="975" dirty="0">
                <a:solidFill>
                  <a:srgbClr val="9CA3AF"/>
                </a:solidFill>
                <a:latin typeface="Poppins" pitchFamily="34" charset="0"/>
                <a:ea typeface="Poppins" pitchFamily="34" charset="-122"/>
                <a:cs typeface="Poppins" pitchFamily="34" charset="-120"/>
              </a:rPr>
              <a:t>Pendaftar harus memastikan merek tidak melanggar hak pihak lain dan memiliki daya pembeda kuat agar lolos verifikasi hukum.</a:t>
            </a:r>
            <a:endParaRPr lang="en-US" sz="975" dirty="0"/>
          </a:p>
        </p:txBody>
      </p:sp>
      <p:sp>
        <p:nvSpPr>
          <p:cNvPr id="21" name="Text 15"/>
          <p:cNvSpPr/>
          <p:nvPr/>
        </p:nvSpPr>
        <p:spPr>
          <a:xfrm>
            <a:off x="762000" y="3403997"/>
            <a:ext cx="5219700" cy="1527572"/>
          </a:xfrm>
          <a:prstGeom prst="roundRect">
            <a:avLst>
              <a:gd name="adj" fmla="val 997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22" name="Image 4" descr="image.png"/>
          <p:cNvPicPr>
            <a:picLocks noChangeAspect="1"/>
          </p:cNvPicPr>
          <p:nvPr/>
        </p:nvPicPr>
        <p:blipFill>
          <a:blip r:embed="rId7"/>
          <a:srcRect/>
          <a:stretch/>
        </p:blipFill>
        <p:spPr>
          <a:xfrm>
            <a:off x="971550" y="3613547"/>
            <a:ext cx="1590675" cy="1104900"/>
          </a:xfrm>
          <a:prstGeom prst="rect">
            <a:avLst/>
          </a:prstGeom>
        </p:spPr>
      </p:pic>
      <p:sp>
        <p:nvSpPr>
          <p:cNvPr id="23" name="Text 16"/>
          <p:cNvSpPr/>
          <p:nvPr/>
        </p:nvSpPr>
        <p:spPr>
          <a:xfrm>
            <a:off x="2798713" y="3604022"/>
            <a:ext cx="307238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3D68FF"/>
                </a:solidFill>
                <a:latin typeface="Poppins" pitchFamily="34" charset="0"/>
                <a:ea typeface="Poppins" pitchFamily="34" charset="-122"/>
                <a:cs typeface="Poppins" pitchFamily="34" charset="-120"/>
              </a:rPr>
              <a:t>EKONOMI KREATIF</a:t>
            </a:r>
            <a:endParaRPr lang="en-US" sz="750" dirty="0"/>
          </a:p>
        </p:txBody>
      </p:sp>
      <p:sp>
        <p:nvSpPr>
          <p:cNvPr id="24" name="Text 17"/>
          <p:cNvSpPr/>
          <p:nvPr/>
        </p:nvSpPr>
        <p:spPr>
          <a:xfrm>
            <a:off x="2798713" y="3784997"/>
            <a:ext cx="3090672"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TARIF KHUSUS UMK</a:t>
            </a:r>
            <a:endParaRPr lang="en-US" sz="1500" dirty="0"/>
          </a:p>
        </p:txBody>
      </p:sp>
      <p:sp>
        <p:nvSpPr>
          <p:cNvPr id="25" name="Text 18"/>
          <p:cNvSpPr/>
          <p:nvPr/>
        </p:nvSpPr>
        <p:spPr>
          <a:xfrm>
            <a:off x="2798713" y="4129683"/>
            <a:ext cx="3017520" cy="603504"/>
          </a:xfrm>
          <a:prstGeom prst="rect">
            <a:avLst/>
          </a:prstGeom>
          <a:noFill/>
          <a:ln/>
        </p:spPr>
        <p:txBody>
          <a:bodyPr vert="horz" wrap="square" lIns="0" tIns="0" rIns="0" bIns="0" rtlCol="0" anchor="t"/>
          <a:lstStyle/>
          <a:p>
            <a:pPr marL="0" indent="0" algn="l">
              <a:lnSpc>
                <a:spcPts val="1584"/>
              </a:lnSpc>
              <a:buNone/>
            </a:pPr>
            <a:r>
              <a:rPr lang="en-US" sz="975" dirty="0">
                <a:solidFill>
                  <a:srgbClr val="9CA3AF"/>
                </a:solidFill>
                <a:latin typeface="Poppins" pitchFamily="34" charset="0"/>
                <a:ea typeface="Poppins" pitchFamily="34" charset="-122"/>
                <a:cs typeface="Poppins" pitchFamily="34" charset="-120"/>
              </a:rPr>
              <a:t>Tersedia penyesuaian tarif khusus untuk UMKM guna meringankan beban biaya registrasi aset digital mereka secara resmi.</a:t>
            </a:r>
            <a:endParaRPr lang="en-US" sz="975" dirty="0"/>
          </a:p>
        </p:txBody>
      </p:sp>
      <p:sp>
        <p:nvSpPr>
          <p:cNvPr id="26" name="Text 19"/>
          <p:cNvSpPr/>
          <p:nvPr/>
        </p:nvSpPr>
        <p:spPr>
          <a:xfrm>
            <a:off x="6210300" y="3403997"/>
            <a:ext cx="5219700" cy="1527572"/>
          </a:xfrm>
          <a:prstGeom prst="roundRect">
            <a:avLst>
              <a:gd name="adj" fmla="val 9977"/>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27" name="Image 5" descr="image.png"/>
          <p:cNvPicPr>
            <a:picLocks noChangeAspect="1"/>
          </p:cNvPicPr>
          <p:nvPr/>
        </p:nvPicPr>
        <p:blipFill>
          <a:blip r:embed="rId8"/>
          <a:srcRect/>
          <a:stretch/>
        </p:blipFill>
        <p:spPr>
          <a:xfrm>
            <a:off x="6419850" y="3613547"/>
            <a:ext cx="1590675" cy="1104900"/>
          </a:xfrm>
          <a:prstGeom prst="rect">
            <a:avLst/>
          </a:prstGeom>
        </p:spPr>
      </p:pic>
      <p:sp>
        <p:nvSpPr>
          <p:cNvPr id="28" name="Text 20"/>
          <p:cNvSpPr/>
          <p:nvPr/>
        </p:nvSpPr>
        <p:spPr>
          <a:xfrm>
            <a:off x="8247013" y="3604022"/>
            <a:ext cx="3072384"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6A44F2"/>
                </a:solidFill>
                <a:latin typeface="Poppins" pitchFamily="34" charset="0"/>
                <a:ea typeface="Poppins" pitchFamily="34" charset="-122"/>
                <a:cs typeface="Poppins" pitchFamily="34" charset="-120"/>
              </a:rPr>
              <a:t>BRAND STRATEGY</a:t>
            </a:r>
            <a:endParaRPr lang="en-US" sz="750" dirty="0"/>
          </a:p>
        </p:txBody>
      </p:sp>
      <p:sp>
        <p:nvSpPr>
          <p:cNvPr id="29" name="Text 21"/>
          <p:cNvSpPr/>
          <p:nvPr/>
        </p:nvSpPr>
        <p:spPr>
          <a:xfrm>
            <a:off x="8247013" y="3784997"/>
            <a:ext cx="3090672"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FILOSOFI BISNIS</a:t>
            </a:r>
            <a:endParaRPr lang="en-US" sz="1500" dirty="0"/>
          </a:p>
        </p:txBody>
      </p:sp>
      <p:sp>
        <p:nvSpPr>
          <p:cNvPr id="30" name="Text 22"/>
          <p:cNvSpPr/>
          <p:nvPr/>
        </p:nvSpPr>
        <p:spPr>
          <a:xfrm>
            <a:off x="8247013" y="4129683"/>
            <a:ext cx="3017520" cy="603504"/>
          </a:xfrm>
          <a:prstGeom prst="rect">
            <a:avLst/>
          </a:prstGeom>
          <a:noFill/>
          <a:ln/>
        </p:spPr>
        <p:txBody>
          <a:bodyPr vert="horz" wrap="square" lIns="0" tIns="0" rIns="0" bIns="0" rtlCol="0" anchor="t"/>
          <a:lstStyle/>
          <a:p>
            <a:pPr marL="0" indent="0" algn="l">
              <a:lnSpc>
                <a:spcPts val="1584"/>
              </a:lnSpc>
              <a:buNone/>
            </a:pPr>
            <a:r>
              <a:rPr lang="en-US" sz="975" dirty="0">
                <a:solidFill>
                  <a:srgbClr val="9CA3AF"/>
                </a:solidFill>
                <a:latin typeface="Poppins" pitchFamily="34" charset="0"/>
                <a:ea typeface="Poppins" pitchFamily="34" charset="-122"/>
                <a:cs typeface="Poppins" pitchFamily="34" charset="-120"/>
              </a:rPr>
              <a:t>Gunakan nama unik yang mencerminkan filosofi bisnis untuk menghindari sengketa di marketplace di masa depan.</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3422809" y="609600"/>
            <a:ext cx="5495544" cy="786384"/>
          </a:xfrm>
          <a:prstGeom prst="rect">
            <a:avLst/>
          </a:prstGeom>
          <a:noFill/>
          <a:ln/>
        </p:spPr>
        <p:txBody>
          <a:bodyPr vert="horz" wrap="none" lIns="0" tIns="0" rIns="0" bIns="0" rtlCol="0" anchor="t">
            <a:normAutofit/>
          </a:bodyPr>
          <a:lstStyle/>
          <a:p>
            <a:pPr marL="0" indent="0" algn="ctr">
              <a:lnSpc>
                <a:spcPts val="5625"/>
              </a:lnSpc>
              <a:buNone/>
            </a:pPr>
            <a:r>
              <a:rPr lang="en-US" sz="4500" b="1" dirty="0">
                <a:solidFill>
                  <a:srgbClr val="FFFFFF"/>
                </a:solidFill>
                <a:latin typeface="Bebas Neue" pitchFamily="34" charset="0"/>
                <a:ea typeface="Bebas Neue" pitchFamily="34" charset="-122"/>
                <a:cs typeface="Bebas Neue" pitchFamily="34" charset="-120"/>
              </a:rPr>
              <a:t>RAHASIA DAGANG </a:t>
            </a:r>
            <a:r>
              <a:rPr lang="en-US" sz="4500" b="1" dirty="0">
                <a:solidFill>
                  <a:srgbClr val="3D68FF"/>
                </a:solidFill>
                <a:latin typeface="Bebas Neue" pitchFamily="34" charset="0"/>
                <a:ea typeface="Bebas Neue" pitchFamily="34" charset="-122"/>
                <a:cs typeface="Bebas Neue" pitchFamily="34" charset="-120"/>
              </a:rPr>
              <a:t>TEKNOLOGI</a:t>
            </a:r>
            <a:endParaRPr lang="en-US" sz="4500" dirty="0"/>
          </a:p>
        </p:txBody>
      </p:sp>
      <p:pic>
        <p:nvPicPr>
          <p:cNvPr id="6" name="Image 2" descr="image.png"/>
          <p:cNvPicPr>
            <a:picLocks noChangeAspect="1"/>
          </p:cNvPicPr>
          <p:nvPr/>
        </p:nvPicPr>
        <p:blipFill>
          <a:blip r:embed="rId5"/>
          <a:srcRect/>
          <a:stretch/>
        </p:blipFill>
        <p:spPr>
          <a:xfrm>
            <a:off x="3477518" y="1624013"/>
            <a:ext cx="762000" cy="9525"/>
          </a:xfrm>
          <a:prstGeom prst="rect">
            <a:avLst/>
          </a:prstGeom>
        </p:spPr>
      </p:pic>
      <p:sp>
        <p:nvSpPr>
          <p:cNvPr id="7" name="Text 2"/>
          <p:cNvSpPr/>
          <p:nvPr/>
        </p:nvSpPr>
        <p:spPr>
          <a:xfrm>
            <a:off x="4356640" y="1552575"/>
            <a:ext cx="3511296" cy="182880"/>
          </a:xfrm>
          <a:prstGeom prst="rect">
            <a:avLst/>
          </a:prstGeom>
          <a:noFill/>
          <a:ln/>
        </p:spPr>
        <p:txBody>
          <a:bodyPr vert="horz" wrap="none" lIns="0" tIns="0" rIns="0" bIns="0" rtlCol="0" anchor="t">
            <a:normAutofit/>
          </a:bodyPr>
          <a:lstStyle/>
          <a:p>
            <a:pPr marL="0" indent="0" algn="ctr">
              <a:lnSpc>
                <a:spcPts val="1200"/>
              </a:lnSpc>
              <a:buNone/>
            </a:pPr>
            <a:r>
              <a:rPr lang="en-US" sz="900" kern="0" spc="360" dirty="0">
                <a:solidFill>
                  <a:srgbClr val="9CA3AF"/>
                </a:solidFill>
                <a:latin typeface="Poppins" pitchFamily="34" charset="0"/>
                <a:ea typeface="Poppins" pitchFamily="34" charset="-122"/>
                <a:cs typeface="Poppins" pitchFamily="34" charset="-120"/>
              </a:rPr>
              <a:t>PERLINDUNGAN HUKUM ASET DIGITAL</a:t>
            </a:r>
            <a:endParaRPr lang="en-US" sz="900" dirty="0"/>
          </a:p>
        </p:txBody>
      </p:sp>
      <p:pic>
        <p:nvPicPr>
          <p:cNvPr id="8" name="Image 3" descr="image.png"/>
          <p:cNvPicPr>
            <a:picLocks noChangeAspect="1"/>
          </p:cNvPicPr>
          <p:nvPr/>
        </p:nvPicPr>
        <p:blipFill>
          <a:blip r:embed="rId6"/>
          <a:srcRect/>
          <a:stretch/>
        </p:blipFill>
        <p:spPr>
          <a:xfrm>
            <a:off x="7952482" y="1624013"/>
            <a:ext cx="762000" cy="9525"/>
          </a:xfrm>
          <a:prstGeom prst="rect">
            <a:avLst/>
          </a:prstGeom>
        </p:spPr>
      </p:pic>
      <p:sp>
        <p:nvSpPr>
          <p:cNvPr id="9" name="Text 3"/>
          <p:cNvSpPr/>
          <p:nvPr/>
        </p:nvSpPr>
        <p:spPr>
          <a:xfrm>
            <a:off x="762000" y="2466975"/>
            <a:ext cx="5181600" cy="2193131"/>
          </a:xfrm>
          <a:prstGeom prst="roundRect">
            <a:avLst>
              <a:gd name="adj" fmla="val 10423"/>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0" name="Text 4"/>
          <p:cNvSpPr/>
          <p:nvPr/>
        </p:nvSpPr>
        <p:spPr>
          <a:xfrm>
            <a:off x="1150665" y="2857500"/>
            <a:ext cx="1883664"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3D68FF"/>
                </a:solidFill>
                <a:latin typeface="Poppins" pitchFamily="34" charset="0"/>
                <a:ea typeface="Poppins" pitchFamily="34" charset="-122"/>
                <a:cs typeface="Poppins" pitchFamily="34" charset="-120"/>
              </a:rPr>
              <a:t>LINGKUP PERLINDUNGAN</a:t>
            </a:r>
            <a:endParaRPr lang="en-US" sz="1050" dirty="0"/>
          </a:p>
        </p:txBody>
      </p:sp>
      <p:sp>
        <p:nvSpPr>
          <p:cNvPr id="11" name="Text 5"/>
          <p:cNvSpPr/>
          <p:nvPr/>
        </p:nvSpPr>
        <p:spPr>
          <a:xfrm>
            <a:off x="1150665" y="3086100"/>
            <a:ext cx="1911096" cy="338328"/>
          </a:xfrm>
          <a:prstGeom prst="rect">
            <a:avLst/>
          </a:prstGeom>
          <a:noFill/>
          <a:ln/>
        </p:spPr>
        <p:txBody>
          <a:bodyPr vert="horz" wrap="none" lIns="0" tIns="0" rIns="0" bIns="0" rtlCol="0" anchor="t">
            <a:normAutofit/>
          </a:bodyPr>
          <a:lstStyle/>
          <a:p>
            <a:pPr marL="0" indent="0" algn="l">
              <a:lnSpc>
                <a:spcPts val="2400"/>
              </a:lnSpc>
              <a:buNone/>
            </a:pPr>
            <a:r>
              <a:rPr lang="en-US" sz="1800" b="1" kern="0" spc="-50" dirty="0">
                <a:solidFill>
                  <a:srgbClr val="FFFFFF"/>
                </a:solidFill>
                <a:latin typeface="Bebas Neue" pitchFamily="34" charset="0"/>
                <a:ea typeface="Bebas Neue" pitchFamily="34" charset="-122"/>
                <a:cs typeface="Bebas Neue" pitchFamily="34" charset="-120"/>
              </a:rPr>
              <a:t>ALGORITMA &amp; MODEL BISNIS</a:t>
            </a:r>
            <a:endParaRPr lang="en-US" sz="1800" dirty="0"/>
          </a:p>
        </p:txBody>
      </p:sp>
      <p:sp>
        <p:nvSpPr>
          <p:cNvPr id="12" name="Text 6"/>
          <p:cNvSpPr/>
          <p:nvPr/>
        </p:nvSpPr>
        <p:spPr>
          <a:xfrm>
            <a:off x="5095875" y="2857500"/>
            <a:ext cx="457200" cy="457200"/>
          </a:xfrm>
          <a:prstGeom prst="roundRect">
            <a:avLst>
              <a:gd name="adj" fmla="val 25000"/>
            </a:avLst>
          </a:prstGeom>
          <a:solidFill>
            <a:srgbClr val="3D68FF">
              <a:alpha val="10000"/>
            </a:srgbClr>
          </a:solidFill>
          <a:ln/>
        </p:spPr>
        <p:txBody>
          <a:bodyPr wrap="square" rtlCol="0" anchor="ctr"/>
          <a:lstStyle/>
          <a:p>
            <a:pPr marL="0" indent="0">
              <a:buNone/>
            </a:pPr>
            <a:endParaRPr lang="en-US" dirty="0"/>
          </a:p>
        </p:txBody>
      </p:sp>
      <p:pic>
        <p:nvPicPr>
          <p:cNvPr id="13" name="Image 4" descr="image.png"/>
          <p:cNvPicPr>
            <a:picLocks noChangeAspect="1"/>
          </p:cNvPicPr>
          <p:nvPr/>
        </p:nvPicPr>
        <p:blipFill>
          <a:blip r:embed="rId7"/>
          <a:srcRect/>
          <a:stretch/>
        </p:blipFill>
        <p:spPr>
          <a:xfrm>
            <a:off x="5229225" y="2952750"/>
            <a:ext cx="190500" cy="266700"/>
          </a:xfrm>
          <a:prstGeom prst="rect">
            <a:avLst/>
          </a:prstGeom>
        </p:spPr>
      </p:pic>
      <p:sp>
        <p:nvSpPr>
          <p:cNvPr id="14" name="Text 7"/>
          <p:cNvSpPr/>
          <p:nvPr/>
        </p:nvSpPr>
        <p:spPr>
          <a:xfrm>
            <a:off x="1152525" y="3620691"/>
            <a:ext cx="443484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Perlindungan informasi bisnis rahasia mencakup algoritma perangkat lunak kompleks dan model bisnis yang unik untuk mempertahankan keunggulan kompetitif di pasar.</a:t>
            </a:r>
            <a:endParaRPr lang="en-US" sz="1050" dirty="0"/>
          </a:p>
        </p:txBody>
      </p:sp>
      <p:sp>
        <p:nvSpPr>
          <p:cNvPr id="15" name="Text 8"/>
          <p:cNvSpPr/>
          <p:nvPr/>
        </p:nvSpPr>
        <p:spPr>
          <a:xfrm>
            <a:off x="6248400" y="2466975"/>
            <a:ext cx="5181600" cy="2193131"/>
          </a:xfrm>
          <a:prstGeom prst="roundRect">
            <a:avLst>
              <a:gd name="adj" fmla="val 10423"/>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6" name="Text 9"/>
          <p:cNvSpPr/>
          <p:nvPr/>
        </p:nvSpPr>
        <p:spPr>
          <a:xfrm>
            <a:off x="6640860" y="2857500"/>
            <a:ext cx="2048256" cy="219456"/>
          </a:xfrm>
          <a:prstGeom prst="rect">
            <a:avLst/>
          </a:prstGeom>
          <a:noFill/>
          <a:ln/>
        </p:spPr>
        <p:txBody>
          <a:bodyPr vert="horz" wrap="none" lIns="0" tIns="0" rIns="0" bIns="0" rtlCol="0" anchor="t">
            <a:normAutofit/>
          </a:bodyPr>
          <a:lstStyle/>
          <a:p>
            <a:pPr marL="0" indent="0" algn="l">
              <a:lnSpc>
                <a:spcPts val="1500"/>
              </a:lnSpc>
              <a:buNone/>
            </a:pPr>
            <a:r>
              <a:rPr lang="en-US" sz="1050" kern="0" spc="100" dirty="0">
                <a:solidFill>
                  <a:srgbClr val="3D68FF"/>
                </a:solidFill>
                <a:latin typeface="Poppins" pitchFamily="34" charset="0"/>
                <a:ea typeface="Poppins" pitchFamily="34" charset="-122"/>
                <a:cs typeface="Poppins" pitchFamily="34" charset="-120"/>
              </a:rPr>
              <a:t>KRITERIA UTAMA</a:t>
            </a:r>
            <a:endParaRPr lang="en-US" sz="1050" dirty="0"/>
          </a:p>
        </p:txBody>
      </p:sp>
      <p:sp>
        <p:nvSpPr>
          <p:cNvPr id="17" name="Text 10"/>
          <p:cNvSpPr/>
          <p:nvPr/>
        </p:nvSpPr>
        <p:spPr>
          <a:xfrm>
            <a:off x="6640860" y="3086100"/>
            <a:ext cx="2075688" cy="338328"/>
          </a:xfrm>
          <a:prstGeom prst="rect">
            <a:avLst/>
          </a:prstGeom>
          <a:noFill/>
          <a:ln/>
        </p:spPr>
        <p:txBody>
          <a:bodyPr vert="horz" wrap="none" lIns="0" tIns="0" rIns="0" bIns="0" rtlCol="0" anchor="t">
            <a:normAutofit/>
          </a:bodyPr>
          <a:lstStyle/>
          <a:p>
            <a:pPr marL="0" indent="0" algn="l">
              <a:lnSpc>
                <a:spcPts val="2400"/>
              </a:lnSpc>
              <a:buNone/>
            </a:pPr>
            <a:r>
              <a:rPr lang="en-US" sz="1800" b="1" kern="0" spc="-50" dirty="0">
                <a:solidFill>
                  <a:srgbClr val="FFFFFF"/>
                </a:solidFill>
                <a:latin typeface="Bebas Neue" pitchFamily="34" charset="0"/>
                <a:ea typeface="Bebas Neue" pitchFamily="34" charset="-122"/>
                <a:cs typeface="Bebas Neue" pitchFamily="34" charset="-120"/>
              </a:rPr>
              <a:t>KESIAPAN ERA KECERDASAN AI</a:t>
            </a:r>
            <a:endParaRPr lang="en-US" sz="1800" dirty="0"/>
          </a:p>
        </p:txBody>
      </p:sp>
      <p:sp>
        <p:nvSpPr>
          <p:cNvPr id="18" name="Text 11"/>
          <p:cNvSpPr/>
          <p:nvPr/>
        </p:nvSpPr>
        <p:spPr>
          <a:xfrm>
            <a:off x="10582275" y="2857500"/>
            <a:ext cx="457200" cy="457200"/>
          </a:xfrm>
          <a:prstGeom prst="roundRect">
            <a:avLst>
              <a:gd name="adj" fmla="val 25000"/>
            </a:avLst>
          </a:prstGeom>
          <a:solidFill>
            <a:srgbClr val="3D68FF">
              <a:alpha val="10000"/>
            </a:srgbClr>
          </a:solidFill>
          <a:ln/>
        </p:spPr>
        <p:txBody>
          <a:bodyPr wrap="square" rtlCol="0" anchor="ctr"/>
          <a:lstStyle/>
          <a:p>
            <a:pPr marL="0" indent="0">
              <a:buNone/>
            </a:pPr>
            <a:endParaRPr lang="en-US" dirty="0"/>
          </a:p>
        </p:txBody>
      </p:sp>
      <p:pic>
        <p:nvPicPr>
          <p:cNvPr id="19" name="Image 5" descr="image.png"/>
          <p:cNvPicPr>
            <a:picLocks noChangeAspect="1"/>
          </p:cNvPicPr>
          <p:nvPr/>
        </p:nvPicPr>
        <p:blipFill>
          <a:blip r:embed="rId8"/>
          <a:srcRect/>
          <a:stretch/>
        </p:blipFill>
        <p:spPr>
          <a:xfrm>
            <a:off x="10715625" y="2952750"/>
            <a:ext cx="190500" cy="266700"/>
          </a:xfrm>
          <a:prstGeom prst="rect">
            <a:avLst/>
          </a:prstGeom>
        </p:spPr>
      </p:pic>
      <p:sp>
        <p:nvSpPr>
          <p:cNvPr id="20" name="Text 12"/>
          <p:cNvSpPr/>
          <p:nvPr/>
        </p:nvSpPr>
        <p:spPr>
          <a:xfrm>
            <a:off x="6638925" y="3620691"/>
            <a:ext cx="4434840"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Kriteria mencakup nilai ekonomi, kerahasiaan terjaga, dan upaya perlindungan khusus sesuai standar kesiapan AI untuk keamanan data teknologi mutakhir.</a:t>
            </a:r>
            <a:endParaRPr lang="en-US" sz="1050" dirty="0"/>
          </a:p>
        </p:txBody>
      </p:sp>
      <p:sp>
        <p:nvSpPr>
          <p:cNvPr id="21" name="Text 13"/>
          <p:cNvSpPr/>
          <p:nvPr/>
        </p:nvSpPr>
        <p:spPr>
          <a:xfrm>
            <a:off x="5753100" y="5041106"/>
            <a:ext cx="76200" cy="762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
        <p:nvSpPr>
          <p:cNvPr id="22" name="Text 14"/>
          <p:cNvSpPr/>
          <p:nvPr/>
        </p:nvSpPr>
        <p:spPr>
          <a:xfrm>
            <a:off x="5905500" y="5041106"/>
            <a:ext cx="76200" cy="76200"/>
          </a:xfrm>
          <a:prstGeom prst="roundRect">
            <a:avLst>
              <a:gd name="adj" fmla="val 100000"/>
            </a:avLst>
          </a:prstGeom>
          <a:solidFill>
            <a:srgbClr val="FFFFFF">
              <a:alpha val="10000"/>
            </a:srgbClr>
          </a:solidFill>
          <a:ln/>
        </p:spPr>
        <p:txBody>
          <a:bodyPr wrap="square" rtlCol="0" anchor="ctr"/>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3359658" y="609600"/>
            <a:ext cx="5623560" cy="630936"/>
          </a:xfrm>
          <a:prstGeom prst="rect">
            <a:avLst/>
          </a:prstGeom>
          <a:noFill/>
          <a:ln/>
        </p:spPr>
        <p:txBody>
          <a:bodyPr vert="horz" wrap="none" lIns="0" tIns="0" rIns="0" bIns="0" rtlCol="0" anchor="t">
            <a:normAutofit/>
          </a:bodyPr>
          <a:lstStyle/>
          <a:p>
            <a:pPr marL="0" indent="0" algn="ctr">
              <a:lnSpc>
                <a:spcPts val="4500"/>
              </a:lnSpc>
              <a:buNone/>
            </a:pPr>
            <a:r>
              <a:rPr lang="en-US" sz="4500" b="1" kern="0" spc="-230" dirty="0">
                <a:solidFill>
                  <a:srgbClr val="FFFFFF"/>
                </a:solidFill>
                <a:latin typeface="Bebas Neue" pitchFamily="34" charset="0"/>
                <a:ea typeface="Bebas Neue" pitchFamily="34" charset="-122"/>
                <a:cs typeface="Bebas Neue" pitchFamily="34" charset="-120"/>
              </a:rPr>
              <a:t>MELINDUNGI </a:t>
            </a:r>
            <a:r>
              <a:rPr lang="en-US" sz="4500" b="1" kern="0" spc="-230" dirty="0">
                <a:solidFill>
                  <a:srgbClr val="3D68FF"/>
                </a:solidFill>
                <a:latin typeface="Bebas Neue" pitchFamily="34" charset="0"/>
                <a:ea typeface="Bebas Neue" pitchFamily="34" charset="-122"/>
                <a:cs typeface="Bebas Neue" pitchFamily="34" charset="-120"/>
              </a:rPr>
              <a:t>BASIS DATA</a:t>
            </a:r>
            <a:r>
              <a:rPr lang="en-US" sz="4500" b="1" kern="0" spc="-230" dirty="0">
                <a:solidFill>
                  <a:srgbClr val="FFFFFF"/>
                </a:solidFill>
                <a:latin typeface="Bebas Neue" pitchFamily="34" charset="0"/>
                <a:ea typeface="Bebas Neue" pitchFamily="34" charset="-122"/>
                <a:cs typeface="Bebas Neue" pitchFamily="34" charset="-120"/>
              </a:rPr>
              <a:t> PELANGGAN</a:t>
            </a:r>
            <a:endParaRPr lang="en-US" sz="4500" dirty="0"/>
          </a:p>
        </p:txBody>
      </p:sp>
      <p:sp>
        <p:nvSpPr>
          <p:cNvPr id="6" name="Text 2"/>
          <p:cNvSpPr/>
          <p:nvPr/>
        </p:nvSpPr>
        <p:spPr>
          <a:xfrm>
            <a:off x="762000" y="1638300"/>
            <a:ext cx="10668000" cy="1847850"/>
          </a:xfrm>
          <a:prstGeom prst="roundRect">
            <a:avLst>
              <a:gd name="adj" fmla="val 1030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7" name="Image 2" descr="image.png"/>
          <p:cNvPicPr>
            <a:picLocks noChangeAspect="1"/>
          </p:cNvPicPr>
          <p:nvPr/>
        </p:nvPicPr>
        <p:blipFill>
          <a:blip r:embed="rId5"/>
          <a:srcRect/>
          <a:stretch/>
        </p:blipFill>
        <p:spPr>
          <a:xfrm>
            <a:off x="1085850" y="1962150"/>
            <a:ext cx="1809750" cy="1200150"/>
          </a:xfrm>
          <a:prstGeom prst="rect">
            <a:avLst/>
          </a:prstGeom>
        </p:spPr>
      </p:pic>
      <p:sp>
        <p:nvSpPr>
          <p:cNvPr id="8" name="Text 3"/>
          <p:cNvSpPr/>
          <p:nvPr/>
        </p:nvSpPr>
        <p:spPr>
          <a:xfrm>
            <a:off x="3286125" y="2021681"/>
            <a:ext cx="2395728" cy="338328"/>
          </a:xfrm>
          <a:prstGeom prst="rect">
            <a:avLst/>
          </a:prstGeom>
          <a:noFill/>
          <a:ln/>
        </p:spPr>
        <p:txBody>
          <a:bodyPr vert="horz" wrap="none" lIns="0" tIns="0" rIns="0" bIns="0" rtlCol="0" anchor="t">
            <a:normAutofit/>
          </a:bodyPr>
          <a:lstStyle/>
          <a:p>
            <a:pPr marL="0" indent="0" algn="l">
              <a:lnSpc>
                <a:spcPts val="2400"/>
              </a:lnSpc>
              <a:buNone/>
            </a:pPr>
            <a:r>
              <a:rPr lang="en-US" sz="1800" b="1" dirty="0">
                <a:solidFill>
                  <a:srgbClr val="FFFFFF"/>
                </a:solidFill>
                <a:latin typeface="Bebas Neue" pitchFamily="34" charset="0"/>
                <a:ea typeface="Bebas Neue" pitchFamily="34" charset="-122"/>
                <a:cs typeface="Bebas Neue" pitchFamily="34" charset="-120"/>
              </a:rPr>
              <a:t>ASET DIGITAL &amp; RAHASIA DAGANG</a:t>
            </a:r>
            <a:endParaRPr lang="en-US" sz="1800" dirty="0"/>
          </a:p>
        </p:txBody>
      </p:sp>
      <p:sp>
        <p:nvSpPr>
          <p:cNvPr id="9" name="Text 4"/>
          <p:cNvSpPr/>
          <p:nvPr/>
        </p:nvSpPr>
        <p:spPr>
          <a:xfrm>
            <a:off x="9943356" y="2116931"/>
            <a:ext cx="1234440" cy="219456"/>
          </a:xfrm>
          <a:prstGeom prst="rect">
            <a:avLst/>
          </a:prstGeom>
          <a:noFill/>
          <a:ln/>
        </p:spPr>
        <p:txBody>
          <a:bodyPr vert="horz" wrap="none" lIns="0" tIns="0" rIns="0" bIns="0" rtlCol="0" anchor="t">
            <a:normAutofit/>
          </a:bodyPr>
          <a:lstStyle/>
          <a:p>
            <a:pPr marL="0" indent="0" algn="l">
              <a:lnSpc>
                <a:spcPts val="1500"/>
              </a:lnSpc>
              <a:buNone/>
            </a:pPr>
            <a:r>
              <a:rPr lang="en-US" sz="1050" dirty="0">
                <a:solidFill>
                  <a:srgbClr val="3D68FF"/>
                </a:solidFill>
                <a:latin typeface="Monaco" pitchFamily="34" charset="0"/>
                <a:ea typeface="Monaco" pitchFamily="34" charset="-122"/>
                <a:cs typeface="Monaco" pitchFamily="34" charset="-120"/>
              </a:rPr>
              <a:t>URGENSI KEAMANAN</a:t>
            </a:r>
            <a:endParaRPr lang="en-US" sz="1050" dirty="0"/>
          </a:p>
        </p:txBody>
      </p:sp>
      <p:sp>
        <p:nvSpPr>
          <p:cNvPr id="10" name="Text 5"/>
          <p:cNvSpPr/>
          <p:nvPr/>
        </p:nvSpPr>
        <p:spPr>
          <a:xfrm>
            <a:off x="3286125" y="2402681"/>
            <a:ext cx="801928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9CA3AF"/>
                </a:solidFill>
                <a:latin typeface="MiSans Normal" pitchFamily="34" charset="0"/>
                <a:ea typeface="MiSans Normal" pitchFamily="34" charset="-122"/>
                <a:cs typeface="MiSans Normal" pitchFamily="34" charset="-120"/>
              </a:rPr>
              <a:t>PERLINDUNGAN REZIM HUKUM DJKI</a:t>
            </a:r>
            <a:endParaRPr lang="en-US" sz="900" dirty="0"/>
          </a:p>
        </p:txBody>
      </p:sp>
      <p:sp>
        <p:nvSpPr>
          <p:cNvPr id="11" name="Text 6"/>
          <p:cNvSpPr/>
          <p:nvPr/>
        </p:nvSpPr>
        <p:spPr>
          <a:xfrm>
            <a:off x="3286125" y="2667000"/>
            <a:ext cx="78638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Basis data pelanggan adalah aset strategis. Keamanan data sangat mendesak guna mencegah kerugian kompetitif dari pencurian oleh kompetitor atau mantan karyawan melalui perlindungan Rahasia Dagang.</a:t>
            </a:r>
            <a:endParaRPr lang="en-US" sz="1050" dirty="0"/>
          </a:p>
        </p:txBody>
      </p:sp>
      <p:sp>
        <p:nvSpPr>
          <p:cNvPr id="12" name="Text 7"/>
          <p:cNvSpPr/>
          <p:nvPr/>
        </p:nvSpPr>
        <p:spPr>
          <a:xfrm>
            <a:off x="762000" y="3790950"/>
            <a:ext cx="10668000" cy="1847850"/>
          </a:xfrm>
          <a:prstGeom prst="roundRect">
            <a:avLst>
              <a:gd name="adj" fmla="val 1030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3" name="Image 3" descr="image.png"/>
          <p:cNvPicPr>
            <a:picLocks noChangeAspect="1"/>
          </p:cNvPicPr>
          <p:nvPr/>
        </p:nvPicPr>
        <p:blipFill>
          <a:blip r:embed="rId6"/>
          <a:srcRect/>
          <a:stretch/>
        </p:blipFill>
        <p:spPr>
          <a:xfrm>
            <a:off x="1085850" y="4114800"/>
            <a:ext cx="1809750" cy="1200150"/>
          </a:xfrm>
          <a:prstGeom prst="rect">
            <a:avLst/>
          </a:prstGeom>
        </p:spPr>
      </p:pic>
      <p:sp>
        <p:nvSpPr>
          <p:cNvPr id="14" name="Text 8"/>
          <p:cNvSpPr/>
          <p:nvPr/>
        </p:nvSpPr>
        <p:spPr>
          <a:xfrm>
            <a:off x="3286125" y="4174331"/>
            <a:ext cx="2633472" cy="338328"/>
          </a:xfrm>
          <a:prstGeom prst="rect">
            <a:avLst/>
          </a:prstGeom>
          <a:noFill/>
          <a:ln/>
        </p:spPr>
        <p:txBody>
          <a:bodyPr vert="horz" wrap="none" lIns="0" tIns="0" rIns="0" bIns="0" rtlCol="0" anchor="t">
            <a:normAutofit/>
          </a:bodyPr>
          <a:lstStyle/>
          <a:p>
            <a:pPr marL="0" indent="0" algn="l">
              <a:lnSpc>
                <a:spcPts val="2400"/>
              </a:lnSpc>
              <a:buNone/>
            </a:pPr>
            <a:r>
              <a:rPr lang="en-US" sz="1800" b="1" dirty="0">
                <a:solidFill>
                  <a:srgbClr val="FFFFFF"/>
                </a:solidFill>
                <a:latin typeface="Bebas Neue" pitchFamily="34" charset="0"/>
                <a:ea typeface="Bebas Neue" pitchFamily="34" charset="-122"/>
                <a:cs typeface="Bebas Neue" pitchFamily="34" charset="-120"/>
              </a:rPr>
              <a:t>NON-DISCLOSURE AGREEMENT (NDA)</a:t>
            </a:r>
            <a:endParaRPr lang="en-US" sz="1800" dirty="0"/>
          </a:p>
        </p:txBody>
      </p:sp>
      <p:sp>
        <p:nvSpPr>
          <p:cNvPr id="15" name="Text 9"/>
          <p:cNvSpPr/>
          <p:nvPr/>
        </p:nvSpPr>
        <p:spPr>
          <a:xfrm>
            <a:off x="9868570" y="4269581"/>
            <a:ext cx="1307592" cy="219456"/>
          </a:xfrm>
          <a:prstGeom prst="rect">
            <a:avLst/>
          </a:prstGeom>
          <a:noFill/>
          <a:ln/>
        </p:spPr>
        <p:txBody>
          <a:bodyPr vert="horz" wrap="none" lIns="0" tIns="0" rIns="0" bIns="0" rtlCol="0" anchor="t">
            <a:normAutofit/>
          </a:bodyPr>
          <a:lstStyle/>
          <a:p>
            <a:pPr marL="0" indent="0" algn="l">
              <a:lnSpc>
                <a:spcPts val="1500"/>
              </a:lnSpc>
              <a:buNone/>
            </a:pPr>
            <a:r>
              <a:rPr lang="en-US" sz="1050" dirty="0">
                <a:solidFill>
                  <a:srgbClr val="3D68FF"/>
                </a:solidFill>
                <a:latin typeface="Monaco" pitchFamily="34" charset="0"/>
                <a:ea typeface="Monaco" pitchFamily="34" charset="-122"/>
                <a:cs typeface="Monaco" pitchFamily="34" charset="-120"/>
              </a:rPr>
              <a:t>LANGKAH PREVENTIF</a:t>
            </a:r>
            <a:endParaRPr lang="en-US" sz="1050" dirty="0"/>
          </a:p>
        </p:txBody>
      </p:sp>
      <p:sp>
        <p:nvSpPr>
          <p:cNvPr id="16" name="Text 10"/>
          <p:cNvSpPr/>
          <p:nvPr/>
        </p:nvSpPr>
        <p:spPr>
          <a:xfrm>
            <a:off x="3286125" y="4555331"/>
            <a:ext cx="8019288" cy="182880"/>
          </a:xfrm>
          <a:prstGeom prst="rect">
            <a:avLst/>
          </a:prstGeom>
          <a:noFill/>
          <a:ln/>
        </p:spPr>
        <p:txBody>
          <a:bodyPr vert="horz" wrap="none" lIns="0" tIns="0" rIns="0" bIns="0" rtlCol="0" anchor="t">
            <a:normAutofit/>
          </a:bodyPr>
          <a:lstStyle/>
          <a:p>
            <a:pPr marL="0" indent="0" algn="l">
              <a:lnSpc>
                <a:spcPts val="1200"/>
              </a:lnSpc>
              <a:buNone/>
            </a:pPr>
            <a:r>
              <a:rPr lang="en-US" sz="900" b="1" kern="0" spc="90" dirty="0">
                <a:solidFill>
                  <a:srgbClr val="9CA3AF"/>
                </a:solidFill>
                <a:latin typeface="MiSans Normal" pitchFamily="34" charset="0"/>
                <a:ea typeface="MiSans Normal" pitchFamily="34" charset="-122"/>
                <a:cs typeface="MiSans Normal" pitchFamily="34" charset="-120"/>
              </a:rPr>
              <a:t>INSTRUMEN HUKUM OPERASIONAL</a:t>
            </a:r>
            <a:endParaRPr lang="en-US" sz="900" dirty="0"/>
          </a:p>
        </p:txBody>
      </p:sp>
      <p:sp>
        <p:nvSpPr>
          <p:cNvPr id="17" name="Text 11"/>
          <p:cNvSpPr/>
          <p:nvPr/>
        </p:nvSpPr>
        <p:spPr>
          <a:xfrm>
            <a:off x="3286125" y="4819650"/>
            <a:ext cx="7863840" cy="438912"/>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Penerapan NDA wajib dilakukan untuk mengikat staf dan mitra bisnis. Hal ini memastikan kewajiban hukum untuk menjaga kerahasiaan data perusahaan dan mencegah penyebaran informasi secara ilegal.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5715000" y="609600"/>
            <a:ext cx="762000" cy="38100"/>
          </a:xfrm>
          <a:prstGeom prst="roundRect">
            <a:avLst>
              <a:gd name="adj" fmla="val 50000"/>
            </a:avLst>
          </a:prstGeom>
          <a:solidFill>
            <a:srgbClr val="6A44F2"/>
          </a:solidFill>
          <a:ln/>
        </p:spPr>
        <p:txBody>
          <a:bodyPr wrap="square" rtlCol="0" anchor="ctr"/>
          <a:lstStyle/>
          <a:p>
            <a:pPr marL="0" indent="0">
              <a:buNone/>
            </a:pPr>
            <a:endParaRPr lang="en-US" dirty="0"/>
          </a:p>
        </p:txBody>
      </p:sp>
      <p:sp>
        <p:nvSpPr>
          <p:cNvPr id="6" name="Text 2"/>
          <p:cNvSpPr/>
          <p:nvPr/>
        </p:nvSpPr>
        <p:spPr>
          <a:xfrm>
            <a:off x="3194475" y="875333"/>
            <a:ext cx="5952744" cy="640080"/>
          </a:xfrm>
          <a:prstGeom prst="rect">
            <a:avLst/>
          </a:prstGeom>
          <a:noFill/>
          <a:ln/>
        </p:spPr>
        <p:txBody>
          <a:bodyPr vert="horz" wrap="none" lIns="0" tIns="0" rIns="0" bIns="0" rtlCol="0" anchor="t">
            <a:normAutofit/>
          </a:bodyPr>
          <a:lstStyle/>
          <a:p>
            <a:pPr marL="0" indent="0" algn="ctr">
              <a:lnSpc>
                <a:spcPts val="4560"/>
              </a:lnSpc>
              <a:buNone/>
            </a:pPr>
            <a:r>
              <a:rPr lang="en-US" sz="4560" b="1" dirty="0">
                <a:solidFill>
                  <a:srgbClr val="FFFFFF"/>
                </a:solidFill>
                <a:latin typeface="Bebas Neue" pitchFamily="34" charset="0"/>
                <a:ea typeface="Bebas Neue" pitchFamily="34" charset="-122"/>
                <a:cs typeface="Bebas Neue" pitchFamily="34" charset="-120"/>
              </a:rPr>
              <a:t>SENGKETA </a:t>
            </a:r>
            <a:r>
              <a:rPr lang="en-US" sz="4560" b="1" dirty="0">
                <a:solidFill>
                  <a:srgbClr val="3D68FF"/>
                </a:solidFill>
                <a:latin typeface="Bebas Neue" pitchFamily="34" charset="0"/>
                <a:ea typeface="Bebas Neue" pitchFamily="34" charset="-122"/>
                <a:cs typeface="Bebas Neue" pitchFamily="34" charset="-120"/>
              </a:rPr>
              <a:t>MEREK MARKETPLACE</a:t>
            </a:r>
            <a:endParaRPr lang="en-US" sz="4560" dirty="0"/>
          </a:p>
        </p:txBody>
      </p:sp>
      <p:sp>
        <p:nvSpPr>
          <p:cNvPr id="7" name="Text 3"/>
          <p:cNvSpPr/>
          <p:nvPr/>
        </p:nvSpPr>
        <p:spPr>
          <a:xfrm>
            <a:off x="3200287" y="1609651"/>
            <a:ext cx="5833872" cy="283464"/>
          </a:xfrm>
          <a:prstGeom prst="rect">
            <a:avLst/>
          </a:prstGeom>
          <a:noFill/>
          <a:ln/>
        </p:spPr>
        <p:txBody>
          <a:bodyPr vert="horz" wrap="none" lIns="0" tIns="0" rIns="0" bIns="0" rtlCol="0" anchor="t">
            <a:normAutofit/>
          </a:bodyPr>
          <a:lstStyle/>
          <a:p>
            <a:pPr marL="0" indent="0" algn="ctr">
              <a:lnSpc>
                <a:spcPts val="1980"/>
              </a:lnSpc>
              <a:buNone/>
            </a:pPr>
            <a:r>
              <a:rPr lang="en-US" sz="1320" kern="0" spc="390" dirty="0">
                <a:solidFill>
                  <a:srgbClr val="9CA3AF"/>
                </a:solidFill>
                <a:latin typeface="Poppins" pitchFamily="34" charset="0"/>
                <a:ea typeface="Poppins" pitchFamily="34" charset="-122"/>
                <a:cs typeface="Poppins" pitchFamily="34" charset="-120"/>
              </a:rPr>
              <a:t>ANALISIS PELANGGARAN HAKI DI E-COMMERCE</a:t>
            </a:r>
            <a:endParaRPr lang="en-US" sz="1320" dirty="0"/>
          </a:p>
        </p:txBody>
      </p:sp>
      <p:sp>
        <p:nvSpPr>
          <p:cNvPr id="8" name="Text 4"/>
          <p:cNvSpPr/>
          <p:nvPr/>
        </p:nvSpPr>
        <p:spPr>
          <a:xfrm>
            <a:off x="1828800" y="2237780"/>
            <a:ext cx="8586216" cy="566928"/>
          </a:xfrm>
          <a:prstGeom prst="rect">
            <a:avLst/>
          </a:prstGeom>
          <a:noFill/>
          <a:ln/>
        </p:spPr>
        <p:txBody>
          <a:bodyPr vert="horz" wrap="square" lIns="381000" tIns="0" rIns="381000" bIns="0" rtlCol="0" anchor="t"/>
          <a:lstStyle/>
          <a:p>
            <a:pPr marL="0" indent="0" algn="ctr">
              <a:lnSpc>
                <a:spcPts val="2194"/>
              </a:lnSpc>
              <a:buNone/>
            </a:pPr>
            <a:r>
              <a:rPr lang="en-US" sz="1350" i="1" dirty="0">
                <a:solidFill>
                  <a:srgbClr val="9CA3AF"/>
                </a:solidFill>
                <a:latin typeface="Poppins" pitchFamily="34" charset="0"/>
                <a:ea typeface="Poppins" pitchFamily="34" charset="-122"/>
                <a:cs typeface="Poppins" pitchFamily="34" charset="-120"/>
              </a:rPr>
              <a:t>"Analisis konflik peniruan brand di e-commerce menunjukkan penguatan pelindungan bagi UMKM terhadap pelanggaran kekayaan intelektual secara digital."</a:t>
            </a:r>
            <a:endParaRPr lang="en-US" sz="1350" dirty="0"/>
          </a:p>
        </p:txBody>
      </p:sp>
      <p:sp>
        <p:nvSpPr>
          <p:cNvPr id="9" name="Text 5"/>
          <p:cNvSpPr/>
          <p:nvPr/>
        </p:nvSpPr>
        <p:spPr>
          <a:xfrm>
            <a:off x="762000" y="3254573"/>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0" name="Text 6"/>
          <p:cNvSpPr/>
          <p:nvPr/>
        </p:nvSpPr>
        <p:spPr>
          <a:xfrm>
            <a:off x="1076325" y="3568898"/>
            <a:ext cx="872579" cy="266700"/>
          </a:xfrm>
          <a:prstGeom prst="roundRect">
            <a:avLst>
              <a:gd name="adj" fmla="val 100000"/>
            </a:avLst>
          </a:prstGeom>
          <a:noFill/>
          <a:ln w="9525">
            <a:solidFill>
              <a:srgbClr val="6A44F2"/>
            </a:solidFill>
          </a:ln>
        </p:spPr>
        <p:txBody>
          <a:bodyPr wrap="square" rtlCol="0" anchor="ctr"/>
          <a:lstStyle/>
          <a:p>
            <a:pPr marL="0" indent="0">
              <a:buNone/>
            </a:pPr>
            <a:endParaRPr lang="en-US" dirty="0"/>
          </a:p>
        </p:txBody>
      </p:sp>
      <p:sp>
        <p:nvSpPr>
          <p:cNvPr id="11" name="Text 7"/>
          <p:cNvSpPr/>
          <p:nvPr/>
        </p:nvSpPr>
        <p:spPr>
          <a:xfrm>
            <a:off x="1074465" y="3568898"/>
            <a:ext cx="905256"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6A44F2"/>
                </a:solidFill>
                <a:latin typeface="Poppins" pitchFamily="34" charset="0"/>
                <a:ea typeface="Poppins" pitchFamily="34" charset="-122"/>
                <a:cs typeface="Poppins" pitchFamily="34" charset="-120"/>
              </a:rPr>
              <a:t>REGULASI</a:t>
            </a:r>
            <a:endParaRPr lang="en-US" sz="900" dirty="0"/>
          </a:p>
        </p:txBody>
      </p:sp>
      <p:pic>
        <p:nvPicPr>
          <p:cNvPr id="12" name="Image 2" descr="image.png"/>
          <p:cNvPicPr>
            <a:picLocks noChangeAspect="1"/>
          </p:cNvPicPr>
          <p:nvPr/>
        </p:nvPicPr>
        <p:blipFill>
          <a:blip r:embed="rId5"/>
          <a:srcRect/>
          <a:stretch/>
        </p:blipFill>
        <p:spPr>
          <a:xfrm>
            <a:off x="3609975" y="3568898"/>
            <a:ext cx="190500" cy="266700"/>
          </a:xfrm>
          <a:prstGeom prst="rect">
            <a:avLst/>
          </a:prstGeom>
        </p:spPr>
      </p:pic>
      <p:sp>
        <p:nvSpPr>
          <p:cNvPr id="13" name="Text 8"/>
          <p:cNvSpPr/>
          <p:nvPr/>
        </p:nvSpPr>
        <p:spPr>
          <a:xfrm>
            <a:off x="1076325" y="4064198"/>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PELINDUNGAN UMKM</a:t>
            </a:r>
            <a:endParaRPr lang="en-US" sz="1500" dirty="0"/>
          </a:p>
        </p:txBody>
      </p:sp>
      <p:sp>
        <p:nvSpPr>
          <p:cNvPr id="14" name="Text 9"/>
          <p:cNvSpPr/>
          <p:nvPr/>
        </p:nvSpPr>
        <p:spPr>
          <a:xfrm>
            <a:off x="1076325" y="4445198"/>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Penguatan regulasi pasar digital guna melindungi pelaku usaha kecil dari praktik peniruan identitas brand yang merugikan ekosistem.</a:t>
            </a:r>
            <a:endParaRPr lang="en-US" sz="1050" dirty="0"/>
          </a:p>
        </p:txBody>
      </p:sp>
      <p:sp>
        <p:nvSpPr>
          <p:cNvPr id="15" name="Text 10"/>
          <p:cNvSpPr/>
          <p:nvPr/>
        </p:nvSpPr>
        <p:spPr>
          <a:xfrm>
            <a:off x="4419600" y="3254573"/>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16" name="Text 11"/>
          <p:cNvSpPr/>
          <p:nvPr/>
        </p:nvSpPr>
        <p:spPr>
          <a:xfrm>
            <a:off x="4733925" y="3568898"/>
            <a:ext cx="716310" cy="266700"/>
          </a:xfrm>
          <a:prstGeom prst="roundRect">
            <a:avLst>
              <a:gd name="adj" fmla="val 100000"/>
            </a:avLst>
          </a:prstGeom>
          <a:noFill/>
          <a:ln w="9525">
            <a:solidFill>
              <a:srgbClr val="3D68FF"/>
            </a:solidFill>
          </a:ln>
        </p:spPr>
        <p:txBody>
          <a:bodyPr wrap="square" rtlCol="0" anchor="ctr"/>
          <a:lstStyle/>
          <a:p>
            <a:pPr marL="0" indent="0">
              <a:buNone/>
            </a:pPr>
            <a:endParaRPr lang="en-US" dirty="0"/>
          </a:p>
        </p:txBody>
      </p:sp>
      <p:sp>
        <p:nvSpPr>
          <p:cNvPr id="17" name="Text 12"/>
          <p:cNvSpPr/>
          <p:nvPr/>
        </p:nvSpPr>
        <p:spPr>
          <a:xfrm>
            <a:off x="4734892" y="3568898"/>
            <a:ext cx="749808"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3D68FF"/>
                </a:solidFill>
                <a:latin typeface="Poppins" pitchFamily="34" charset="0"/>
                <a:ea typeface="Poppins" pitchFamily="34" charset="-122"/>
                <a:cs typeface="Poppins" pitchFamily="34" charset="-120"/>
              </a:rPr>
              <a:t>SANKSI</a:t>
            </a:r>
            <a:endParaRPr lang="en-US" sz="900" dirty="0"/>
          </a:p>
        </p:txBody>
      </p:sp>
      <p:pic>
        <p:nvPicPr>
          <p:cNvPr id="18" name="Image 3" descr="image.png"/>
          <p:cNvPicPr>
            <a:picLocks noChangeAspect="1"/>
          </p:cNvPicPr>
          <p:nvPr/>
        </p:nvPicPr>
        <p:blipFill>
          <a:blip r:embed="rId6"/>
          <a:srcRect/>
          <a:stretch/>
        </p:blipFill>
        <p:spPr>
          <a:xfrm>
            <a:off x="7267575" y="3568898"/>
            <a:ext cx="190500" cy="266700"/>
          </a:xfrm>
          <a:prstGeom prst="rect">
            <a:avLst/>
          </a:prstGeom>
        </p:spPr>
      </p:pic>
      <p:sp>
        <p:nvSpPr>
          <p:cNvPr id="19" name="Text 13"/>
          <p:cNvSpPr/>
          <p:nvPr/>
        </p:nvSpPr>
        <p:spPr>
          <a:xfrm>
            <a:off x="4733925" y="4064198"/>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KONSEKUENSI HUKUM</a:t>
            </a:r>
            <a:endParaRPr lang="en-US" sz="1500" dirty="0"/>
          </a:p>
        </p:txBody>
      </p:sp>
      <p:sp>
        <p:nvSpPr>
          <p:cNvPr id="20" name="Text 14"/>
          <p:cNvSpPr/>
          <p:nvPr/>
        </p:nvSpPr>
        <p:spPr>
          <a:xfrm>
            <a:off x="4733925" y="4445198"/>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Penggunaan merek tanpa izin berdampak pada sanksi hukum serius seiring pengetatan pengawasan transaksi elektronik oleh pemerintah.</a:t>
            </a:r>
            <a:endParaRPr lang="en-US" sz="1050" dirty="0"/>
          </a:p>
        </p:txBody>
      </p:sp>
      <p:sp>
        <p:nvSpPr>
          <p:cNvPr id="21" name="Text 15"/>
          <p:cNvSpPr/>
          <p:nvPr/>
        </p:nvSpPr>
        <p:spPr>
          <a:xfrm>
            <a:off x="8077200" y="3254573"/>
            <a:ext cx="3352800" cy="2371725"/>
          </a:xfrm>
          <a:prstGeom prst="roundRect">
            <a:avLst>
              <a:gd name="adj" fmla="val 8032"/>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22" name="Text 16"/>
          <p:cNvSpPr/>
          <p:nvPr/>
        </p:nvSpPr>
        <p:spPr>
          <a:xfrm>
            <a:off x="8391525" y="3568898"/>
            <a:ext cx="863054" cy="266700"/>
          </a:xfrm>
          <a:prstGeom prst="roundRect">
            <a:avLst>
              <a:gd name="adj" fmla="val 100000"/>
            </a:avLst>
          </a:prstGeom>
          <a:noFill/>
          <a:ln w="9525">
            <a:solidFill>
              <a:srgbClr val="FFFFFF">
                <a:alpha val="20000"/>
              </a:srgbClr>
            </a:solidFill>
          </a:ln>
        </p:spPr>
        <p:txBody>
          <a:bodyPr wrap="square" rtlCol="0" anchor="ctr"/>
          <a:lstStyle/>
          <a:p>
            <a:pPr marL="0" indent="0">
              <a:buNone/>
            </a:pPr>
            <a:endParaRPr lang="en-US" dirty="0"/>
          </a:p>
        </p:txBody>
      </p:sp>
      <p:sp>
        <p:nvSpPr>
          <p:cNvPr id="23" name="Text 17"/>
          <p:cNvSpPr/>
          <p:nvPr/>
        </p:nvSpPr>
        <p:spPr>
          <a:xfrm>
            <a:off x="8389665" y="3568898"/>
            <a:ext cx="896112" cy="274320"/>
          </a:xfrm>
          <a:prstGeom prst="rect">
            <a:avLst/>
          </a:prstGeom>
          <a:noFill/>
          <a:ln/>
        </p:spPr>
        <p:txBody>
          <a:bodyPr vert="horz" wrap="square" lIns="114300" tIns="38100" rIns="114300" bIns="38100" rtlCol="0" anchor="t"/>
          <a:lstStyle/>
          <a:p>
            <a:pPr marL="0" indent="0" algn="l">
              <a:lnSpc>
                <a:spcPts val="1350"/>
              </a:lnSpc>
              <a:buNone/>
            </a:pPr>
            <a:r>
              <a:rPr lang="en-US" sz="900" kern="0" spc="90" dirty="0">
                <a:solidFill>
                  <a:srgbClr val="FFFFFF"/>
                </a:solidFill>
                <a:latin typeface="Poppins" pitchFamily="34" charset="0"/>
                <a:ea typeface="Poppins" pitchFamily="34" charset="-122"/>
                <a:cs typeface="Poppins" pitchFamily="34" charset="-120"/>
              </a:rPr>
              <a:t>RESOLUSI</a:t>
            </a:r>
            <a:endParaRPr lang="en-US" sz="900" dirty="0"/>
          </a:p>
        </p:txBody>
      </p:sp>
      <p:pic>
        <p:nvPicPr>
          <p:cNvPr id="24" name="Image 4" descr="image.png"/>
          <p:cNvPicPr>
            <a:picLocks noChangeAspect="1"/>
          </p:cNvPicPr>
          <p:nvPr/>
        </p:nvPicPr>
        <p:blipFill>
          <a:blip r:embed="rId7"/>
          <a:srcRect/>
          <a:stretch/>
        </p:blipFill>
        <p:spPr>
          <a:xfrm>
            <a:off x="10877550" y="3568898"/>
            <a:ext cx="238125" cy="266700"/>
          </a:xfrm>
          <a:prstGeom prst="rect">
            <a:avLst/>
          </a:prstGeom>
        </p:spPr>
      </p:pic>
      <p:sp>
        <p:nvSpPr>
          <p:cNvPr id="25" name="Text 18"/>
          <p:cNvSpPr/>
          <p:nvPr/>
        </p:nvSpPr>
        <p:spPr>
          <a:xfrm>
            <a:off x="8391525" y="4064198"/>
            <a:ext cx="2834640" cy="301752"/>
          </a:xfrm>
          <a:prstGeom prst="rect">
            <a:avLst/>
          </a:prstGeom>
          <a:noFill/>
          <a:ln/>
        </p:spPr>
        <p:txBody>
          <a:bodyPr vert="horz" wrap="none" lIns="0" tIns="0" rIns="0" bIns="0" rtlCol="0" anchor="t">
            <a:normAutofit/>
          </a:bodyPr>
          <a:lstStyle/>
          <a:p>
            <a:pPr marL="0" indent="0" algn="l">
              <a:lnSpc>
                <a:spcPts val="2100"/>
              </a:lnSpc>
              <a:buNone/>
            </a:pPr>
            <a:r>
              <a:rPr lang="en-US" sz="1500" b="1" dirty="0">
                <a:solidFill>
                  <a:srgbClr val="FFFFFF"/>
                </a:solidFill>
                <a:latin typeface="Bebas Neue" pitchFamily="34" charset="0"/>
                <a:ea typeface="Bebas Neue" pitchFamily="34" charset="-122"/>
                <a:cs typeface="Bebas Neue" pitchFamily="34" charset="-120"/>
              </a:rPr>
              <a:t>JALUR SENGKETA</a:t>
            </a:r>
            <a:endParaRPr lang="en-US" sz="1500" dirty="0"/>
          </a:p>
        </p:txBody>
      </p:sp>
      <p:sp>
        <p:nvSpPr>
          <p:cNvPr id="26" name="Text 19"/>
          <p:cNvSpPr/>
          <p:nvPr/>
        </p:nvSpPr>
        <p:spPr>
          <a:xfrm>
            <a:off x="8391525" y="4445198"/>
            <a:ext cx="2761488"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Penyelesaian melalui litigasi (gugatan) atau non-litigasi seperti mediasi dan fitur pelindungan HAKI pada platform marketplace.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5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50000"/>
          </a:blip>
          <a:srcRect/>
          <a:stretch/>
        </p:blipFill>
        <p:spPr>
          <a:xfrm>
            <a:off x="7905750" y="3048000"/>
            <a:ext cx="4762500" cy="4762500"/>
          </a:xfrm>
          <a:prstGeom prst="rect">
            <a:avLst/>
          </a:prstGeom>
        </p:spPr>
      </p:pic>
      <p:sp>
        <p:nvSpPr>
          <p:cNvPr id="5" name="Text 1"/>
          <p:cNvSpPr/>
          <p:nvPr/>
        </p:nvSpPr>
        <p:spPr>
          <a:xfrm>
            <a:off x="5791200" y="609600"/>
            <a:ext cx="609600" cy="57150"/>
          </a:xfrm>
          <a:prstGeom prst="rect">
            <a:avLst/>
          </a:prstGeom>
          <a:solidFill>
            <a:srgbClr val="6A44F2"/>
          </a:solidFill>
          <a:ln/>
        </p:spPr>
        <p:txBody>
          <a:bodyPr wrap="square" rtlCol="0" anchor="ctr"/>
          <a:lstStyle/>
          <a:p>
            <a:pPr marL="0" indent="0">
              <a:buNone/>
            </a:pPr>
            <a:endParaRPr lang="en-US" dirty="0"/>
          </a:p>
        </p:txBody>
      </p:sp>
      <p:sp>
        <p:nvSpPr>
          <p:cNvPr id="6" name="Text 2"/>
          <p:cNvSpPr/>
          <p:nvPr/>
        </p:nvSpPr>
        <p:spPr>
          <a:xfrm>
            <a:off x="653891" y="895350"/>
            <a:ext cx="11027664" cy="630936"/>
          </a:xfrm>
          <a:prstGeom prst="rect">
            <a:avLst/>
          </a:prstGeom>
          <a:noFill/>
          <a:ln/>
        </p:spPr>
        <p:txBody>
          <a:bodyPr vert="horz" wrap="none" lIns="0" tIns="0" rIns="0" bIns="0" rtlCol="0" anchor="t">
            <a:normAutofit/>
          </a:bodyPr>
          <a:lstStyle/>
          <a:p>
            <a:pPr marL="0" indent="0" algn="ctr">
              <a:lnSpc>
                <a:spcPts val="4500"/>
              </a:lnSpc>
              <a:buNone/>
            </a:pPr>
            <a:r>
              <a:rPr lang="en-US" sz="4500" kern="0" spc="-230" dirty="0">
                <a:solidFill>
                  <a:srgbClr val="FFFFFF"/>
                </a:solidFill>
                <a:latin typeface="Bebas Neue" pitchFamily="34" charset="0"/>
                <a:ea typeface="Bebas Neue" pitchFamily="34" charset="-122"/>
                <a:cs typeface="Bebas Neue" pitchFamily="34" charset="-120"/>
              </a:rPr>
              <a:t>STRATEGI MITIGASI </a:t>
            </a:r>
            <a:r>
              <a:rPr lang="en-US" sz="4500" kern="0" spc="-230" dirty="0">
                <a:solidFill>
                  <a:srgbClr val="6A44F2"/>
                </a:solidFill>
                <a:latin typeface="Bebas Neue" pitchFamily="34" charset="0"/>
                <a:ea typeface="Bebas Neue" pitchFamily="34" charset="-122"/>
                <a:cs typeface="Bebas Neue" pitchFamily="34" charset="-120"/>
              </a:rPr>
              <a:t>RISIKO HAKI</a:t>
            </a:r>
            <a:endParaRPr lang="en-US" sz="4500" dirty="0"/>
          </a:p>
        </p:txBody>
      </p:sp>
      <p:sp>
        <p:nvSpPr>
          <p:cNvPr id="7" name="Text 3"/>
          <p:cNvSpPr/>
          <p:nvPr/>
        </p:nvSpPr>
        <p:spPr>
          <a:xfrm>
            <a:off x="655082" y="1619250"/>
            <a:ext cx="10908792" cy="173736"/>
          </a:xfrm>
          <a:prstGeom prst="rect">
            <a:avLst/>
          </a:prstGeom>
          <a:noFill/>
          <a:ln/>
        </p:spPr>
        <p:txBody>
          <a:bodyPr vert="horz" wrap="none" lIns="0" tIns="0" rIns="0" bIns="0" rtlCol="0" anchor="t">
            <a:normAutofit/>
          </a:bodyPr>
          <a:lstStyle/>
          <a:p>
            <a:pPr marL="0" indent="0" algn="ctr">
              <a:lnSpc>
                <a:spcPts val="1125"/>
              </a:lnSpc>
              <a:buNone/>
            </a:pPr>
            <a:r>
              <a:rPr lang="en-US" sz="750" kern="0" spc="370" dirty="0">
                <a:solidFill>
                  <a:srgbClr val="9CA3AF"/>
                </a:solidFill>
                <a:latin typeface="Poppins" pitchFamily="34" charset="0"/>
                <a:ea typeface="Poppins" pitchFamily="34" charset="-122"/>
                <a:cs typeface="Poppins" pitchFamily="34" charset="-120"/>
              </a:rPr>
              <a:t>PENGANTAR HUKUM KEKAYAAN INTELEKTUAL DAN BISNIS DIGITAL // V.01</a:t>
            </a:r>
            <a:endParaRPr lang="en-US" sz="750" dirty="0"/>
          </a:p>
        </p:txBody>
      </p:sp>
      <p:sp>
        <p:nvSpPr>
          <p:cNvPr id="8" name="Text 4"/>
          <p:cNvSpPr/>
          <p:nvPr/>
        </p:nvSpPr>
        <p:spPr>
          <a:xfrm>
            <a:off x="762000" y="2371725"/>
            <a:ext cx="3352800" cy="3619500"/>
          </a:xfrm>
          <a:prstGeom prst="roundRect">
            <a:avLst>
              <a:gd name="adj" fmla="val 340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sp>
        <p:nvSpPr>
          <p:cNvPr id="9" name="Text 5"/>
          <p:cNvSpPr/>
          <p:nvPr/>
        </p:nvSpPr>
        <p:spPr>
          <a:xfrm>
            <a:off x="3391793" y="2533650"/>
            <a:ext cx="676656" cy="758952"/>
          </a:xfrm>
          <a:prstGeom prst="rect">
            <a:avLst/>
          </a:prstGeom>
          <a:noFill/>
          <a:ln/>
        </p:spPr>
        <p:txBody>
          <a:bodyPr vert="horz" wrap="none" lIns="0" tIns="0" rIns="0" bIns="0" rtlCol="0" anchor="t">
            <a:normAutofit/>
          </a:bodyPr>
          <a:lstStyle/>
          <a:p>
            <a:pPr marL="0" indent="0" algn="l">
              <a:lnSpc>
                <a:spcPts val="5400"/>
              </a:lnSpc>
              <a:buNone/>
            </a:pPr>
            <a:r>
              <a:rPr lang="en-US" sz="5400" b="1" kern="0" spc="-270" dirty="0">
                <a:solidFill>
                  <a:srgbClr val="FFFFFF">
                    <a:alpha val="33500"/>
                  </a:srgbClr>
                </a:solidFill>
                <a:latin typeface="Bebas Neue" pitchFamily="34" charset="0"/>
                <a:ea typeface="Bebas Neue" pitchFamily="34" charset="-122"/>
                <a:cs typeface="Bebas Neue" pitchFamily="34" charset="-120"/>
              </a:rPr>
              <a:t>01</a:t>
            </a:r>
            <a:endParaRPr lang="en-US" sz="5400" dirty="0"/>
          </a:p>
        </p:txBody>
      </p:sp>
      <p:sp>
        <p:nvSpPr>
          <p:cNvPr id="10" name="Text 6"/>
          <p:cNvSpPr/>
          <p:nvPr/>
        </p:nvSpPr>
        <p:spPr>
          <a:xfrm>
            <a:off x="1152525" y="3076575"/>
            <a:ext cx="609600" cy="609600"/>
          </a:xfrm>
          <a:prstGeom prst="roundRect">
            <a:avLst>
              <a:gd name="adj" fmla="val 18750"/>
            </a:avLst>
          </a:prstGeom>
          <a:solidFill>
            <a:srgbClr val="FFFFFF">
              <a:alpha val="5000"/>
            </a:srgbClr>
          </a:solidFill>
          <a:ln w="9525">
            <a:solidFill>
              <a:srgbClr val="FFFFFF">
                <a:alpha val="10000"/>
              </a:srgbClr>
            </a:solidFill>
          </a:ln>
        </p:spPr>
        <p:txBody>
          <a:bodyPr wrap="square" rtlCol="0" anchor="ctr"/>
          <a:lstStyle/>
          <a:p>
            <a:pPr marL="0" indent="0">
              <a:buNone/>
            </a:pPr>
            <a:endParaRPr lang="en-US" dirty="0"/>
          </a:p>
        </p:txBody>
      </p:sp>
      <p:pic>
        <p:nvPicPr>
          <p:cNvPr id="11" name="Image 2" descr="image.png"/>
          <p:cNvPicPr>
            <a:picLocks noChangeAspect="1"/>
          </p:cNvPicPr>
          <p:nvPr/>
        </p:nvPicPr>
        <p:blipFill>
          <a:blip r:embed="rId5"/>
          <a:srcRect/>
          <a:stretch/>
        </p:blipFill>
        <p:spPr>
          <a:xfrm>
            <a:off x="1347788" y="3209925"/>
            <a:ext cx="219075" cy="342900"/>
          </a:xfrm>
          <a:prstGeom prst="rect">
            <a:avLst/>
          </a:prstGeom>
        </p:spPr>
      </p:pic>
      <p:sp>
        <p:nvSpPr>
          <p:cNvPr id="12" name="Shape 7"/>
          <p:cNvSpPr/>
          <p:nvPr/>
        </p:nvSpPr>
        <p:spPr>
          <a:xfrm>
            <a:off x="1152525" y="4262438"/>
            <a:ext cx="2571750" cy="0"/>
          </a:xfrm>
          <a:prstGeom prst="line">
            <a:avLst/>
          </a:prstGeom>
          <a:noFill/>
          <a:ln w="9525">
            <a:solidFill>
              <a:srgbClr val="FFFFFF">
                <a:alpha val="10000"/>
              </a:srgbClr>
            </a:solidFill>
            <a:prstDash val="solid"/>
          </a:ln>
        </p:spPr>
      </p:sp>
      <p:sp>
        <p:nvSpPr>
          <p:cNvPr id="13" name="Text 8"/>
          <p:cNvSpPr/>
          <p:nvPr/>
        </p:nvSpPr>
        <p:spPr>
          <a:xfrm>
            <a:off x="1152525" y="3914775"/>
            <a:ext cx="2679192" cy="301752"/>
          </a:xfrm>
          <a:prstGeom prst="rect">
            <a:avLst/>
          </a:prstGeom>
          <a:noFill/>
          <a:ln/>
        </p:spPr>
        <p:txBody>
          <a:bodyPr vert="horz" wrap="none" lIns="0" tIns="0" rIns="0" bIns="0" rtlCol="0" anchor="t">
            <a:normAutofit/>
          </a:bodyPr>
          <a:lstStyle/>
          <a:p>
            <a:pPr marL="0" indent="0" algn="l">
              <a:lnSpc>
                <a:spcPts val="2100"/>
              </a:lnSpc>
              <a:buNone/>
            </a:pPr>
            <a:r>
              <a:rPr lang="en-US" sz="1500" i="1" kern="0" spc="150" dirty="0">
                <a:solidFill>
                  <a:srgbClr val="FFFFFF"/>
                </a:solidFill>
                <a:latin typeface="Bebas Neue" pitchFamily="34" charset="0"/>
                <a:ea typeface="Bebas Neue" pitchFamily="34" charset="-122"/>
                <a:cs typeface="Bebas Neue" pitchFamily="34" charset="-120"/>
              </a:rPr>
              <a:t>AUDIT INTERNAL</a:t>
            </a:r>
            <a:endParaRPr lang="en-US" sz="1500" dirty="0"/>
          </a:p>
        </p:txBody>
      </p:sp>
      <p:sp>
        <p:nvSpPr>
          <p:cNvPr id="14" name="Text 9"/>
          <p:cNvSpPr/>
          <p:nvPr/>
        </p:nvSpPr>
        <p:spPr>
          <a:xfrm>
            <a:off x="1152525" y="4419600"/>
            <a:ext cx="2606040" cy="868680"/>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Melakukan audit internal secara rutin terhadap aset intelektual perusahaan untuk memastikan semua hak terlindungi sepenuhnya.</a:t>
            </a:r>
            <a:endParaRPr lang="en-US" sz="1050" dirty="0"/>
          </a:p>
        </p:txBody>
      </p:sp>
      <p:sp>
        <p:nvSpPr>
          <p:cNvPr id="15" name="Text 10"/>
          <p:cNvSpPr/>
          <p:nvPr/>
        </p:nvSpPr>
        <p:spPr>
          <a:xfrm>
            <a:off x="4419600" y="2371725"/>
            <a:ext cx="3352800" cy="3619500"/>
          </a:xfrm>
          <a:prstGeom prst="roundRect">
            <a:avLst>
              <a:gd name="adj" fmla="val 3409"/>
            </a:avLst>
          </a:prstGeom>
          <a:solidFill>
            <a:srgbClr val="FFFFFF">
              <a:alpha val="2000"/>
            </a:srgbClr>
          </a:solidFill>
          <a:ln w="9525">
            <a:solidFill>
              <a:srgbClr val="3D68FF">
                <a:alpha val="30000"/>
              </a:srgbClr>
            </a:solidFill>
          </a:ln>
        </p:spPr>
        <p:txBody>
          <a:bodyPr wrap="square" rtlCol="0" anchor="ctr"/>
          <a:lstStyle/>
          <a:p>
            <a:pPr marL="0" indent="0">
              <a:buNone/>
            </a:pPr>
            <a:endParaRPr lang="en-US" dirty="0"/>
          </a:p>
        </p:txBody>
      </p:sp>
      <p:pic>
        <p:nvPicPr>
          <p:cNvPr id="16" name="Image 3" descr="image.png"/>
          <p:cNvPicPr>
            <a:picLocks noChangeAspect="1"/>
          </p:cNvPicPr>
          <p:nvPr/>
        </p:nvPicPr>
        <p:blipFill>
          <a:blip r:embed="rId6"/>
          <a:srcRect r="38272"/>
          <a:stretch/>
        </p:blipFill>
        <p:spPr>
          <a:xfrm>
            <a:off x="4429125" y="2381250"/>
            <a:ext cx="3333750" cy="3600450"/>
          </a:xfrm>
          <a:prstGeom prst="rect">
            <a:avLst/>
          </a:prstGeom>
        </p:spPr>
      </p:pic>
      <p:sp>
        <p:nvSpPr>
          <p:cNvPr id="17" name="Text 11"/>
          <p:cNvSpPr/>
          <p:nvPr/>
        </p:nvSpPr>
        <p:spPr>
          <a:xfrm>
            <a:off x="4837605" y="5600700"/>
            <a:ext cx="2542032" cy="137160"/>
          </a:xfrm>
          <a:prstGeom prst="rect">
            <a:avLst/>
          </a:prstGeom>
          <a:noFill/>
          <a:ln/>
        </p:spPr>
        <p:txBody>
          <a:bodyPr vert="horz" wrap="none" lIns="0" tIns="0" rIns="0" bIns="0" rtlCol="0" anchor="t">
            <a:normAutofit/>
          </a:bodyPr>
          <a:lstStyle/>
          <a:p>
            <a:pPr marL="0" indent="0" algn="ctr">
              <a:lnSpc>
                <a:spcPts val="1125"/>
              </a:lnSpc>
              <a:buNone/>
            </a:pPr>
            <a:r>
              <a:rPr lang="en-US" sz="750" b="1" kern="0" spc="220" dirty="0">
                <a:solidFill>
                  <a:srgbClr val="FFFFFF">
                    <a:alpha val="40000"/>
                  </a:srgbClr>
                </a:solidFill>
                <a:latin typeface="MiSans Normal" pitchFamily="34" charset="0"/>
                <a:ea typeface="MiSans Normal" pitchFamily="34" charset="-122"/>
                <a:cs typeface="MiSans Normal" pitchFamily="34" charset="-120"/>
              </a:rPr>
              <a:t>PERLINDUNGAN BISNIS DIGITAL</a:t>
            </a:r>
            <a:endParaRPr lang="en-US" sz="750" dirty="0"/>
          </a:p>
        </p:txBody>
      </p:sp>
      <p:sp>
        <p:nvSpPr>
          <p:cNvPr id="18" name="Text 12"/>
          <p:cNvSpPr/>
          <p:nvPr/>
        </p:nvSpPr>
        <p:spPr>
          <a:xfrm>
            <a:off x="8077200" y="2371725"/>
            <a:ext cx="3352800" cy="3619500"/>
          </a:xfrm>
          <a:prstGeom prst="roundRect">
            <a:avLst>
              <a:gd name="adj" fmla="val 3409"/>
            </a:avLst>
          </a:prstGeom>
          <a:solidFill>
            <a:srgbClr val="FFFFFF">
              <a:alpha val="2000"/>
            </a:srgbClr>
          </a:solidFill>
          <a:ln/>
        </p:spPr>
        <p:txBody>
          <a:bodyPr wrap="square" rtlCol="0" anchor="ctr"/>
          <a:lstStyle/>
          <a:p>
            <a:pPr marL="0" indent="0">
              <a:buNone/>
            </a:pPr>
            <a:endParaRPr lang="en-US" dirty="0"/>
          </a:p>
        </p:txBody>
      </p:sp>
      <p:sp>
        <p:nvSpPr>
          <p:cNvPr id="19" name="Shape 13"/>
          <p:cNvSpPr/>
          <p:nvPr/>
        </p:nvSpPr>
        <p:spPr>
          <a:xfrm>
            <a:off x="8077200" y="2381250"/>
            <a:ext cx="3352800" cy="0"/>
          </a:xfrm>
          <a:prstGeom prst="line">
            <a:avLst/>
          </a:prstGeom>
          <a:noFill/>
          <a:ln w="19050">
            <a:solidFill>
              <a:srgbClr val="FFFFFF">
                <a:alpha val="30000"/>
              </a:srgbClr>
            </a:solidFill>
            <a:prstDash val="solid"/>
          </a:ln>
        </p:spPr>
      </p:sp>
      <p:sp>
        <p:nvSpPr>
          <p:cNvPr id="20" name="Shape 14"/>
          <p:cNvSpPr/>
          <p:nvPr/>
        </p:nvSpPr>
        <p:spPr>
          <a:xfrm>
            <a:off x="11430000" y="2371725"/>
            <a:ext cx="0" cy="3619500"/>
          </a:xfrm>
          <a:prstGeom prst="line">
            <a:avLst/>
          </a:prstGeom>
          <a:noFill/>
          <a:ln w="9525">
            <a:solidFill>
              <a:srgbClr val="FFFFFF">
                <a:alpha val="5000"/>
              </a:srgbClr>
            </a:solidFill>
            <a:prstDash val="solid"/>
          </a:ln>
        </p:spPr>
      </p:sp>
      <p:sp>
        <p:nvSpPr>
          <p:cNvPr id="21" name="Shape 15"/>
          <p:cNvSpPr/>
          <p:nvPr/>
        </p:nvSpPr>
        <p:spPr>
          <a:xfrm>
            <a:off x="8077200" y="5986463"/>
            <a:ext cx="3352800" cy="0"/>
          </a:xfrm>
          <a:prstGeom prst="line">
            <a:avLst/>
          </a:prstGeom>
          <a:noFill/>
          <a:ln w="9525">
            <a:solidFill>
              <a:srgbClr val="FFFFFF">
                <a:alpha val="5000"/>
              </a:srgbClr>
            </a:solidFill>
            <a:prstDash val="solid"/>
          </a:ln>
        </p:spPr>
      </p:sp>
      <p:sp>
        <p:nvSpPr>
          <p:cNvPr id="22" name="Shape 16"/>
          <p:cNvSpPr/>
          <p:nvPr/>
        </p:nvSpPr>
        <p:spPr>
          <a:xfrm>
            <a:off x="8077200" y="2371725"/>
            <a:ext cx="0" cy="3619500"/>
          </a:xfrm>
          <a:prstGeom prst="line">
            <a:avLst/>
          </a:prstGeom>
          <a:noFill/>
          <a:ln w="9525">
            <a:solidFill>
              <a:srgbClr val="FFFFFF">
                <a:alpha val="5000"/>
              </a:srgbClr>
            </a:solidFill>
            <a:prstDash val="solid"/>
          </a:ln>
        </p:spPr>
      </p:sp>
      <p:sp>
        <p:nvSpPr>
          <p:cNvPr id="23" name="Text 17"/>
          <p:cNvSpPr/>
          <p:nvPr/>
        </p:nvSpPr>
        <p:spPr>
          <a:xfrm>
            <a:off x="10706993" y="2543175"/>
            <a:ext cx="676656" cy="758952"/>
          </a:xfrm>
          <a:prstGeom prst="rect">
            <a:avLst/>
          </a:prstGeom>
          <a:noFill/>
          <a:ln/>
        </p:spPr>
        <p:txBody>
          <a:bodyPr vert="horz" wrap="none" lIns="0" tIns="0" rIns="0" bIns="0" rtlCol="0" anchor="t">
            <a:normAutofit/>
          </a:bodyPr>
          <a:lstStyle/>
          <a:p>
            <a:pPr marL="0" indent="0" algn="l">
              <a:lnSpc>
                <a:spcPts val="5400"/>
              </a:lnSpc>
              <a:buNone/>
            </a:pPr>
            <a:r>
              <a:rPr lang="en-US" sz="5400" b="1" kern="0" spc="-270" dirty="0">
                <a:solidFill>
                  <a:srgbClr val="FFFFFF">
                    <a:alpha val="33500"/>
                  </a:srgbClr>
                </a:solidFill>
                <a:latin typeface="Bebas Neue" pitchFamily="34" charset="0"/>
                <a:ea typeface="Bebas Neue" pitchFamily="34" charset="-122"/>
                <a:cs typeface="Bebas Neue" pitchFamily="34" charset="-120"/>
              </a:rPr>
              <a:t>02</a:t>
            </a:r>
            <a:endParaRPr lang="en-US" sz="5400" dirty="0"/>
          </a:p>
        </p:txBody>
      </p:sp>
      <p:sp>
        <p:nvSpPr>
          <p:cNvPr id="24" name="Text 18"/>
          <p:cNvSpPr/>
          <p:nvPr/>
        </p:nvSpPr>
        <p:spPr>
          <a:xfrm>
            <a:off x="8467725" y="2924175"/>
            <a:ext cx="609600" cy="609600"/>
          </a:xfrm>
          <a:prstGeom prst="roundRect">
            <a:avLst>
              <a:gd name="adj" fmla="val 18750"/>
            </a:avLst>
          </a:prstGeom>
          <a:solidFill>
            <a:srgbClr val="FFFFFF">
              <a:alpha val="5000"/>
            </a:srgbClr>
          </a:solidFill>
          <a:ln w="9525">
            <a:solidFill>
              <a:srgbClr val="FFFFFF">
                <a:alpha val="10000"/>
              </a:srgbClr>
            </a:solidFill>
          </a:ln>
        </p:spPr>
        <p:txBody>
          <a:bodyPr wrap="square" rtlCol="0" anchor="ctr"/>
          <a:lstStyle/>
          <a:p>
            <a:pPr marL="0" indent="0">
              <a:buNone/>
            </a:pPr>
            <a:endParaRPr lang="en-US" dirty="0"/>
          </a:p>
        </p:txBody>
      </p:sp>
      <p:pic>
        <p:nvPicPr>
          <p:cNvPr id="25" name="Image 4" descr="image.png"/>
          <p:cNvPicPr>
            <a:picLocks noChangeAspect="1"/>
          </p:cNvPicPr>
          <p:nvPr/>
        </p:nvPicPr>
        <p:blipFill>
          <a:blip r:embed="rId7"/>
          <a:srcRect/>
          <a:stretch/>
        </p:blipFill>
        <p:spPr>
          <a:xfrm>
            <a:off x="8629650" y="3057525"/>
            <a:ext cx="285750" cy="342900"/>
          </a:xfrm>
          <a:prstGeom prst="rect">
            <a:avLst/>
          </a:prstGeom>
        </p:spPr>
      </p:pic>
      <p:sp>
        <p:nvSpPr>
          <p:cNvPr id="26" name="Shape 19"/>
          <p:cNvSpPr/>
          <p:nvPr/>
        </p:nvSpPr>
        <p:spPr>
          <a:xfrm>
            <a:off x="8467725" y="4110038"/>
            <a:ext cx="2571750" cy="0"/>
          </a:xfrm>
          <a:prstGeom prst="line">
            <a:avLst/>
          </a:prstGeom>
          <a:noFill/>
          <a:ln w="9525">
            <a:solidFill>
              <a:srgbClr val="FFFFFF">
                <a:alpha val="10000"/>
              </a:srgbClr>
            </a:solidFill>
            <a:prstDash val="solid"/>
          </a:ln>
        </p:spPr>
      </p:sp>
      <p:sp>
        <p:nvSpPr>
          <p:cNvPr id="27" name="Text 20"/>
          <p:cNvSpPr/>
          <p:nvPr/>
        </p:nvSpPr>
        <p:spPr>
          <a:xfrm>
            <a:off x="8467725" y="3762375"/>
            <a:ext cx="2679192" cy="301752"/>
          </a:xfrm>
          <a:prstGeom prst="rect">
            <a:avLst/>
          </a:prstGeom>
          <a:noFill/>
          <a:ln/>
        </p:spPr>
        <p:txBody>
          <a:bodyPr vert="horz" wrap="none" lIns="0" tIns="0" rIns="0" bIns="0" rtlCol="0" anchor="t">
            <a:normAutofit/>
          </a:bodyPr>
          <a:lstStyle/>
          <a:p>
            <a:pPr marL="0" indent="0" algn="l">
              <a:lnSpc>
                <a:spcPts val="2100"/>
              </a:lnSpc>
              <a:buNone/>
            </a:pPr>
            <a:r>
              <a:rPr lang="en-US" sz="1500" i="1" kern="0" spc="150" dirty="0">
                <a:solidFill>
                  <a:srgbClr val="FFFFFF"/>
                </a:solidFill>
                <a:latin typeface="Bebas Neue" pitchFamily="34" charset="0"/>
                <a:ea typeface="Bebas Neue" pitchFamily="34" charset="-122"/>
                <a:cs typeface="Bebas Neue" pitchFamily="34" charset="-120"/>
              </a:rPr>
              <a:t>LANGKAH PREVENTIF</a:t>
            </a:r>
            <a:endParaRPr lang="en-US" sz="1500" dirty="0"/>
          </a:p>
        </p:txBody>
      </p:sp>
      <p:sp>
        <p:nvSpPr>
          <p:cNvPr id="28" name="Text 21"/>
          <p:cNvSpPr/>
          <p:nvPr/>
        </p:nvSpPr>
        <p:spPr>
          <a:xfrm>
            <a:off x="8467725" y="4264819"/>
            <a:ext cx="2606040" cy="566928"/>
          </a:xfrm>
          <a:prstGeom prst="rect">
            <a:avLst/>
          </a:prstGeom>
          <a:noFill/>
          <a:ln/>
        </p:spPr>
        <p:txBody>
          <a:bodyPr vert="horz" wrap="square" lIns="0" tIns="0" rIns="0" bIns="0" rtlCol="0" anchor="t"/>
          <a:lstStyle/>
          <a:p>
            <a:pPr marL="0" indent="0" algn="l">
              <a:lnSpc>
                <a:spcPts val="1463"/>
              </a:lnSpc>
              <a:buNone/>
            </a:pPr>
            <a:r>
              <a:rPr lang="en-US" sz="900" dirty="0">
                <a:solidFill>
                  <a:srgbClr val="9CA3AF"/>
                </a:solidFill>
                <a:latin typeface="Poppins" pitchFamily="34" charset="0"/>
                <a:ea typeface="Poppins" pitchFamily="34" charset="-122"/>
                <a:cs typeface="Poppins" pitchFamily="34" charset="-120"/>
              </a:rPr>
              <a:t>Pemantauan pasar berkala untuk deteksi pemalsuan dan langkah preventif sebelum peluncuran produk baru ke publik.</a:t>
            </a:r>
            <a:endParaRPr lang="en-US" sz="900" dirty="0"/>
          </a:p>
        </p:txBody>
      </p:sp>
      <p:sp>
        <p:nvSpPr>
          <p:cNvPr id="29" name="Text 22"/>
          <p:cNvSpPr/>
          <p:nvPr/>
        </p:nvSpPr>
        <p:spPr>
          <a:xfrm>
            <a:off x="8467725" y="4974431"/>
            <a:ext cx="2606040" cy="484632"/>
          </a:xfrm>
          <a:prstGeom prst="rect">
            <a:avLst/>
          </a:prstGeom>
          <a:noFill/>
          <a:ln/>
        </p:spPr>
        <p:txBody>
          <a:bodyPr vert="horz" wrap="square" lIns="0" tIns="0" rIns="0" bIns="0" rtlCol="0" anchor="t"/>
          <a:lstStyle/>
          <a:p>
            <a:pPr marL="0" indent="0" algn="l">
              <a:lnSpc>
                <a:spcPts val="1238"/>
              </a:lnSpc>
              <a:buNone/>
            </a:pPr>
            <a:r>
              <a:rPr lang="en-US" sz="825" b="1" dirty="0">
                <a:solidFill>
                  <a:srgbClr val="3D68FF"/>
                </a:solidFill>
                <a:latin typeface="Poppins" pitchFamily="34" charset="0"/>
                <a:ea typeface="Poppins" pitchFamily="34" charset="-122"/>
                <a:cs typeface="Poppins" pitchFamily="34" charset="-120"/>
              </a:rPr>
              <a:t>Manfaatkan kemudahan pendaftaran merek DJKI khusus UMKM demi ketenangan operasional bisnis.</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A0A0A"/>
          </a:solidFill>
          <a:ln/>
        </p:spPr>
        <p:txBody>
          <a:bodyPr wrap="square" rtlCol="0" anchor="ctr"/>
          <a:lstStyle/>
          <a:p>
            <a:pPr marL="0" indent="0">
              <a:buNone/>
            </a:pPr>
            <a:endParaRPr lang="en-US" dirty="0"/>
          </a:p>
        </p:txBody>
      </p:sp>
      <p:pic>
        <p:nvPicPr>
          <p:cNvPr id="3" name="Image 0" descr="image.png"/>
          <p:cNvPicPr>
            <a:picLocks noChangeAspect="1"/>
          </p:cNvPicPr>
          <p:nvPr/>
        </p:nvPicPr>
        <p:blipFill>
          <a:blip r:embed="rId3">
            <a:alphaModFix amt="40000"/>
          </a:blip>
          <a:srcRect/>
          <a:stretch/>
        </p:blipFill>
        <p:spPr>
          <a:xfrm>
            <a:off x="-952500" y="-1905000"/>
            <a:ext cx="5715000" cy="5715000"/>
          </a:xfrm>
          <a:prstGeom prst="rect">
            <a:avLst/>
          </a:prstGeom>
        </p:spPr>
      </p:pic>
      <p:pic>
        <p:nvPicPr>
          <p:cNvPr id="4" name="Image 1" descr="image.png"/>
          <p:cNvPicPr>
            <a:picLocks noChangeAspect="1"/>
          </p:cNvPicPr>
          <p:nvPr/>
        </p:nvPicPr>
        <p:blipFill>
          <a:blip r:embed="rId4">
            <a:alphaModFix amt="40000"/>
          </a:blip>
          <a:srcRect/>
          <a:stretch/>
        </p:blipFill>
        <p:spPr>
          <a:xfrm>
            <a:off x="7905750" y="3048000"/>
            <a:ext cx="4762500" cy="4762500"/>
          </a:xfrm>
          <a:prstGeom prst="rect">
            <a:avLst/>
          </a:prstGeom>
        </p:spPr>
      </p:pic>
      <p:sp>
        <p:nvSpPr>
          <p:cNvPr id="5" name="Text 1"/>
          <p:cNvSpPr/>
          <p:nvPr/>
        </p:nvSpPr>
        <p:spPr>
          <a:xfrm>
            <a:off x="609600" y="457200"/>
            <a:ext cx="6483096" cy="731520"/>
          </a:xfrm>
          <a:prstGeom prst="rect">
            <a:avLst/>
          </a:prstGeom>
          <a:noFill/>
          <a:ln/>
        </p:spPr>
        <p:txBody>
          <a:bodyPr vert="horz" wrap="square" lIns="0" tIns="0" rIns="0" bIns="0" rtlCol="0" anchor="t"/>
          <a:lstStyle/>
          <a:p>
            <a:pPr marL="0" indent="0" algn="l">
              <a:lnSpc>
                <a:spcPts val="5400"/>
              </a:lnSpc>
              <a:buNone/>
            </a:pPr>
            <a:r>
              <a:rPr lang="en-US" sz="5400" dirty="0">
                <a:solidFill>
                  <a:srgbClr val="FFFFFF"/>
                </a:solidFill>
                <a:latin typeface="Bebas Neue" pitchFamily="34" charset="0"/>
                <a:ea typeface="Bebas Neue" pitchFamily="34" charset="-122"/>
                <a:cs typeface="Bebas Neue" pitchFamily="34" charset="-120"/>
              </a:rPr>
              <a:t>KESIMPULAN &amp; </a:t>
            </a:r>
            <a:r>
              <a:rPr lang="en-US" sz="5400" dirty="0">
                <a:solidFill>
                  <a:srgbClr val="3D68FF"/>
                </a:solidFill>
                <a:latin typeface="Bebas Neue" pitchFamily="34" charset="0"/>
                <a:ea typeface="Bebas Neue" pitchFamily="34" charset="-122"/>
                <a:cs typeface="Bebas Neue" pitchFamily="34" charset="-120"/>
              </a:rPr>
              <a:t>LANGKAH</a:t>
            </a:r>
            <a:endParaRPr lang="en-US" sz="5400" dirty="0"/>
          </a:p>
        </p:txBody>
      </p:sp>
      <p:sp>
        <p:nvSpPr>
          <p:cNvPr id="6" name="Text 2"/>
          <p:cNvSpPr/>
          <p:nvPr/>
        </p:nvSpPr>
        <p:spPr>
          <a:xfrm>
            <a:off x="609600" y="1333500"/>
            <a:ext cx="571500" cy="38100"/>
          </a:xfrm>
          <a:prstGeom prst="roundRect">
            <a:avLst>
              <a:gd name="adj" fmla="val 50000"/>
            </a:avLst>
          </a:prstGeom>
          <a:solidFill>
            <a:srgbClr val="3D68FF"/>
          </a:solidFill>
          <a:ln/>
        </p:spPr>
        <p:txBody>
          <a:bodyPr wrap="square" rtlCol="0" anchor="ctr"/>
          <a:lstStyle/>
          <a:p>
            <a:pPr marL="0" indent="0">
              <a:buNone/>
            </a:pPr>
            <a:endParaRPr lang="en-US" dirty="0"/>
          </a:p>
        </p:txBody>
      </p:sp>
      <p:sp>
        <p:nvSpPr>
          <p:cNvPr id="7" name="Text 3"/>
          <p:cNvSpPr/>
          <p:nvPr/>
        </p:nvSpPr>
        <p:spPr>
          <a:xfrm>
            <a:off x="8737047" y="1219200"/>
            <a:ext cx="2880360" cy="182880"/>
          </a:xfrm>
          <a:prstGeom prst="rect">
            <a:avLst/>
          </a:prstGeom>
          <a:noFill/>
          <a:ln/>
        </p:spPr>
        <p:txBody>
          <a:bodyPr vert="horz" wrap="none" lIns="0" tIns="0" rIns="0" bIns="0" rtlCol="0" anchor="t">
            <a:normAutofit/>
          </a:bodyPr>
          <a:lstStyle/>
          <a:p>
            <a:pPr marL="0" indent="0" algn="r">
              <a:lnSpc>
                <a:spcPts val="1200"/>
              </a:lnSpc>
              <a:buNone/>
            </a:pPr>
            <a:r>
              <a:rPr lang="en-US" sz="900" b="1" kern="0" spc="90" dirty="0">
                <a:solidFill>
                  <a:srgbClr val="9CA3AF"/>
                </a:solidFill>
                <a:latin typeface="Poppins" pitchFamily="34" charset="0"/>
                <a:ea typeface="Poppins" pitchFamily="34" charset="-122"/>
                <a:cs typeface="Poppins" pitchFamily="34" charset="-120"/>
              </a:rPr>
              <a:t>HUKUM KEKAYAAN INTELEKTUAL / 2026</a:t>
            </a:r>
            <a:endParaRPr lang="en-US" sz="900" dirty="0"/>
          </a:p>
        </p:txBody>
      </p:sp>
      <p:sp>
        <p:nvSpPr>
          <p:cNvPr id="8" name="Text 4"/>
          <p:cNvSpPr/>
          <p:nvPr/>
        </p:nvSpPr>
        <p:spPr>
          <a:xfrm>
            <a:off x="609600" y="1752600"/>
            <a:ext cx="6305550" cy="4591050"/>
          </a:xfrm>
          <a:prstGeom prst="roundRect">
            <a:avLst>
              <a:gd name="adj" fmla="val 4149"/>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9" name="Image 2" descr="image.png"/>
          <p:cNvPicPr>
            <a:picLocks noChangeAspect="1"/>
          </p:cNvPicPr>
          <p:nvPr/>
        </p:nvPicPr>
        <p:blipFill>
          <a:blip r:embed="rId5"/>
          <a:srcRect r="25014"/>
          <a:stretch/>
        </p:blipFill>
        <p:spPr>
          <a:xfrm>
            <a:off x="619125" y="1762125"/>
            <a:ext cx="6286500" cy="4572000"/>
          </a:xfrm>
          <a:prstGeom prst="rect">
            <a:avLst/>
          </a:prstGeom>
        </p:spPr>
      </p:pic>
      <p:sp>
        <p:nvSpPr>
          <p:cNvPr id="10" name="Text 5"/>
          <p:cNvSpPr/>
          <p:nvPr/>
        </p:nvSpPr>
        <p:spPr>
          <a:xfrm>
            <a:off x="7143750" y="1752600"/>
            <a:ext cx="4438650" cy="2190750"/>
          </a:xfrm>
          <a:prstGeom prst="roundRect">
            <a:avLst>
              <a:gd name="adj" fmla="val 8696"/>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1" name="Image 3" descr="image.png"/>
          <p:cNvPicPr>
            <a:picLocks noChangeAspect="1"/>
          </p:cNvPicPr>
          <p:nvPr/>
        </p:nvPicPr>
        <p:blipFill>
          <a:blip r:embed="rId6"/>
          <a:srcRect b="29803"/>
          <a:stretch/>
        </p:blipFill>
        <p:spPr>
          <a:xfrm>
            <a:off x="7153275" y="1762125"/>
            <a:ext cx="4419600" cy="2171700"/>
          </a:xfrm>
          <a:prstGeom prst="rect">
            <a:avLst/>
          </a:prstGeom>
        </p:spPr>
      </p:pic>
      <p:sp>
        <p:nvSpPr>
          <p:cNvPr id="12" name="Text 6"/>
          <p:cNvSpPr/>
          <p:nvPr/>
        </p:nvSpPr>
        <p:spPr>
          <a:xfrm>
            <a:off x="7143750" y="4171950"/>
            <a:ext cx="4438650" cy="2190750"/>
          </a:xfrm>
          <a:prstGeom prst="roundRect">
            <a:avLst>
              <a:gd name="adj" fmla="val 8696"/>
            </a:avLst>
          </a:prstGeom>
          <a:solidFill>
            <a:srgbClr val="FFFFFF">
              <a:alpha val="2000"/>
            </a:srgbClr>
          </a:solidFill>
          <a:ln w="9525">
            <a:solidFill>
              <a:srgbClr val="FFFFFF">
                <a:alpha val="5000"/>
              </a:srgbClr>
            </a:solidFill>
          </a:ln>
        </p:spPr>
        <p:txBody>
          <a:bodyPr wrap="square" rtlCol="0" anchor="ctr"/>
          <a:lstStyle/>
          <a:p>
            <a:pPr marL="0" indent="0">
              <a:buNone/>
            </a:pPr>
            <a:endParaRPr lang="en-US" dirty="0"/>
          </a:p>
        </p:txBody>
      </p:sp>
      <p:pic>
        <p:nvPicPr>
          <p:cNvPr id="13" name="Image 4" descr="image.png"/>
          <p:cNvPicPr>
            <a:picLocks noChangeAspect="1"/>
          </p:cNvPicPr>
          <p:nvPr/>
        </p:nvPicPr>
        <p:blipFill>
          <a:blip r:embed="rId7"/>
          <a:srcRect b="12644"/>
          <a:stretch/>
        </p:blipFill>
        <p:spPr>
          <a:xfrm>
            <a:off x="7153275" y="4181475"/>
            <a:ext cx="4419600" cy="2171700"/>
          </a:xfrm>
          <a:prstGeom prst="rect">
            <a:avLst/>
          </a:prstGeom>
        </p:spPr>
      </p:pic>
      <p:sp>
        <p:nvSpPr>
          <p:cNvPr id="14" name="Text 7"/>
          <p:cNvSpPr/>
          <p:nvPr/>
        </p:nvSpPr>
        <p:spPr>
          <a:xfrm>
            <a:off x="923925" y="4702969"/>
            <a:ext cx="752475" cy="180975"/>
          </a:xfrm>
          <a:prstGeom prst="roundRect">
            <a:avLst>
              <a:gd name="adj" fmla="val 21053"/>
            </a:avLst>
          </a:prstGeom>
          <a:solidFill>
            <a:srgbClr val="3D68FF"/>
          </a:solidFill>
          <a:ln/>
        </p:spPr>
        <p:txBody>
          <a:bodyPr wrap="square" rtlCol="0" anchor="ctr"/>
          <a:lstStyle/>
          <a:p>
            <a:pPr marL="0" indent="0">
              <a:buNone/>
            </a:pPr>
            <a:endParaRPr lang="en-US" dirty="0"/>
          </a:p>
        </p:txBody>
      </p:sp>
      <p:sp>
        <p:nvSpPr>
          <p:cNvPr id="15" name="Text 8"/>
          <p:cNvSpPr/>
          <p:nvPr/>
        </p:nvSpPr>
        <p:spPr>
          <a:xfrm>
            <a:off x="923925" y="4702969"/>
            <a:ext cx="777240" cy="182880"/>
          </a:xfrm>
          <a:prstGeom prst="rect">
            <a:avLst/>
          </a:prstGeom>
          <a:noFill/>
          <a:ln/>
        </p:spPr>
        <p:txBody>
          <a:bodyPr vert="horz" wrap="square" lIns="76200" tIns="19050" rIns="76200" bIns="19050" rtlCol="0" anchor="t"/>
          <a:lstStyle/>
          <a:p>
            <a:pPr marL="0" indent="0" algn="l">
              <a:lnSpc>
                <a:spcPts val="1125"/>
              </a:lnSpc>
              <a:buNone/>
            </a:pPr>
            <a:r>
              <a:rPr lang="en-US" sz="750" b="1" dirty="0">
                <a:solidFill>
                  <a:srgbClr val="FFFFFF"/>
                </a:solidFill>
                <a:latin typeface="Poppins" pitchFamily="34" charset="0"/>
                <a:ea typeface="Poppins" pitchFamily="34" charset="-122"/>
                <a:cs typeface="Poppins" pitchFamily="34" charset="-120"/>
              </a:rPr>
              <a:t>RINGKASAN</a:t>
            </a:r>
            <a:endParaRPr lang="en-US" sz="750" dirty="0"/>
          </a:p>
        </p:txBody>
      </p:sp>
      <p:sp>
        <p:nvSpPr>
          <p:cNvPr id="16" name="Text 9"/>
          <p:cNvSpPr/>
          <p:nvPr/>
        </p:nvSpPr>
        <p:spPr>
          <a:xfrm>
            <a:off x="1790700" y="4722019"/>
            <a:ext cx="886968" cy="173736"/>
          </a:xfrm>
          <a:prstGeom prst="rect">
            <a:avLst/>
          </a:prstGeom>
          <a:noFill/>
          <a:ln/>
        </p:spPr>
        <p:txBody>
          <a:bodyPr vert="horz" wrap="none" lIns="0" tIns="0" rIns="0" bIns="0" rtlCol="0" anchor="t">
            <a:normAutofit/>
          </a:bodyPr>
          <a:lstStyle/>
          <a:p>
            <a:pPr marL="0" indent="0" algn="l">
              <a:lnSpc>
                <a:spcPts val="1125"/>
              </a:lnSpc>
              <a:buNone/>
            </a:pPr>
            <a:r>
              <a:rPr lang="en-US" sz="750" b="1" kern="0" spc="150" dirty="0">
                <a:solidFill>
                  <a:srgbClr val="9CA3AF"/>
                </a:solidFill>
                <a:latin typeface="Poppins" pitchFamily="34" charset="0"/>
                <a:ea typeface="Poppins" pitchFamily="34" charset="-122"/>
                <a:cs typeface="Poppins" pitchFamily="34" charset="-120"/>
              </a:rPr>
              <a:t>POIN UTAMA</a:t>
            </a:r>
            <a:endParaRPr lang="en-US" sz="750" dirty="0"/>
          </a:p>
        </p:txBody>
      </p:sp>
      <p:sp>
        <p:nvSpPr>
          <p:cNvPr id="17" name="Text 10"/>
          <p:cNvSpPr/>
          <p:nvPr/>
        </p:nvSpPr>
        <p:spPr>
          <a:xfrm>
            <a:off x="619125" y="4398169"/>
            <a:ext cx="6286500" cy="1935956"/>
          </a:xfrm>
          <a:prstGeom prst="rect">
            <a:avLst/>
          </a:prstGeom>
          <a:solidFill>
            <a:srgbClr val="000000">
              <a:alpha val="60000"/>
            </a:srgbClr>
          </a:solidFill>
          <a:ln/>
        </p:spPr>
        <p:txBody>
          <a:bodyPr wrap="square" rtlCol="0" anchor="ctr"/>
          <a:lstStyle/>
          <a:p>
            <a:pPr marL="0" indent="0">
              <a:buNone/>
            </a:pPr>
            <a:endParaRPr lang="en-US" dirty="0"/>
          </a:p>
        </p:txBody>
      </p:sp>
      <p:sp>
        <p:nvSpPr>
          <p:cNvPr id="18" name="Text 11"/>
          <p:cNvSpPr/>
          <p:nvPr/>
        </p:nvSpPr>
        <p:spPr>
          <a:xfrm>
            <a:off x="923925" y="4960144"/>
            <a:ext cx="5870448" cy="384048"/>
          </a:xfrm>
          <a:prstGeom prst="rect">
            <a:avLst/>
          </a:prstGeom>
          <a:noFill/>
          <a:ln/>
        </p:spPr>
        <p:txBody>
          <a:bodyPr vert="horz" wrap="none" lIns="0" tIns="0" rIns="0" bIns="0" rtlCol="0" anchor="t">
            <a:normAutofit/>
          </a:bodyPr>
          <a:lstStyle/>
          <a:p>
            <a:pPr marL="0" indent="0" algn="l">
              <a:lnSpc>
                <a:spcPts val="2700"/>
              </a:lnSpc>
              <a:buNone/>
            </a:pPr>
            <a:r>
              <a:rPr lang="en-US" sz="2250" b="1" kern="0" spc="-60" dirty="0">
                <a:solidFill>
                  <a:srgbClr val="FFFFFF"/>
                </a:solidFill>
                <a:latin typeface="Bebas Neue" pitchFamily="34" charset="0"/>
                <a:ea typeface="Bebas Neue" pitchFamily="34" charset="-122"/>
                <a:cs typeface="Bebas Neue" pitchFamily="34" charset="-120"/>
              </a:rPr>
              <a:t>FONDASI PERTUMBUHAN 2026</a:t>
            </a:r>
            <a:endParaRPr lang="en-US" sz="2250" dirty="0"/>
          </a:p>
        </p:txBody>
      </p:sp>
      <p:sp>
        <p:nvSpPr>
          <p:cNvPr id="19" name="Text 12"/>
          <p:cNvSpPr/>
          <p:nvPr/>
        </p:nvSpPr>
        <p:spPr>
          <a:xfrm>
            <a:off x="923925" y="5380434"/>
            <a:ext cx="4306824" cy="649224"/>
          </a:xfrm>
          <a:prstGeom prst="rect">
            <a:avLst/>
          </a:prstGeom>
          <a:noFill/>
          <a:ln/>
        </p:spPr>
        <p:txBody>
          <a:bodyPr vert="horz" wrap="square" lIns="0" tIns="0" rIns="0" bIns="0" rtlCol="0" anchor="t"/>
          <a:lstStyle/>
          <a:p>
            <a:pPr marL="0" indent="0" algn="l">
              <a:lnSpc>
                <a:spcPts val="1706"/>
              </a:lnSpc>
              <a:buNone/>
            </a:pPr>
            <a:r>
              <a:rPr lang="en-US" sz="1050" dirty="0">
                <a:solidFill>
                  <a:srgbClr val="9CA3AF"/>
                </a:solidFill>
                <a:latin typeface="Poppins" pitchFamily="34" charset="0"/>
                <a:ea typeface="Poppins" pitchFamily="34" charset="-122"/>
                <a:cs typeface="Poppins" pitchFamily="34" charset="-120"/>
              </a:rPr>
              <a:t>HAKI adalah aset strategis dan fondasi hukum krusial bagi startup digital 2026. Melindungi algoritma dan merek sejak dini mencegah sengketa di marketplace.</a:t>
            </a:r>
            <a:endParaRPr lang="en-US" sz="1050" dirty="0"/>
          </a:p>
        </p:txBody>
      </p:sp>
      <p:sp>
        <p:nvSpPr>
          <p:cNvPr id="20" name="Text 13"/>
          <p:cNvSpPr/>
          <p:nvPr/>
        </p:nvSpPr>
        <p:spPr>
          <a:xfrm>
            <a:off x="7153275" y="2895600"/>
            <a:ext cx="4419600" cy="1038225"/>
          </a:xfrm>
          <a:prstGeom prst="rect">
            <a:avLst/>
          </a:prstGeom>
          <a:solidFill>
            <a:srgbClr val="000000">
              <a:alpha val="60000"/>
            </a:srgbClr>
          </a:solidFill>
          <a:ln/>
        </p:spPr>
        <p:txBody>
          <a:bodyPr wrap="square" rtlCol="0" anchor="ctr"/>
          <a:lstStyle/>
          <a:p>
            <a:pPr marL="0" indent="0">
              <a:buNone/>
            </a:pPr>
            <a:endParaRPr lang="en-US" dirty="0"/>
          </a:p>
        </p:txBody>
      </p:sp>
      <p:sp>
        <p:nvSpPr>
          <p:cNvPr id="21" name="Text 14"/>
          <p:cNvSpPr/>
          <p:nvPr/>
        </p:nvSpPr>
        <p:spPr>
          <a:xfrm>
            <a:off x="7381875" y="3124200"/>
            <a:ext cx="4087368"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40" dirty="0">
                <a:solidFill>
                  <a:srgbClr val="FFFFFF"/>
                </a:solidFill>
                <a:latin typeface="Bebas Neue" pitchFamily="34" charset="0"/>
                <a:ea typeface="Bebas Neue" pitchFamily="34" charset="-122"/>
                <a:cs typeface="Bebas Neue" pitchFamily="34" charset="-120"/>
              </a:rPr>
              <a:t>DAFTAR PERIKSA KEPATUHAN</a:t>
            </a:r>
            <a:endParaRPr lang="en-US" sz="1350" dirty="0"/>
          </a:p>
        </p:txBody>
      </p:sp>
      <p:sp>
        <p:nvSpPr>
          <p:cNvPr id="22" name="Text 15"/>
          <p:cNvSpPr/>
          <p:nvPr/>
        </p:nvSpPr>
        <p:spPr>
          <a:xfrm>
            <a:off x="7381875" y="3390900"/>
            <a:ext cx="3995928" cy="320040"/>
          </a:xfrm>
          <a:prstGeom prst="rect">
            <a:avLst/>
          </a:prstGeom>
          <a:noFill/>
          <a:ln/>
        </p:spPr>
        <p:txBody>
          <a:bodyPr vert="horz" wrap="square" lIns="0" tIns="0" rIns="0" bIns="0" rtlCol="0" anchor="t"/>
          <a:lstStyle/>
          <a:p>
            <a:pPr marL="0" indent="0" algn="l">
              <a:lnSpc>
                <a:spcPts val="1238"/>
              </a:lnSpc>
              <a:buNone/>
            </a:pPr>
            <a:r>
              <a:rPr lang="en-US" sz="825" dirty="0">
                <a:solidFill>
                  <a:srgbClr val="9CA3AF"/>
                </a:solidFill>
                <a:latin typeface="Poppins" pitchFamily="34" charset="0"/>
                <a:ea typeface="Poppins" pitchFamily="34" charset="-122"/>
                <a:cs typeface="Poppins" pitchFamily="34" charset="-120"/>
              </a:rPr>
              <a:t>1. Audit Aset (Merek/Cipta) | 2. Pendaftaran DJKI | 3. Monitoring Pelanggaran.</a:t>
            </a:r>
            <a:endParaRPr lang="en-US" sz="825" dirty="0"/>
          </a:p>
        </p:txBody>
      </p:sp>
      <p:sp>
        <p:nvSpPr>
          <p:cNvPr id="23" name="Text 16"/>
          <p:cNvSpPr/>
          <p:nvPr/>
        </p:nvSpPr>
        <p:spPr>
          <a:xfrm>
            <a:off x="7153275" y="5472113"/>
            <a:ext cx="4419600" cy="881063"/>
          </a:xfrm>
          <a:prstGeom prst="rect">
            <a:avLst/>
          </a:prstGeom>
          <a:solidFill>
            <a:srgbClr val="000000">
              <a:alpha val="60000"/>
            </a:srgbClr>
          </a:solidFill>
          <a:ln/>
        </p:spPr>
        <p:txBody>
          <a:bodyPr wrap="square" rtlCol="0" anchor="ctr"/>
          <a:lstStyle/>
          <a:p>
            <a:pPr marL="0" indent="0">
              <a:buNone/>
            </a:pPr>
            <a:endParaRPr lang="en-US" dirty="0"/>
          </a:p>
        </p:txBody>
      </p:sp>
      <p:sp>
        <p:nvSpPr>
          <p:cNvPr id="24" name="Text 17"/>
          <p:cNvSpPr/>
          <p:nvPr/>
        </p:nvSpPr>
        <p:spPr>
          <a:xfrm>
            <a:off x="7381875" y="5700713"/>
            <a:ext cx="4087368" cy="301752"/>
          </a:xfrm>
          <a:prstGeom prst="rect">
            <a:avLst/>
          </a:prstGeom>
          <a:noFill/>
          <a:ln/>
        </p:spPr>
        <p:txBody>
          <a:bodyPr vert="horz" wrap="none" lIns="0" tIns="0" rIns="0" bIns="0" rtlCol="0" anchor="t">
            <a:normAutofit/>
          </a:bodyPr>
          <a:lstStyle/>
          <a:p>
            <a:pPr marL="0" indent="0" algn="l">
              <a:lnSpc>
                <a:spcPts val="2100"/>
              </a:lnSpc>
              <a:buNone/>
            </a:pPr>
            <a:r>
              <a:rPr lang="en-US" sz="1350" b="1" kern="0" spc="-40" dirty="0">
                <a:solidFill>
                  <a:srgbClr val="FFFFFF"/>
                </a:solidFill>
                <a:latin typeface="Bebas Neue" pitchFamily="34" charset="0"/>
                <a:ea typeface="Bebas Neue" pitchFamily="34" charset="-122"/>
                <a:cs typeface="Bebas Neue" pitchFamily="34" charset="-120"/>
              </a:rPr>
              <a:t>TANYA JAWAB &amp; PENUTUP</a:t>
            </a:r>
            <a:endParaRPr lang="en-US" sz="1350" dirty="0"/>
          </a:p>
        </p:txBody>
      </p:sp>
      <p:sp>
        <p:nvSpPr>
          <p:cNvPr id="25" name="Text 18"/>
          <p:cNvSpPr/>
          <p:nvPr/>
        </p:nvSpPr>
        <p:spPr>
          <a:xfrm>
            <a:off x="7381875" y="5965031"/>
            <a:ext cx="4069080" cy="192024"/>
          </a:xfrm>
          <a:prstGeom prst="rect">
            <a:avLst/>
          </a:prstGeom>
          <a:noFill/>
          <a:ln/>
        </p:spPr>
        <p:txBody>
          <a:bodyPr vert="horz" wrap="none" lIns="0" tIns="0" rIns="0" bIns="0" rtlCol="0" anchor="t">
            <a:normAutofit/>
          </a:bodyPr>
          <a:lstStyle/>
          <a:p>
            <a:pPr marL="0" indent="0" algn="l">
              <a:lnSpc>
                <a:spcPts val="1238"/>
              </a:lnSpc>
              <a:buNone/>
            </a:pPr>
            <a:r>
              <a:rPr lang="en-US" sz="825" dirty="0">
                <a:solidFill>
                  <a:srgbClr val="9CA3AF"/>
                </a:solidFill>
                <a:latin typeface="Poppins" pitchFamily="34" charset="0"/>
                <a:ea typeface="Poppins" pitchFamily="34" charset="-122"/>
                <a:cs typeface="Poppins" pitchFamily="34" charset="-120"/>
              </a:rPr>
              <a:t>Mari diskusikan strategi perlindungan aset Anda. Terima kasih.</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1388</Words>
  <Application>Microsoft Office PowerPoint</Application>
  <PresentationFormat>Widescreen</PresentationFormat>
  <Paragraphs>240</Paragraphs>
  <Slides>16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Bebas Neue</vt:lpstr>
      <vt:lpstr>Monaco</vt:lpstr>
      <vt:lpstr>Arial</vt:lpstr>
      <vt:lpstr>Poppins</vt:lpstr>
      <vt:lpstr>MiSans Normal</vt:lpstr>
      <vt:lpstr>Calibri</vt:lpstr>
      <vt:lpstr>Berlin Sans FB</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百度文库 v1.0.0</dc:creator>
  <cp:lastModifiedBy>intan .</cp:lastModifiedBy>
  <cp:revision>2</cp:revision>
  <dcterms:created xsi:type="dcterms:W3CDTF">2026-09-25T07:24:57Z</dcterms:created>
  <dcterms:modified xsi:type="dcterms:W3CDTF">2026-09-25T07:59:37Z</dcterms:modified>
</cp:coreProperties>
</file>