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Noto Sans" panose="020B0502040504020204" pitchFamily="34" charset="0"/>
      <p:regular r:id="rId16"/>
      <p:bold r:id="rId17"/>
      <p:italic r:id="rId18"/>
    </p:embeddedFont>
    <p:embeddedFont>
      <p:font typeface="Poppins" panose="00000500000000000000" pitchFamily="2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07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566863"/>
            <a:ext cx="9930384" cy="2578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6750"/>
              </a:lnSpc>
              <a:buNone/>
            </a:pPr>
            <a:r>
              <a:rPr lang="en-US" sz="5400" b="1" i="1" kern="0" spc="-11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Kebijakan Platform dan Tanggung Jawab Hukum Penyelenggara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0" y="4367213"/>
            <a:ext cx="1219200" cy="38100"/>
          </a:xfrm>
          <a:prstGeom prst="rect">
            <a:avLst/>
          </a:prstGeom>
          <a:solidFill>
            <a:srgbClr val="2F4332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38400" y="4707731"/>
            <a:ext cx="736092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Analisis mendalam mengenai kerangka regulasi, kewajiban kepatuhan, dan implikasi hukum bagi penyelenggara platform digital di era modern.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14933" y="5493544"/>
            <a:ext cx="33924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00" b="1" kern="0" spc="4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VOLUME I — RISET &amp; ANALISIS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533400" cy="5334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  <a:effectLst>
            <a:outerShdw blurRad="238125" dist="1905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723900"/>
            <a:ext cx="228600" cy="30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2607" y="647700"/>
            <a:ext cx="258775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36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REGULASI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32607" y="952500"/>
            <a:ext cx="256032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36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LAPORAN HUKUM DIGITAL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450785" y="609600"/>
            <a:ext cx="119786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0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EDISI NO. 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525125" y="838200"/>
            <a:ext cx="11064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kern="0" spc="7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ARSIP GLOBAL 2026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05325" y="6172200"/>
            <a:ext cx="457200" cy="9525"/>
          </a:xfrm>
          <a:prstGeom prst="rect">
            <a:avLst/>
          </a:prstGeom>
          <a:solidFill>
            <a:srgbClr val="2F4332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91125" y="6105525"/>
            <a:ext cx="187452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PERNYATAAN PEMBUKA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229475" y="6172200"/>
            <a:ext cx="457200" cy="9525"/>
          </a:xfrm>
          <a:prstGeom prst="rect">
            <a:avLst/>
          </a:prstGeom>
          <a:solidFill>
            <a:srgbClr val="2F4332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4919" y="669131"/>
            <a:ext cx="284378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13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 DIGITAL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54919" y="876300"/>
            <a:ext cx="282549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2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KEBIJAKAN PLATFORM &amp; TANGGUNG JAWAB</a:t>
            </a:r>
            <a:endParaRPr lang="en-US" sz="675" dirty="0"/>
          </a:p>
        </p:txBody>
      </p:sp>
      <p:sp>
        <p:nvSpPr>
          <p:cNvPr id="7" name="Shape 4"/>
          <p:cNvSpPr/>
          <p:nvPr/>
        </p:nvSpPr>
        <p:spPr>
          <a:xfrm>
            <a:off x="10010775" y="666750"/>
            <a:ext cx="0" cy="342900"/>
          </a:xfrm>
          <a:prstGeom prst="line">
            <a:avLst/>
          </a:prstGeom>
          <a:noFill/>
          <a:ln w="19050">
            <a:solidFill>
              <a:srgbClr val="2F4332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30517" y="666750"/>
            <a:ext cx="1426464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25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Daftar Isi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609600" y="1871663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377" y="1593056"/>
            <a:ext cx="22951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PENDAHULUAN PERTEMUAN SEPULUH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486400" y="1524000"/>
            <a:ext cx="20116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9600" y="2452688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791" y="2174081"/>
            <a:ext cx="25237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KEBIJAKAN INTERNAL VS HUKUM POSITIF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457825" y="2105025"/>
            <a:ext cx="2286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9600" y="3033712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0344" y="2755106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MEKANISME MODERASI KONTEN DIGITAL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448300" y="2686050"/>
            <a:ext cx="2377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9600" y="3614737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1535" y="3336131"/>
            <a:ext cx="217627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PROSEDUR NOTICE AND TAKEDOWN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438775" y="3267075"/>
            <a:ext cx="24688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9600" y="4195763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154" y="3917156"/>
            <a:ext cx="27797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PELANGGARAN HAK CIPTA DI RANAH DIGITAL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448300" y="3848100"/>
            <a:ext cx="2377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9600" y="4776788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9898" y="4498181"/>
            <a:ext cx="26243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TANGGUNG JAWAB HUKUM E-COMMERCE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448300" y="4429125"/>
            <a:ext cx="2377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53200" y="1871663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52754" y="1593056"/>
            <a:ext cx="289864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PENANGANAN PRODUK PALSU DI MARKETPLACE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1401425" y="1524000"/>
            <a:ext cx="2286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553200" y="2452688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52307" y="2174081"/>
            <a:ext cx="261518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ANALISIS REGULASI E-COMMERCE TERKINI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1391900" y="2105025"/>
            <a:ext cx="2377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53200" y="3033712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51786" y="2755106"/>
            <a:ext cx="267919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STUDI KASUS GUGATAN HUKUM PLATFORM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1391900" y="2686050"/>
            <a:ext cx="2377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553200" y="3614737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55135" y="3336131"/>
            <a:ext cx="21671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 MEKANISME TAKE-DOWN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1430000" y="3267075"/>
            <a:ext cx="20116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553200" y="4195763"/>
            <a:ext cx="50292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53721" y="3917156"/>
            <a:ext cx="161848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4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KESIMPULAN DAN DISKUSI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11468100" y="3848100"/>
            <a:ext cx="1554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09600" y="5810250"/>
            <a:ext cx="109728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557388" y="6117431"/>
            <a:ext cx="724204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27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TINJAUAN KOMPREHENSIF MENGENAI TANGGUNG JAWAB HUKUM PENYELENGGARA PLATFORM DIGITAL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7300" y="652463"/>
            <a:ext cx="16093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REGULASI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57300" y="881063"/>
            <a:ext cx="158191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DIGITAL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11163" y="1678186"/>
            <a:ext cx="6318504" cy="1664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54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pendahuluan
</a:t>
            </a:r>
            <a:r>
              <a:rPr lang="en-US" sz="51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PERTEMUAN SEPULUH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09600" y="3794522"/>
            <a:ext cx="762000" cy="9525"/>
          </a:xfrm>
          <a:prstGeom prst="rect">
            <a:avLst/>
          </a:prstGeom>
          <a:solidFill>
            <a:srgbClr val="2F4332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9600" y="4107656"/>
            <a:ext cx="5532120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"Selamat datang di sesi kesepuluh mengenai regulasi platform digital, mengevaluasi kebijakan moderasi dan mekanisme take-down."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9600" y="5249466"/>
            <a:ext cx="5532120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 ini mencakup tata kelola konten dan tanggung jawab hukum penyelenggara, termasuk kewajiban kepatuhan terhadap kebijakan moderasi di Indonesia yang akan berlaku penuh.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65950" y="1124545"/>
            <a:ext cx="609600" cy="381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64313" y="1391245"/>
            <a:ext cx="4142232" cy="6309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6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Tanggung Jawab</a:t>
            </a:r>
            <a:endParaRPr lang="en-US" sz="2250" dirty="0"/>
          </a:p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-6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 Penyelenggara.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7365950" y="2481858"/>
            <a:ext cx="4063901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65950" y="3824883"/>
            <a:ext cx="4063901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5950" y="2934295"/>
            <a:ext cx="83210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BATAS WAKTU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367513" y="3134320"/>
            <a:ext cx="197510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 </a:t>
            </a:r>
            <a:r>
              <a:rPr lang="en-US" sz="1050" b="1" dirty="0">
                <a:solidFill>
                  <a:srgbClr val="2F4332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550301" y="2934295"/>
            <a:ext cx="6949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FOKUS SESI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551863" y="3134320"/>
            <a:ext cx="197510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</a:t>
            </a:r>
            <a:r>
              <a:rPr lang="en-US" sz="1050" b="1" dirty="0">
                <a:solidFill>
                  <a:srgbClr val="2F4332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64313" y="4286845"/>
            <a:ext cx="4105656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Evaluasi mendalam terhadap mekanisme tata kelola konten guna memastikan kepatuhan hukum dan transparansi operasional platform digital di Indonesia.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5950" y="5334595"/>
            <a:ext cx="1552575" cy="371475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365950" y="5334595"/>
            <a:ext cx="1581912" cy="374904"/>
          </a:xfrm>
          <a:prstGeom prst="rect">
            <a:avLst/>
          </a:prstGeom>
          <a:noFill/>
          <a:ln/>
        </p:spPr>
        <p:txBody>
          <a:bodyPr vert="horz" wrap="square" lIns="304800" tIns="114300" rIns="304800" bIns="1143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MULAI MATERI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147125" y="5610820"/>
            <a:ext cx="828675" cy="0"/>
          </a:xfrm>
          <a:prstGeom prst="line">
            <a:avLst/>
          </a:prstGeom>
          <a:noFill/>
          <a:ln w="9525">
            <a:solidFill>
              <a:srgbClr val="2F43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7125" y="5425083"/>
            <a:ext cx="859536" cy="192024"/>
          </a:xfrm>
          <a:prstGeom prst="rect">
            <a:avLst/>
          </a:prstGeom>
          <a:noFill/>
          <a:ln/>
        </p:spPr>
        <p:txBody>
          <a:bodyPr vert="horz" wrap="square" lIns="0" tIns="0" rIns="0" bIns="381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PELAJARI LAGI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2009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738" y="552450"/>
            <a:ext cx="238125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900" y="500063"/>
            <a:ext cx="26243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LEGAL POLICY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04900" y="728663"/>
            <a:ext cx="260604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GOVERNANCE GROUP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034111" y="523875"/>
            <a:ext cx="172821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2F4332">
                    <a:alpha val="6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ANALISIS HUKUM 2024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887998" y="685800"/>
            <a:ext cx="189280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Studi Regulasi No. 02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50194"/>
            <a:ext cx="5623560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42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Kebijakan Internal vs Hukum Positif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95300" y="2587377"/>
            <a:ext cx="562356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kern="0" spc="2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TANGGUNG JAWAB PENYELENGGARA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3120777"/>
            <a:ext cx="457200" cy="38100"/>
          </a:xfrm>
          <a:prstGeom prst="rect">
            <a:avLst/>
          </a:prstGeom>
          <a:solidFill>
            <a:srgbClr val="2F4332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3385096"/>
            <a:ext cx="4928616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350" b="1" kern="0" spc="-4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DEFINISI COMMUNITY GUIDELINES SEBAGAI KONSTITUSI PRIVAT PLATFORM GLOBAL.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4011364"/>
            <a:ext cx="4910328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Perbandingan standar internal platform dengan hukum nasional Indonesia bertujuan mengidentifikasi titik temu dan potensi konflik regulasi. Kebijakan global harus beradaptasi dengan hukum positif untuk memastikan kepatuhan hukum lokal.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5106739"/>
            <a:ext cx="1333500" cy="3429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5106739"/>
            <a:ext cx="1362456" cy="347472"/>
          </a:xfrm>
          <a:prstGeom prst="rect">
            <a:avLst/>
          </a:prstGeom>
          <a:noFill/>
          <a:ln/>
        </p:spPr>
        <p:txBody>
          <a:bodyPr vert="horz" wrap="square" lIns="228600" tIns="95250" rIns="228600" bIns="9525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18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LIHAT DATA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019300" y="5363914"/>
            <a:ext cx="1592610" cy="0"/>
          </a:xfrm>
          <a:prstGeom prst="line">
            <a:avLst/>
          </a:prstGeom>
          <a:noFill/>
          <a:ln w="9525">
            <a:solidFill>
              <a:srgbClr val="2F43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20267" y="5187702"/>
            <a:ext cx="1627632" cy="182880"/>
          </a:xfrm>
          <a:prstGeom prst="rect">
            <a:avLst/>
          </a:prstGeom>
          <a:noFill/>
          <a:ln/>
        </p:spPr>
        <p:txBody>
          <a:bodyPr vert="horz" wrap="square" lIns="0" tIns="0" rIns="0" bIns="1905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PELAJARI LEBIH LANJUT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24800" y="1181100"/>
            <a:ext cx="3810000" cy="2314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image.png"/>
          <p:cNvPicPr>
            <a:picLocks noChangeAspect="1"/>
          </p:cNvPicPr>
          <p:nvPr/>
        </p:nvPicPr>
        <p:blipFill>
          <a:blip r:embed="rId4"/>
          <a:srcRect b="63968"/>
          <a:stretch/>
        </p:blipFill>
        <p:spPr>
          <a:xfrm>
            <a:off x="8001000" y="1257300"/>
            <a:ext cx="3657600" cy="21621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924800" y="3686175"/>
            <a:ext cx="3810000" cy="2133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image.png"/>
          <p:cNvPicPr>
            <a:picLocks noChangeAspect="1"/>
          </p:cNvPicPr>
          <p:nvPr/>
        </p:nvPicPr>
        <p:blipFill>
          <a:blip r:embed="rId5"/>
          <a:srcRect b="3350"/>
          <a:stretch/>
        </p:blipFill>
        <p:spPr>
          <a:xfrm>
            <a:off x="8001000" y="3762375"/>
            <a:ext cx="3657600" cy="1981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57200" y="6053137"/>
            <a:ext cx="112776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6286500"/>
            <a:ext cx="268833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FOKUS UTAMA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6438900"/>
            <a:ext cx="2651760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Konstitusi Privat </a:t>
            </a:r>
            <a:r>
              <a:rPr lang="en-US" sz="750" b="1" dirty="0">
                <a:solidFill>
                  <a:srgbClr val="2F4332">
                    <a:alpha val="4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Standar Global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667125" y="6286500"/>
            <a:ext cx="275234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REGULASI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667125" y="6438900"/>
            <a:ext cx="2715768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 Positif </a:t>
            </a:r>
            <a:r>
              <a:rPr lang="en-US" sz="750" b="1" dirty="0">
                <a:solidFill>
                  <a:srgbClr val="2F4332">
                    <a:alpha val="4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 Harmonisasi Nasional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93719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020" y="2143125"/>
            <a:ext cx="12069961" cy="1828800"/>
          </a:xfrm>
          <a:prstGeom prst="roundRect">
            <a:avLst>
              <a:gd name="adj" fmla="val 100000"/>
            </a:avLst>
          </a:prstGeom>
          <a:solidFill>
            <a:srgbClr val="A0AC94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4510087"/>
            <a:ext cx="109728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1163" y="4933950"/>
            <a:ext cx="334670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KURASI HIBRIDA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1163" y="5199459"/>
            <a:ext cx="3282696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Proses kurasi mengombinasikan algoritma AI dan tinjauan manusia untuk akurasi optimal dalam mendeteksi konten. Sistem ini memastikan keseimbangan antara efisiensi teknologi dan penilaian konteks manusia secara real-time.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71913" y="4933950"/>
            <a:ext cx="334670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KEPATUHAN HUKUM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71913" y="5199459"/>
            <a:ext cx="3282696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Konten dilarang mencakup pelanggaran hukum nasional dan hak cipta. Alur kerja sistematis meliputi deteksi, pelaporan, hingga penghapusan konten ilegal secara cepat sesuai regulasi perundang-undangan yang berlaku di Indonesia.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36868" y="5903119"/>
            <a:ext cx="12527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KONTEKS SLIDE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36868" y="6093619"/>
            <a:ext cx="12527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Alur Kerja Sistem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58342" y="5903119"/>
            <a:ext cx="13624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kern="0" spc="2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SERI REGULASI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58342" y="6093619"/>
            <a:ext cx="13624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kern="0" spc="1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ARSIP 2026</a:t>
            </a:r>
            <a:endParaRPr lang="en-US" sz="1050" dirty="0"/>
          </a:p>
        </p:txBody>
      </p:sp>
      <p:pic>
        <p:nvPicPr>
          <p:cNvPr id="1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2651" y="1933575"/>
            <a:ext cx="2247900" cy="2247900"/>
          </a:xfrm>
          <a:prstGeom prst="ellipse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08550" y="1866900"/>
            <a:ext cx="6121301" cy="2381250"/>
          </a:xfrm>
          <a:prstGeom prst="roundRect">
            <a:avLst>
              <a:gd name="adj" fmla="val 800"/>
            </a:avLst>
          </a:prstGeom>
          <a:noFill/>
          <a:ln w="38100">
            <a:solidFill>
              <a:srgbClr val="FFFFFF">
                <a:alpha val="5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image.png"/>
          <p:cNvPicPr>
            <a:picLocks noChangeAspect="1"/>
          </p:cNvPicPr>
          <p:nvPr/>
        </p:nvPicPr>
        <p:blipFill>
          <a:blip r:embed="rId4"/>
          <a:srcRect b="42835"/>
          <a:stretch/>
        </p:blipFill>
        <p:spPr>
          <a:xfrm>
            <a:off x="5346650" y="1905000"/>
            <a:ext cx="6048375" cy="23050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99050" y="3752850"/>
            <a:ext cx="2581275" cy="3048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651450" y="3857625"/>
            <a:ext cx="23500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MARKETING SEPT 2026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57300" y="652463"/>
            <a:ext cx="323697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KEBIJAKAN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57300" y="881063"/>
            <a:ext cx="32186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&amp; TANGGUNG JAWAB HUKUM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7020818" y="609600"/>
            <a:ext cx="4709160" cy="1005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3825"/>
              </a:lnSpc>
              <a:buNone/>
            </a:pPr>
            <a:r>
              <a:rPr lang="en-US" sz="45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Moderasi, 
</a:t>
            </a:r>
            <a:r>
              <a:rPr lang="en-US" sz="27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MEKANISME KONTEN DIGITAL</a:t>
            </a:r>
            <a:endParaRPr lang="en-US" sz="4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015163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34400" y="4209157"/>
            <a:ext cx="3657600" cy="2806005"/>
          </a:xfrm>
          <a:prstGeom prst="rect">
            <a:avLst/>
          </a:prstGeom>
          <a:solidFill>
            <a:srgbClr val="A0AC9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652463"/>
            <a:ext cx="32095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KEBIJAKAN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57300" y="881063"/>
            <a:ext cx="318211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TANGGUNG JAWAB HUKUM PLATFORM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11163" y="1523033"/>
            <a:ext cx="6318504" cy="11612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54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Prosedur
</a:t>
            </a:r>
            <a:r>
              <a:rPr lang="en-US" sz="36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NOTICE AND TAKEDOWN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365950" y="1905000"/>
            <a:ext cx="609600" cy="381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364313" y="2169319"/>
            <a:ext cx="4261104" cy="9418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28"/>
              </a:lnSpc>
              <a:buNone/>
            </a:pPr>
            <a:r>
              <a:rPr lang="en-US" sz="1125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Mekanisme hukum bagi pemegang hak untuk melaporkan dan meminta penghapusan konten ilegal. Langkah ini mencakup verifikasi hak, notifikasi formal, serta validasi oleh platform untuk memutus akses pelanggaran secara cepat.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7367885" y="3328988"/>
            <a:ext cx="20482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2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DEFINISI &amp; PROSEDUR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93895" y="3400425"/>
            <a:ext cx="2088356" cy="9525"/>
          </a:xfrm>
          <a:prstGeom prst="rect">
            <a:avLst/>
          </a:prstGeom>
          <a:solidFill>
            <a:srgbClr val="2F4332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9600" y="4090987"/>
            <a:ext cx="5295900" cy="2314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/>
          <a:srcRect b="44444"/>
          <a:stretch/>
        </p:blipFill>
        <p:spPr>
          <a:xfrm>
            <a:off x="685800" y="4167188"/>
            <a:ext cx="5143500" cy="1905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3900" y="6186488"/>
            <a:ext cx="155448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i="1" kern="0" spc="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VERIFIKASI PEMEGANG HAK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457700" y="6186488"/>
            <a:ext cx="13898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A0A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Langkah Pelaporan Formal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286500" y="4090987"/>
            <a:ext cx="5295900" cy="2314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 b="44375"/>
          <a:stretch/>
        </p:blipFill>
        <p:spPr>
          <a:xfrm>
            <a:off x="6362700" y="4167188"/>
            <a:ext cx="5143500" cy="1905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6186488"/>
            <a:ext cx="155448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i="1" kern="0" spc="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 CEPAT PLATFORM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10039350" y="6186488"/>
            <a:ext cx="149047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A0A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Validasi &amp; Pemutusan Akses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617315"/>
            <a:ext cx="6437263" cy="1219200"/>
          </a:xfrm>
          <a:prstGeom prst="rect">
            <a:avLst/>
          </a:prstGeom>
          <a:solidFill>
            <a:srgbClr val="A0AC94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r="25278"/>
          <a:stretch/>
        </p:blipFill>
        <p:spPr>
          <a:xfrm>
            <a:off x="7071271" y="0"/>
            <a:ext cx="512445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34426" y="5495925"/>
            <a:ext cx="2257425" cy="7524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9934426" y="5495925"/>
            <a:ext cx="0" cy="752475"/>
          </a:xfrm>
          <a:prstGeom prst="line">
            <a:avLst/>
          </a:prstGeom>
          <a:noFill/>
          <a:ln w="38100">
            <a:solidFill>
              <a:srgbClr val="2F43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01126" y="5648325"/>
            <a:ext cx="182880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KEPATUHAN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201126" y="5781675"/>
            <a:ext cx="185623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Penegakan </a:t>
            </a:r>
            <a:r>
              <a:rPr lang="en-US" sz="900" b="1" dirty="0">
                <a:solidFill>
                  <a:srgbClr val="2F4332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HUKUM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57300" y="652463"/>
            <a:ext cx="215798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REGULASI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57300" y="881063"/>
            <a:ext cx="213969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TANGGUNG JAWAB HUKUM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09600" y="3391793"/>
            <a:ext cx="5852071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0493" y="3929955"/>
            <a:ext cx="278892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IDENTIFIKASI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0493" y="4271665"/>
            <a:ext cx="2734056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Proses identifikasi konten yang melanggar HKI mencakup perlindungan bagi pencipta karya dalam ekosistem platform sesuai standar tanggung jawab hukum tidak langsung.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65128" y="3929955"/>
            <a:ext cx="278892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SANKSI PLATFORM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765128" y="4272855"/>
            <a:ext cx="2734056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yang membiarkan pelanggaran akan dikenakan sanksi administratif tegas demi kepatuhan kekayaan intelektual dan integritas ekosistem digital secara global.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1460" y="1522065"/>
            <a:ext cx="6044184" cy="1417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535"/>
              </a:lnSpc>
              <a:buNone/>
            </a:pPr>
            <a:r>
              <a:rPr lang="en-US" sz="615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pelanggaran 
</a:t>
            </a:r>
            <a:r>
              <a:rPr lang="en-US" sz="36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HAK CIPTA DIGITAL</a:t>
            </a:r>
            <a:endParaRPr lang="en-US" sz="6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66706" y="1361926"/>
            <a:ext cx="5925145" cy="1524000"/>
          </a:xfrm>
          <a:prstGeom prst="rect">
            <a:avLst/>
          </a:prstGeom>
          <a:solidFill>
            <a:srgbClr val="A0AC9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300" y="652463"/>
            <a:ext cx="197510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REGULASI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57300" y="881063"/>
            <a:ext cx="195681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E-COMMERCE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828800" y="1828800"/>
            <a:ext cx="457200" cy="1905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828800" y="2076450"/>
            <a:ext cx="3694176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Prinsip Safe Harbor Policy melindungi platform dari konten pihak ketiga selama bertindak sebagai perantara pasif. Batas tanggung jawab ini bergantung pada kewajiban verifikasi merchant secara ketat.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28800" y="3173611"/>
            <a:ext cx="3694176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584"/>
              </a:lnSpc>
              <a:buNone/>
            </a:pPr>
            <a:r>
              <a:rPr lang="en-US" sz="975" i="1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"Kewajiban verifikasi merchant oleh penyelenggara perdagangan elektronik bertujuan guna mencegah pelanggaran hukum di marketplace."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07665" y="3775472"/>
            <a:ext cx="5779008" cy="124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60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 
</a:t>
            </a:r>
            <a:r>
              <a:rPr lang="en-US" sz="36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E-COMMERCE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644580" y="609600"/>
            <a:ext cx="4937671" cy="1514326"/>
          </a:xfrm>
          <a:prstGeom prst="rect">
            <a:avLst/>
          </a:prstGeom>
          <a:noFill/>
          <a:ln w="952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 r="80"/>
          <a:stretch/>
        </p:blipFill>
        <p:spPr>
          <a:xfrm>
            <a:off x="6739830" y="704850"/>
            <a:ext cx="4743450" cy="13239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580" y="990600"/>
            <a:ext cx="2476500" cy="981075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492180" y="1219200"/>
            <a:ext cx="208483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INDEKS KEPATUHAN HUKUM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492180" y="1362075"/>
            <a:ext cx="1042416" cy="4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94.8 </a:t>
            </a: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SKOR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027069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255169"/>
            <a:ext cx="4305300" cy="3009900"/>
          </a:xfrm>
          <a:prstGeom prst="roundRect">
            <a:avLst>
              <a:gd name="adj" fmla="val 633"/>
            </a:avLst>
          </a:prstGeom>
          <a:solidFill>
            <a:srgbClr val="A0AC94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67488" y="3348038"/>
            <a:ext cx="9525" cy="914400"/>
          </a:xfrm>
          <a:prstGeom prst="rect">
            <a:avLst/>
          </a:prstGeom>
          <a:solidFill>
            <a:srgbClr val="A0AC9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72100" y="4491038"/>
            <a:ext cx="2441448" cy="996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Verifikasi ketat merchant dan mekanisme pelaporan proaktif sangat penting guna menjaga kepercayaan publik.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57863" y="5784056"/>
            <a:ext cx="304800" cy="9525"/>
          </a:xfrm>
          <a:prstGeom prst="rect">
            <a:avLst/>
          </a:prstGeom>
          <a:solidFill>
            <a:srgbClr val="2F4332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6963" y="5707856"/>
            <a:ext cx="84124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8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INTEGRITAS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081838" y="5784056"/>
            <a:ext cx="304800" cy="9525"/>
          </a:xfrm>
          <a:prstGeom prst="rect">
            <a:avLst/>
          </a:prstGeom>
          <a:solidFill>
            <a:srgbClr val="2F4332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229600" y="3157538"/>
            <a:ext cx="0" cy="2900363"/>
          </a:xfrm>
          <a:prstGeom prst="line">
            <a:avLst/>
          </a:prstGeom>
          <a:noFill/>
          <a:ln w="9525">
            <a:solidFill>
              <a:srgbClr val="2F4332">
                <a:alpha val="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3925" y="3148013"/>
            <a:ext cx="36576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A0A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43925" y="3538538"/>
            <a:ext cx="31363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LIABILITAS HUKUM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43925" y="3806428"/>
            <a:ext cx="3072384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Penyelenggara wajib memfilter produk untuk menghindari jeratan hukum sesuai regulasi terbaru.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43925" y="4750594"/>
            <a:ext cx="41148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A0A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3925" y="5141119"/>
            <a:ext cx="31363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PROTEKSI KONSUMEN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43925" y="5409009"/>
            <a:ext cx="3072384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 perlindungan dari penipuan pihak ketiga melalui verifikasi merchant yang transparan.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57300" y="652463"/>
            <a:ext cx="22768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KEBIJAKAN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57300" y="881063"/>
            <a:ext cx="22494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TANGGUNG JAWAB HUKUM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07963" y="1448693"/>
            <a:ext cx="6455664" cy="1197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90"/>
              </a:lnSpc>
              <a:buNone/>
            </a:pPr>
            <a:r>
              <a:rPr lang="en-US" sz="54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Produk Palsu di 
</a:t>
            </a:r>
            <a:r>
              <a:rPr lang="en-US" sz="36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7189663" y="1369219"/>
            <a:ext cx="4434840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350" i="1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"Peredaran barang palsu berdampak buruk pada ekonomi dan keamanan konsumen secara global."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188101" y="1995487"/>
            <a:ext cx="0" cy="650081"/>
          </a:xfrm>
          <a:prstGeom prst="line">
            <a:avLst/>
          </a:prstGeom>
          <a:noFill/>
          <a:ln w="19050">
            <a:solidFill>
              <a:srgbClr val="A0AC9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37313" y="1996678"/>
            <a:ext cx="417880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kini memikul tanggung jawab hukum lebih besar dalam memfilter produk pelanggar merek untuk menghindari liabilitas yang merugikan ekosistem digital.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9600" y="3102769"/>
            <a:ext cx="4305300" cy="30099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image.png"/>
          <p:cNvPicPr>
            <a:picLocks noChangeAspect="1"/>
          </p:cNvPicPr>
          <p:nvPr/>
        </p:nvPicPr>
        <p:blipFill>
          <a:blip r:embed="rId4"/>
          <a:srcRect r="18250"/>
          <a:stretch/>
        </p:blipFill>
        <p:spPr>
          <a:xfrm>
            <a:off x="685800" y="3178969"/>
            <a:ext cx="41529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36539" y="1866900"/>
            <a:ext cx="5224611" cy="4191000"/>
          </a:xfrm>
          <a:prstGeom prst="rect">
            <a:avLst/>
          </a:prstGeom>
          <a:solidFill>
            <a:srgbClr val="A0AC94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64313" y="1894284"/>
            <a:ext cx="4334256" cy="850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Analisis 
</a:t>
            </a:r>
            <a:r>
              <a:rPr lang="en-US" sz="225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REGULASI TERKINI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64313" y="3125093"/>
            <a:ext cx="4261104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Tahun 2026 menjadi titik balik penguatan regulasi transaksi elektronik melalui Permendag 19/2026 yang menekankan akuntabilitas platform secara menyeluruh di ekosistem digital.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64313" y="4002584"/>
            <a:ext cx="4261104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Perubahan besar ini menggeser fokus dari sekadar kepatuhan menjadi peran platform sebagai penjaga gerbang digital, dengan penegakan hukum ketat terhadap segala kelalaian operasional.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65950" y="5478959"/>
            <a:ext cx="457200" cy="1905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49890" y="5402759"/>
            <a:ext cx="190195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TINJAUAN EKOSISTEM 2026</a:t>
            </a:r>
            <a:endParaRPr lang="en-US" sz="900" dirty="0"/>
          </a:p>
        </p:txBody>
      </p:sp>
      <p:pic>
        <p:nvPicPr>
          <p:cNvPr id="9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3900" y="1676400"/>
            <a:ext cx="5305425" cy="396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57300" y="652463"/>
            <a:ext cx="20482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REGULASI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57300" y="881063"/>
            <a:ext cx="20208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KEBIJAKAN E-COMMERCE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9667970" y="676275"/>
            <a:ext cx="193852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TANGGUNG JAWAB HUKUM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9705975" y="914400"/>
            <a:ext cx="1876425" cy="9525"/>
          </a:xfrm>
          <a:prstGeom prst="rect">
            <a:avLst/>
          </a:prstGeom>
          <a:solidFill>
            <a:srgbClr val="2F4332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689550" y="2019300"/>
            <a:ext cx="1219200" cy="1219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4850" y="2366963"/>
            <a:ext cx="228600" cy="304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63728" y="2747963"/>
            <a:ext cx="69494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810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" y="476250"/>
            <a:ext cx="1905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7300" y="423863"/>
            <a:ext cx="256946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LEGALITAS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57300" y="652463"/>
            <a:ext cx="254203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KEBIJAKAN PLATFORM DIGITAL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9318212" y="561975"/>
            <a:ext cx="22951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ANALISIS KASUS / 2024 ARSIP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09600" y="3012281"/>
            <a:ext cx="10972800" cy="0"/>
          </a:xfrm>
          <a:prstGeom prst="line">
            <a:avLst/>
          </a:prstGeom>
          <a:noFill/>
          <a:ln w="9525">
            <a:solidFill>
              <a:srgbClr val="2F4332">
                <a:alpha val="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1163" y="1729308"/>
            <a:ext cx="6400800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51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STUDI KASUS 
</a:t>
            </a:r>
            <a:r>
              <a:rPr lang="en-US" sz="27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GUGATAN HUKUM PLATFORM</a:t>
            </a:r>
            <a:endParaRPr lang="en-US" sz="5100" dirty="0"/>
          </a:p>
        </p:txBody>
      </p:sp>
      <p:sp>
        <p:nvSpPr>
          <p:cNvPr id="10" name="Text 7"/>
          <p:cNvSpPr/>
          <p:nvPr/>
        </p:nvSpPr>
        <p:spPr>
          <a:xfrm>
            <a:off x="7232600" y="1707356"/>
            <a:ext cx="457200" cy="381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30963" y="1895475"/>
            <a:ext cx="4389120" cy="8138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584"/>
              </a:lnSpc>
              <a:buNone/>
            </a:pPr>
            <a:r>
              <a:rPr lang="en-US" sz="975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Analisis kasus nyata penjualan produk palsu di marketplace besar menyoroti kelalaian moderasi konten. Penggugat berargumen bahwa platform bertanggung jawab atas peredaran barang ilegal karena kurangnya pengawasan preventif.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609600" y="4267200"/>
            <a:ext cx="1188720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Kasus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838325" y="4457700"/>
            <a:ext cx="178308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PRODUK PALSU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38325" y="4610100"/>
            <a:ext cx="1783080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Kelalaian moderasi marketplace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9600" y="5067300"/>
            <a:ext cx="138988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2038350" y="5257800"/>
            <a:ext cx="19293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ARGUMEN PENGGUGAT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38350" y="5410200"/>
            <a:ext cx="19293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Tanggung jawab preventif platform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9600" y="5867400"/>
            <a:ext cx="1106424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Vonis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1752600" y="6057900"/>
            <a:ext cx="194767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PUTUSAN HAKIM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52600" y="6210300"/>
            <a:ext cx="194767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Filter ketat perlindungan konsumen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72100" y="4191000"/>
            <a:ext cx="62103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image.png"/>
          <p:cNvPicPr>
            <a:picLocks noChangeAspect="1"/>
          </p:cNvPicPr>
          <p:nvPr/>
        </p:nvPicPr>
        <p:blipFill>
          <a:blip r:embed="rId4"/>
          <a:srcRect b="64780"/>
          <a:stretch/>
        </p:blipFill>
        <p:spPr>
          <a:xfrm>
            <a:off x="5448300" y="4267200"/>
            <a:ext cx="6057900" cy="2133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924008" y="5967413"/>
            <a:ext cx="1429792" cy="280988"/>
          </a:xfrm>
          <a:prstGeom prst="rect">
            <a:avLst/>
          </a:prstGeom>
          <a:solidFill>
            <a:srgbClr val="2F4332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9924529" y="5965031"/>
            <a:ext cx="1453896" cy="292608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BUKTI DIGITAL A-101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962400" y="1524000"/>
            <a:ext cx="0" cy="438150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524000"/>
            <a:ext cx="3182112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5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Evaluasi 
</a:t>
            </a:r>
            <a:r>
              <a:rPr lang="en-US" sz="27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MEKANISME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09600" y="2876550"/>
            <a:ext cx="457200" cy="381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218259"/>
            <a:ext cx="3072384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Menilai efektivitas pelaporan konten sesuai Kepmen Komdigi 127/2026. Analisis mendalam terhadap sistem pelaporan konten saat ini untuk menjamin kepatuhan hukum yang optimal.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4531519"/>
            <a:ext cx="3038475" cy="1678781"/>
          </a:xfrm>
          <a:prstGeom prst="roundRect">
            <a:avLst>
              <a:gd name="adj" fmla="val 1135"/>
            </a:avLst>
          </a:prstGeom>
          <a:solidFill>
            <a:srgbClr val="2F4332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4531519"/>
            <a:ext cx="0" cy="1678781"/>
          </a:xfrm>
          <a:prstGeom prst="line">
            <a:avLst/>
          </a:prstGeom>
          <a:noFill/>
          <a:ln w="19050">
            <a:solidFill>
              <a:srgbClr val="2F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" y="4760119"/>
            <a:ext cx="264261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UTAMA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7250" y="5066109"/>
            <a:ext cx="25968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Mewujudkan sistem moderasi masa depan yang lebih adil dan responsif melalui transparansi algoritma dan pemulihan hak pengguna yang komprehensif.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19600" y="1676400"/>
            <a:ext cx="3352800" cy="1743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62800" y="1676400"/>
            <a:ext cx="609600" cy="609600"/>
          </a:xfrm>
          <a:prstGeom prst="rect">
            <a:avLst/>
          </a:prstGeom>
          <a:solidFill>
            <a:srgbClr val="A0AC9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23507" y="2162175"/>
            <a:ext cx="17190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1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TINGKAT KEPATUHAN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34175" y="1981200"/>
            <a:ext cx="841248" cy="4206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i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85%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724400" y="2514600"/>
            <a:ext cx="2743200" cy="76200"/>
          </a:xfrm>
          <a:prstGeom prst="roundRect">
            <a:avLst>
              <a:gd name="adj" fmla="val 100000"/>
            </a:avLst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24400" y="2514600"/>
            <a:ext cx="2331690" cy="7620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4400" y="2743200"/>
            <a:ext cx="2779776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9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EFEKTIVITAS SISTEM PELAPORAN.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419600" y="4029075"/>
            <a:ext cx="200918" cy="3810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19600" y="4086225"/>
            <a:ext cx="200025" cy="2667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72471" y="4029075"/>
            <a:ext cx="30998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KESEIMBANGAN HUKUM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72471" y="4255294"/>
            <a:ext cx="3035808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Menyeimbangkan kebebasan berpendapat dengan kewajiban hukum yang sangat ketat.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419600" y="4995863"/>
            <a:ext cx="223093" cy="3810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1535" y="5053013"/>
            <a:ext cx="219075" cy="2667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93084" y="4995863"/>
            <a:ext cx="30815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REKOMENDASI TEKNIS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93084" y="5222081"/>
            <a:ext cx="3017520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Peningkatan transparansi algoritma untuk sistem moderasi yang lebih objektif.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229600" y="1524000"/>
            <a:ext cx="3352800" cy="438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image.png"/>
          <p:cNvPicPr>
            <a:picLocks noChangeAspect="1"/>
          </p:cNvPicPr>
          <p:nvPr/>
        </p:nvPicPr>
        <p:blipFill>
          <a:blip r:embed="rId5"/>
          <a:srcRect r="57432"/>
          <a:stretch/>
        </p:blipFill>
        <p:spPr>
          <a:xfrm>
            <a:off x="8305800" y="1600200"/>
            <a:ext cx="3200400" cy="42291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58200" y="5024438"/>
            <a:ext cx="2895600" cy="6524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8458200" y="5024438"/>
            <a:ext cx="0" cy="652463"/>
          </a:xfrm>
          <a:prstGeom prst="line">
            <a:avLst/>
          </a:prstGeom>
          <a:noFill/>
          <a:ln w="38100">
            <a:solidFill>
              <a:srgbClr val="2F433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648700" y="5176838"/>
            <a:ext cx="263347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2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STATUS: IMPLEMENTASI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648700" y="5364956"/>
            <a:ext cx="263347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KEPMEN KOMDIGI / SEKTOR DIGITAL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57300" y="652463"/>
            <a:ext cx="258775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REGULASI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1257300" y="881063"/>
            <a:ext cx="256032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DIGITAL INDONESIA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0497443" y="607219"/>
            <a:ext cx="113385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20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FOKUS EVALUASI</a:t>
            </a:r>
            <a:endParaRPr lang="en-US" sz="675" dirty="0"/>
          </a:p>
        </p:txBody>
      </p:sp>
      <p:sp>
        <p:nvSpPr>
          <p:cNvPr id="37" name="Text 31"/>
          <p:cNvSpPr/>
          <p:nvPr/>
        </p:nvSpPr>
        <p:spPr>
          <a:xfrm>
            <a:off x="9104933" y="776288"/>
            <a:ext cx="258775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i="1" kern="0" spc="-90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MEKANISME TAKE-DOWN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0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 r="65128"/>
          <a:stretch/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6096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" y="704850"/>
            <a:ext cx="190500" cy="266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57300" y="652463"/>
            <a:ext cx="35478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370" dirty="0">
                <a:solidFill>
                  <a:srgbClr val="2F43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HUKUM DIGITAL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257300" y="881063"/>
            <a:ext cx="352958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0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KEBIJAKAN PLATFORM &amp; TANGGUNG JAWAB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09600" y="1524893"/>
            <a:ext cx="5660136" cy="11795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90"/>
              </a:lnSpc>
              <a:buNone/>
            </a:pPr>
            <a:r>
              <a:rPr lang="en-US" sz="54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Kesimpulan 
</a:t>
            </a:r>
            <a:r>
              <a:rPr lang="en-US" sz="36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 DISKUSI MATERI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609600" y="3003947"/>
            <a:ext cx="5522976" cy="603504"/>
          </a:xfrm>
          <a:prstGeom prst="rect">
            <a:avLst/>
          </a:prstGeom>
          <a:noFill/>
          <a:ln/>
        </p:spPr>
        <p:txBody>
          <a:bodyPr vert="horz" wrap="square" lIns="0" tIns="0" rIns="762000" bIns="0" rtlCol="0" anchor="t"/>
          <a:lstStyle/>
          <a:p>
            <a:pPr marL="0" indent="0" algn="just">
              <a:lnSpc>
                <a:spcPts val="1584"/>
              </a:lnSpc>
              <a:buNone/>
            </a:pPr>
            <a:r>
              <a:rPr lang="en-US" sz="975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Ringkasan menekankan moderasi konten sebagai keseimbangan antara pedoman internal dan hukum nasional, termasuk tanggung jawab hak cipta data AI serta refleksi hukum e-commerce sebelum sesi materi berikutnya.</a:t>
            </a:r>
            <a:endParaRPr lang="en-US" sz="975" dirty="0"/>
          </a:p>
        </p:txBody>
      </p:sp>
      <p:sp>
        <p:nvSpPr>
          <p:cNvPr id="10" name="Text 6"/>
          <p:cNvSpPr/>
          <p:nvPr/>
        </p:nvSpPr>
        <p:spPr>
          <a:xfrm>
            <a:off x="609600" y="4215408"/>
            <a:ext cx="3454301" cy="10382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09600" y="4215408"/>
            <a:ext cx="0" cy="1038225"/>
          </a:xfrm>
          <a:prstGeom prst="line">
            <a:avLst/>
          </a:prstGeom>
          <a:noFill/>
          <a:ln w="38100">
            <a:solidFill>
              <a:srgbClr val="2F43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4663" y="4444008"/>
            <a:ext cx="305409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TANYA JAWAB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76300" y="4682133"/>
            <a:ext cx="2350008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Implementasi </a:t>
            </a:r>
            <a:r>
              <a:rPr lang="en-US" sz="1050" b="1" dirty="0">
                <a:solidFill>
                  <a:srgbClr val="2F4332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PRAKTIS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368701" y="4215408"/>
            <a:ext cx="3454450" cy="10382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4368701" y="4215408"/>
            <a:ext cx="0" cy="1038225"/>
          </a:xfrm>
          <a:prstGeom prst="line">
            <a:avLst/>
          </a:prstGeom>
          <a:noFill/>
          <a:ln w="38100">
            <a:solidFill>
              <a:srgbClr val="A0AC9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33838" y="4444008"/>
            <a:ext cx="305409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0" dirty="0">
                <a:solidFill>
                  <a:srgbClr val="A0AC9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PERSIAPAN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635401" y="4682133"/>
            <a:ext cx="160020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 </a:t>
            </a:r>
            <a:r>
              <a:rPr lang="en-US" sz="1050" b="1" dirty="0">
                <a:solidFill>
                  <a:srgbClr val="2F4332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LANJUTAN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127950" y="4496395"/>
            <a:ext cx="1421160" cy="476250"/>
          </a:xfrm>
          <a:prstGeom prst="rect">
            <a:avLst/>
          </a:prstGeom>
          <a:solidFill>
            <a:srgbClr val="2F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128918" y="4496395"/>
            <a:ext cx="1453896" cy="484632"/>
          </a:xfrm>
          <a:prstGeom prst="rect">
            <a:avLst/>
          </a:prstGeom>
          <a:noFill/>
          <a:ln/>
        </p:spPr>
        <p:txBody>
          <a:bodyPr vert="horz" wrap="square" lIns="304800" tIns="152400" rIns="304800" bIns="1524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AKHIRI SESI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9600" y="5563195"/>
            <a:ext cx="10972800" cy="0"/>
          </a:xfrm>
          <a:prstGeom prst="line">
            <a:avLst/>
          </a:prstGeom>
          <a:noFill/>
          <a:ln w="9525">
            <a:solidFill>
              <a:srgbClr val="2F4332">
                <a:alpha val="1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7219" y="6008489"/>
            <a:ext cx="220370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60" dirty="0">
                <a:solidFill>
                  <a:srgbClr val="5A65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 HUKUM CYBER - PERTEMUAN AKHIR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2890838" y="6070402"/>
            <a:ext cx="381000" cy="9525"/>
          </a:xfrm>
          <a:prstGeom prst="rect">
            <a:avLst/>
          </a:prstGeom>
          <a:solidFill>
            <a:srgbClr val="A0AC9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1210925" y="5796558"/>
            <a:ext cx="45720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F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Widescreen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Poppins</vt:lpstr>
      <vt:lpstr>Noto Sans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intan .</cp:lastModifiedBy>
  <cp:revision>1</cp:revision>
  <dcterms:created xsi:type="dcterms:W3CDTF">2026-09-25T07:47:33Z</dcterms:created>
  <dcterms:modified xsi:type="dcterms:W3CDTF">2026-09-25T08:05:51Z</dcterms:modified>
</cp:coreProperties>
</file>