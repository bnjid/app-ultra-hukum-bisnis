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Lexend" panose="020B0604020202020204" charset="0"/>
      <p:regular r:id="rId18"/>
    </p:embeddedFont>
    <p:embeddedFont>
      <p:font typeface="Nunito ExtraLight" pitchFamily="2" charset="0"/>
      <p:regular r:id="rId19"/>
      <p: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8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1715393"/>
            <a:ext cx="10424160" cy="11795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008542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Hukum ITE dan Delik Siber</a:t>
            </a:r>
            <a:endParaRPr lang="en-US" sz="4200" dirty="0"/>
          </a:p>
          <a:p>
            <a:pPr marL="0" indent="0" algn="l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008542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dalam Bisnis Digital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3840361"/>
            <a:ext cx="10287000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4230886"/>
            <a:ext cx="427024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854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Disajikan Oleh: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500" y="4545211"/>
            <a:ext cx="427024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Dr. </a:t>
            </a:r>
            <a:r>
              <a:rPr lang="en-US" sz="1500" dirty="0" err="1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Apik</a:t>
            </a: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Anitasari</a:t>
            </a: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Intan </a:t>
            </a:r>
            <a:r>
              <a:rPr lang="en-US" sz="1500" dirty="0" err="1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Saputri</a:t>
            </a: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S.H.,M.H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29350" y="4230886"/>
            <a:ext cx="479145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8542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Disajikan Kepada: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9350" y="4545211"/>
            <a:ext cx="479145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 err="1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Mahasiswa</a:t>
            </a:r>
            <a:r>
              <a:rPr lang="en-US" sz="16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S1 </a:t>
            </a:r>
            <a:r>
              <a:rPr lang="en-US" sz="1600" dirty="0" err="1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Bisnis</a:t>
            </a:r>
            <a:r>
              <a:rPr lang="en-US" sz="16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Digital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Universitas </a:t>
            </a:r>
            <a:r>
              <a:rPr lang="en-US" sz="1600" dirty="0" err="1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Amikom</a:t>
            </a:r>
            <a:r>
              <a:rPr lang="en-US" sz="16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Purwokerto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466725"/>
            <a:ext cx="4219575" cy="5924550"/>
          </a:xfrm>
          <a:prstGeom prst="roundRect">
            <a:avLst>
              <a:gd name="adj" fmla="val 45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3500" y="2562225"/>
            <a:ext cx="3383280" cy="6949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5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Daftar Isi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524500" y="466725"/>
            <a:ext cx="6076950" cy="5924550"/>
          </a:xfrm>
          <a:prstGeom prst="roundRect">
            <a:avLst>
              <a:gd name="adj" fmla="val 32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810250" y="1319213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0250" y="976312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62675" y="1000051"/>
            <a:ext cx="239572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Pendahuluan Pertemuan 9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5810250" y="1938337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10250" y="1595438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2675" y="1538288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Perkembangan Regulasi UU ITE di Indonesia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810250" y="2557463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10250" y="2214563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2675" y="2157413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Analisis UU No. 1 Tahun 2024: Poin Perubahan Penting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5810250" y="3192512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0250" y="2841575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62675" y="2703537"/>
            <a:ext cx="2350008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Perbuatan yang Dilarang: Pencemaran Nama Baik &amp; Ujaran Kebencian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5810250" y="3811637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0250" y="3468737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62675" y="3411587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Delik Siber: Akses Ilegal dan Hacking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5810250" y="4430762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10250" y="4087862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62675" y="4030712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Intersepsi Ilegal dan Penyadapan Informasi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5810250" y="5049887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10250" y="4706987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07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162675" y="4649837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Tanggung Jawab Penyelenggara Sistem Elektronik (PSSE)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5810250" y="5669012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10250" y="5326112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08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162675" y="5268962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Konsep Safe Harbor Principle bagi Marketplace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8667750" y="1319213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67750" y="976312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09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020175" y="919162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Kewajiban Media Sosial terhadap Konten Pengguna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8667750" y="1938337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67750" y="1595438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10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020175" y="1538288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Studi Kasus: Konten Promosi dan Endorsement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8667750" y="2557463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67750" y="2214563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11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020175" y="2157413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Masalah Hukum Ulasan Palsu (Fake Review)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8667750" y="3176588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67750" y="2833688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12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020175" y="2776538"/>
            <a:ext cx="2350008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Upaya Mitigasi Risiko Hukum Bisnis Digital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8667750" y="3795713"/>
            <a:ext cx="2667000" cy="0"/>
          </a:xfrm>
          <a:prstGeom prst="line">
            <a:avLst/>
          </a:prstGeom>
          <a:noFill/>
          <a:ln w="9525">
            <a:solidFill>
              <a:srgbClr val="CFF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7750" y="3452813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13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020175" y="3476551"/>
            <a:ext cx="239572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kern="0" spc="2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Kesimpulan dan Diskusi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57525" y="457200"/>
            <a:ext cx="6208776" cy="6766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Pendahuluan Pertemuan 9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095500" y="1657350"/>
            <a:ext cx="3810000" cy="1938337"/>
          </a:xfrm>
          <a:prstGeom prst="roundRect">
            <a:avLst>
              <a:gd name="adj" fmla="val 9828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76500" y="2038350"/>
            <a:ext cx="3118104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Sesi Belajar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476500" y="2483644"/>
            <a:ext cx="309067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Selamat datang di sesi pembelajaran mendalam mengenai Hukum ITE dan Delik Siber.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6286500" y="1657350"/>
            <a:ext cx="3810000" cy="1938337"/>
          </a:xfrm>
          <a:prstGeom prst="roundRect">
            <a:avLst>
              <a:gd name="adj" fmla="val 9828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7500" y="2038350"/>
            <a:ext cx="3118104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Tujuan Utama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67500" y="2483644"/>
            <a:ext cx="309067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Memahami batasan hukum serta kewajiban yang harus dipenuhi oleh setiap platform digital.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2095500" y="3976687"/>
            <a:ext cx="3810000" cy="1938337"/>
          </a:xfrm>
          <a:prstGeom prst="roundRect">
            <a:avLst>
              <a:gd name="adj" fmla="val 9828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76500" y="4357688"/>
            <a:ext cx="3118104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Urgensi Bisnis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476500" y="4802981"/>
            <a:ext cx="309067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Kepatuhan hukum sangat krusial bagi keberlangsungan operasional bisnis di era digital saat ini.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286500" y="3976687"/>
            <a:ext cx="3810000" cy="1938337"/>
          </a:xfrm>
          <a:prstGeom prst="roundRect">
            <a:avLst>
              <a:gd name="adj" fmla="val 9828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67500" y="4357688"/>
            <a:ext cx="3118104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Fokus Kajian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667500" y="4802981"/>
            <a:ext cx="309067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Integrasi regulasi siber dalam strategi bisnis untuk mitigasi risiko pelanggaran hukum.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665833"/>
            <a:ext cx="4672584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Perkembangan Regulasi UU ITE di Indonesia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5857875" y="666750"/>
            <a:ext cx="5495925" cy="2667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7875" y="666750"/>
            <a:ext cx="5495925" cy="266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7875" y="3619500"/>
            <a:ext cx="5495925" cy="2667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57875" y="3619500"/>
            <a:ext cx="5495925" cy="2667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8200" y="3810000"/>
            <a:ext cx="4286250" cy="1933575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076325" y="4048125"/>
            <a:ext cx="3858768" cy="1463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Evolusi hukum dari UU No. 11/2008 ke UU No. 19/2016 memperkuat kepastian hukum. Kini, UU No. 1/2024 merevisi aturan bisnis digital dan tindak pidana siber guna menjawab tantangan ekonomi digital serta perlindungan data yang dinamis di Indonesia.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50416"/>
            <a:ext cx="3941064" cy="1645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Analisis UU No. 1 Tahun 2024: Poin Penting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2872383"/>
            <a:ext cx="385876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Penyesuaian krusial dalam regulasi terbaru untuk menjamin kepastian hukum dan keadilan di ekosistem digital Indonesia.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10250" y="933004"/>
            <a:ext cx="5524500" cy="1536948"/>
          </a:xfrm>
          <a:prstGeom prst="roundRect">
            <a:avLst>
              <a:gd name="adj" fmla="val 12395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1170161"/>
            <a:ext cx="5111496" cy="329184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Penyesuaian Pasal Krusial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96000" y="1513061"/>
            <a:ext cx="5001768" cy="7223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Mengatur ulang delik pencemaran nama baik dan ujaran kebencian demi keadilan yang lebih baik bagi pengguna ruang digital.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10250" y="2660452"/>
            <a:ext cx="5524500" cy="1536948"/>
          </a:xfrm>
          <a:prstGeom prst="roundRect">
            <a:avLst>
              <a:gd name="adj" fmla="val 12395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0" y="2897609"/>
            <a:ext cx="5111496" cy="329184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Harmonisasi Hak Hukum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6000" y="3240509"/>
            <a:ext cx="5001768" cy="7223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Keseimbangan antara kebebasan berpendapat dengan perlindungan hukum terhadap hak pribadi serta reputasi bisnis.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10250" y="4387900"/>
            <a:ext cx="5524500" cy="1536948"/>
          </a:xfrm>
          <a:prstGeom prst="roundRect">
            <a:avLst>
              <a:gd name="adj" fmla="val 12395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0" y="4625057"/>
            <a:ext cx="5111496" cy="329184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Implikasi Pelaku Usaha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96000" y="4967957"/>
            <a:ext cx="5001768" cy="7223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Bisnis digital wajib meningkatkan standar moderasi konten dan transparansi algoritma guna menghindari jerat pidana terbaru.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57937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946523"/>
            <a:ext cx="4087368" cy="2185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Pencemaran Nama Baik &amp; Ujaran Kebencian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4412307"/>
            <a:ext cx="4014216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Memahami batasan hukum dalam transmisi informasi elektronik untuk menjaga kehormatan dan ketertiban sosial di ruang siber bisnis digital.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76900" y="571500"/>
            <a:ext cx="5753100" cy="6436370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7400" y="762000"/>
            <a:ext cx="53721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76900" y="4422279"/>
            <a:ext cx="57531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57900" y="3476625"/>
            <a:ext cx="50383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Definisi &amp; Delik Hukum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57900" y="3751808"/>
            <a:ext cx="5029200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Penghinaan mencakup transmisi informasi yang menyerang kehormatan, termasuk memviralkan fakta tanpa verifikasi hukum.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76900" y="5824091"/>
            <a:ext cx="57531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7900" y="4665166"/>
            <a:ext cx="50383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Batasan SARA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57900" y="4942210"/>
            <a:ext cx="5029200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Larangan keras penyebaran informasi yang memicu kebencian atau permusuhan berdasarkan suku, agama, ras, dan antargolongan.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57900" y="6066979"/>
            <a:ext cx="50383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Sanksi Pidana ITE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057900" y="6342162"/>
            <a:ext cx="5029200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Pelanggar konten negatif menghadapi hukuman penjara dan denda materiil sesuai dengan revisi terbaru UU ITE.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426666"/>
            <a:ext cx="4700016" cy="1645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Delik Siber:</a:t>
            </a:r>
            <a:endParaRPr lang="en-US" sz="3900" dirty="0"/>
          </a:p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Akses Ilegal dan Hacking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857875" y="1285875"/>
            <a:ext cx="549592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0" y="152400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524000"/>
            <a:ext cx="2143125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7250" y="1671563"/>
            <a:ext cx="2679192" cy="11338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Pasal 30 ayat (1) UU ITE melarang peretasan guna melindungi integritas data milik pihak lain dalam sistem elektronik.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5857875" y="3571875"/>
            <a:ext cx="549592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96000" y="381000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3810000"/>
            <a:ext cx="2143125" cy="1428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77250" y="3957563"/>
            <a:ext cx="2679192" cy="11338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KUHP baru memperkuat perlindungan hukum terhadap penyadapan dan akses ilegal demi menjaga keamanan privasi masyarakat.</a:t>
            </a:r>
            <a:endParaRPr lang="en-US" sz="1275" dirty="0"/>
          </a:p>
        </p:txBody>
      </p:sp>
      <p:sp>
        <p:nvSpPr>
          <p:cNvPr id="12" name="Text 8"/>
          <p:cNvSpPr/>
          <p:nvPr/>
        </p:nvSpPr>
        <p:spPr>
          <a:xfrm>
            <a:off x="838200" y="4048125"/>
            <a:ext cx="428625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076325" y="4286250"/>
            <a:ext cx="3858768" cy="10332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Tindakan masuk ke sistem tanpa izin diklasifikasikan sebagai pelanggaran serius yang merusak integritas data dan sistem milik orang lain.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293540"/>
            <a:ext cx="4370832" cy="6217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455"/>
              </a:lnSpc>
              <a:buNone/>
            </a:pPr>
            <a:r>
              <a:rPr lang="en-US" sz="40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Intersepsi Ilegal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762000" y="1859235"/>
            <a:ext cx="4370832" cy="6217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455"/>
              </a:lnSpc>
              <a:buNone/>
            </a:pPr>
            <a:r>
              <a:rPr lang="en-US" sz="40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dan Penyadapan</a:t>
            </a:r>
            <a:endParaRPr lang="en-US" sz="4050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575" y="3213646"/>
            <a:ext cx="4095750" cy="2324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76900" y="762000"/>
            <a:ext cx="5753100" cy="5334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62650" y="1312664"/>
            <a:ext cx="571500" cy="571500"/>
          </a:xfrm>
          <a:prstGeom prst="roundRect">
            <a:avLst>
              <a:gd name="adj" fmla="val 1600000"/>
            </a:avLst>
          </a:prstGeom>
          <a:solidFill>
            <a:srgbClr val="FFFFFF"/>
          </a:solidFill>
          <a:ln w="19050">
            <a:solidFill>
              <a:srgbClr val="00A9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57913" y="1393627"/>
            <a:ext cx="265176" cy="411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772275" y="1231702"/>
            <a:ext cx="441655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Larangan Hukum:</a:t>
            </a: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Larangan melakukan intersepsi transmisi elektronik secara melawan hukum kini diselaraskan dalam KUHP baru dan UU ITE.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62650" y="2227957"/>
            <a:ext cx="571500" cy="571500"/>
          </a:xfrm>
          <a:prstGeom prst="roundRect">
            <a:avLst>
              <a:gd name="adj" fmla="val 1600000"/>
            </a:avLst>
          </a:prstGeom>
          <a:solidFill>
            <a:srgbClr val="FFFFFF"/>
          </a:solidFill>
          <a:ln w="19050">
            <a:solidFill>
              <a:srgbClr val="00A9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157913" y="2308920"/>
            <a:ext cx="265176" cy="411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772275" y="2146995"/>
            <a:ext cx="441655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Privasi Data:</a:t>
            </a: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Regulasi ini bertujuan untuk melindungi privasi komunikasi digital bagi seluruh warga negara secara komprehensif.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962650" y="3143250"/>
            <a:ext cx="571500" cy="571500"/>
          </a:xfrm>
          <a:prstGeom prst="roundRect">
            <a:avLst>
              <a:gd name="adj" fmla="val 1600000"/>
            </a:avLst>
          </a:prstGeom>
          <a:solidFill>
            <a:srgbClr val="FFFFFF"/>
          </a:solidFill>
          <a:ln w="19050">
            <a:solidFill>
              <a:srgbClr val="00A9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57913" y="3224213"/>
            <a:ext cx="265176" cy="411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772275" y="3062288"/>
            <a:ext cx="441655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Pengecualian:</a:t>
            </a: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Pengecualian tindakan intersepsi hanya berlaku secara resmi untuk kepentingan penegakan hukum oleh otoritas berwenang.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962650" y="4058543"/>
            <a:ext cx="571500" cy="571500"/>
          </a:xfrm>
          <a:prstGeom prst="roundRect">
            <a:avLst>
              <a:gd name="adj" fmla="val 1600000"/>
            </a:avLst>
          </a:prstGeom>
          <a:solidFill>
            <a:srgbClr val="FFFFFF"/>
          </a:solidFill>
          <a:ln w="19050">
            <a:solidFill>
              <a:srgbClr val="00A9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57913" y="4139505"/>
            <a:ext cx="265176" cy="411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772275" y="3977580"/>
            <a:ext cx="441655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Risiko Pidana:</a:t>
            </a: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Pelaku penyadapan data digital pribadi menghadapi ancaman risiko pidana berat sesuai ketentuan hukum yang berlaku.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962650" y="4973836"/>
            <a:ext cx="571500" cy="571500"/>
          </a:xfrm>
          <a:prstGeom prst="roundRect">
            <a:avLst>
              <a:gd name="adj" fmla="val 1600000"/>
            </a:avLst>
          </a:prstGeom>
          <a:solidFill>
            <a:srgbClr val="FFFFFF"/>
          </a:solidFill>
          <a:ln w="19050">
            <a:solidFill>
              <a:srgbClr val="00A9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157913" y="5054798"/>
            <a:ext cx="265176" cy="411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772275" y="4892873"/>
            <a:ext cx="441655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Transisi Hukum:</a:t>
            </a: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Sanksi pelanggaran akan sepenuhnya beralih ke mekanisme KUHP nasional yang baru pada bulan September 2026 mendatang.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144786"/>
            <a:ext cx="3557016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Tanggung Jawab PSSE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2613422"/>
            <a:ext cx="3483864" cy="1435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Kewajiban platform dalam moderasi informasi mendesak dan tata kelola konten digital sesuai regulasi ITE yang berlaku di Indonesia.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57750" y="1143000"/>
            <a:ext cx="2190750" cy="4572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67300" y="1428750"/>
            <a:ext cx="182880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Moderasi Konten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57063" y="2228850"/>
            <a:ext cx="105156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Regulasi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67300" y="2741265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86375" y="2744093"/>
            <a:ext cx="1591056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Kelola konten mendesak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67300" y="3343126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86375" y="3345954"/>
            <a:ext cx="1591056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Kepatuhan aturan PDP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67300" y="3944987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86375" y="3947815"/>
            <a:ext cx="1591056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Standar moderasi info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86625" y="1143000"/>
            <a:ext cx="2190750" cy="4572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9525" y="1428750"/>
            <a:ext cx="1563624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Aspek Hukum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07382" y="2190750"/>
            <a:ext cx="81381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Sanksi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6175" y="2703165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15250" y="2705993"/>
            <a:ext cx="1591056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Tanggung jawab perdata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6175" y="3305026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15250" y="3305026"/>
            <a:ext cx="1536192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Sanksi administratif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6175" y="3663107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15250" y="3665934"/>
            <a:ext cx="1591056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Kepastian hukum platform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15500" y="1143000"/>
            <a:ext cx="2190750" cy="4572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25050" y="1428750"/>
            <a:ext cx="182880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Take Down Konten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69081" y="2228850"/>
            <a:ext cx="134416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Mekanisme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25050" y="2741265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44125" y="2741265"/>
            <a:ext cx="152704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Hapus konten ilegal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25050" y="3099346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44125" y="3102173"/>
            <a:ext cx="1591056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Prosedur pemutusan akses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25050" y="3701207"/>
            <a:ext cx="1920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44125" y="3704034"/>
            <a:ext cx="1591056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Pengawasan informasi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571500"/>
            <a:ext cx="4416552" cy="6766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b="1" kern="0" spc="-80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Prinsip Safe Harbor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724650" y="695325"/>
            <a:ext cx="4610100" cy="428625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20960" y="790575"/>
            <a:ext cx="427024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Perlindungan Hukum bagi Perantara Digital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7250" y="1628775"/>
            <a:ext cx="3260824" cy="3810000"/>
          </a:xfrm>
          <a:prstGeom prst="roundRect">
            <a:avLst>
              <a:gd name="adj" fmla="val 58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4637" y="1914525"/>
            <a:ext cx="2752344" cy="338328"/>
          </a:xfrm>
          <a:prstGeom prst="rect">
            <a:avLst/>
          </a:prstGeom>
          <a:noFill/>
          <a:ln/>
        </p:spPr>
        <p:txBody>
          <a:bodyPr vert="horz" wrap="square" lIns="0" tIns="0" rIns="28575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Intermediary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4637" y="2437209"/>
            <a:ext cx="2734056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Marketplace berperan sebagai perantara yang tidak bertanggung jawab penuh atas konten ilegal pihak ketiga.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144637" y="3615928"/>
            <a:ext cx="2734056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Doktrin ini melindungi platform dari tuntutan hukum langsung terkait transaksi atau data pengguna.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499074" y="1628775"/>
            <a:ext cx="3193703" cy="3810000"/>
          </a:xfrm>
          <a:prstGeom prst="roundRect">
            <a:avLst>
              <a:gd name="adj" fmla="val 5965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9074" y="1628775"/>
            <a:ext cx="3190875" cy="3810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73777" y="1628775"/>
            <a:ext cx="3260973" cy="3810000"/>
          </a:xfrm>
          <a:prstGeom prst="roundRect">
            <a:avLst>
              <a:gd name="adj" fmla="val 58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361238" y="1914525"/>
            <a:ext cx="2752344" cy="338328"/>
          </a:xfrm>
          <a:prstGeom prst="rect">
            <a:avLst/>
          </a:prstGeom>
          <a:noFill/>
          <a:ln/>
        </p:spPr>
        <p:txBody>
          <a:bodyPr vert="horz" wrap="square" lIns="0" tIns="0" rIns="28575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Syarat &amp; Take Down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361238" y="2437209"/>
            <a:ext cx="2734056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Platform bebas tuntutan jika memiliki kebijakan 'take down' yang responsif terhadap laporan pelanggaran.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8361238" y="3615928"/>
            <a:ext cx="2734056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Kepatuhan terhadap regulasi ITE menjadi kunci utama dalam menjaga status perlindungan hukum ini.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62300" y="762000"/>
            <a:ext cx="6007608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Kewajiban Media Sosial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971675" y="1685925"/>
            <a:ext cx="8248650" cy="485775"/>
          </a:xfrm>
          <a:prstGeom prst="roundRect">
            <a:avLst>
              <a:gd name="adj" fmla="val 58824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41315" y="1809750"/>
            <a:ext cx="7964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Tanggung jawab platform dalam moderasi konten di bawah hukum ITE Indonesia.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2500" y="2743200"/>
            <a:ext cx="3174950" cy="32039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58901" y="3133725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00A9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35126" y="3276600"/>
            <a:ext cx="310896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39788" y="4133850"/>
            <a:ext cx="186537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Moderasi Konten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49338" y="4583311"/>
            <a:ext cx="2624328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Media sosial berperan krusial dalam moderasi konten ilegal melalui standar komunitas yang ketat.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8450" y="2743200"/>
            <a:ext cx="3174950" cy="32039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4851" y="3133725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00A9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91076" y="3276600"/>
            <a:ext cx="310896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105251" y="4133850"/>
            <a:ext cx="2039112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Kepatuhan Hukum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5288" y="4583311"/>
            <a:ext cx="2624328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Penerapan standar komunitas harus selaras dengan regulasi hukum ITE yang berlaku di wilayah Indonesia.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64401" y="2743200"/>
            <a:ext cx="3175099" cy="32039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270950" y="3133725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00A9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537650" y="3276600"/>
            <a:ext cx="329184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828038" y="4133850"/>
            <a:ext cx="1709928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Risiko Platform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1313" y="4583311"/>
            <a:ext cx="2624328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Kelalaian memenuhi kewajiban hukum dapat mengakibatkan risiko pemblokiran akses platform secara nasional.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54286"/>
            <a:ext cx="3749040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Konten Promosi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2042815"/>
            <a:ext cx="3822192" cy="6035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&amp; Endorsement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2000" y="2967633"/>
            <a:ext cx="3483864" cy="1527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Analisis kepatuhan hukum dalam pemasaran digital dan tanggung jawab hukum bagi para pelaku industri kreatif sesuai regulasi ITE terbaru.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57750" y="966788"/>
            <a:ext cx="2190750" cy="492442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0" y="1252538"/>
            <a:ext cx="1874520" cy="61264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Analisis Barang Ilegal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48250" y="2290763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48250" y="2290763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Larangan promosi barang ilegal sesuai revisi UU 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8250" y="3119438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48250" y="3119438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Verifikasi legalitas produk sebelum kampanye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48250" y="3948112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8250" y="3948112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Kepatuhan pada standar pidana siber terbaru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86625" y="966788"/>
            <a:ext cx="2190750" cy="492442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77125" y="1252538"/>
            <a:ext cx="1874520" cy="61264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Tanggung Jawab Hukum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77125" y="2290763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7125" y="2290763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Beban hukum kolektif antara influencer dan brand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7125" y="3119438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77125" y="3119438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Validasi akurasi informasi dalam iklan digital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77125" y="3948112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77125" y="3948112"/>
            <a:ext cx="1856232" cy="4572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Mitigasi risiko hukum terhadap delik siber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15500" y="966788"/>
            <a:ext cx="2190750" cy="492442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906000" y="1252538"/>
            <a:ext cx="1874520" cy="61264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Informasi Menyesatkan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06000" y="2290763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06000" y="2290763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Pelanggaran UU ITE terkait konten manipulatif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06000" y="3119438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06000" y="3119438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Sanksi atas penyebaran berita iklan palsu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06000" y="3948112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06000" y="3948112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Perlindungan konsumen dalam transaksi digital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06000" y="4776788"/>
            <a:ext cx="1737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A96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06000" y="4776788"/>
            <a:ext cx="1856232" cy="6858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Transparansi klaim dalam materi endorsement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804988"/>
            <a:ext cx="3977640" cy="1645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Masalah Hukum Ulasan Palsu (Fake Review)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71500" y="3679254"/>
            <a:ext cx="3895344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Analisis fenomena manipulasi ulasan di platform e-commerce yang merugikan konsumen serta implikasi hukumnya berdasarkan peraturan perundang-undangan di Indonesia.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91100" y="904875"/>
            <a:ext cx="3171825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29225" y="1335881"/>
            <a:ext cx="2761488" cy="310896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Fenomena Manipulasi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29225" y="1781175"/>
            <a:ext cx="2734056" cy="1078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Manipulasi ulasan dalam ekosistem bisnis e-commerce merupakan praktik curang yang menciptakan persaingan tidak sehat dan merugikan kepercayaan pasar secara digital.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448675" y="904875"/>
            <a:ext cx="3171825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0" y="1335881"/>
            <a:ext cx="2761488" cy="310896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Kategorisasi Delik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0" y="1781175"/>
            <a:ext cx="2734056" cy="1078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Tindakan penyebaran ulasan palsu diklasifikasikan sebagai bentuk penipuan konsumen atau penyebaran informasi menyesatkan yang secara eksplisit melanggar ketentuan UU ITE.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991100" y="3571875"/>
            <a:ext cx="3171825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29225" y="4002881"/>
            <a:ext cx="2761488" cy="310896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Sanksi &amp; Denda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29225" y="4448175"/>
            <a:ext cx="2734056" cy="1078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Pemilik bisnis dan penyedia jasa ulasan manipulatif terancam sanksi pidana penjara serta denda material yang berat sebagai konsekuensi dari pelanggaran hukum siber.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448675" y="3571875"/>
            <a:ext cx="3171825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86800" y="3895725"/>
            <a:ext cx="2761488" cy="310896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Kepatuhan Hukum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0" y="4343400"/>
            <a:ext cx="2734056" cy="1289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Integritas data ulasan sangat krusial bagi kepatuhan hukum bisnis digital. Perusahaan wajib memastikan kejujuran informasi untuk menghindari jeratan hukum pidana siber.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0789920" cy="6309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Upaya Mitigasi Risiko Hukum Bisnis Digital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4844" y="1295400"/>
            <a:ext cx="109362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Langkah strategis dalam mengelola kepatuhan dan keamanan operasional di era digital.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009775"/>
            <a:ext cx="3365450" cy="38100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49313" y="2390775"/>
            <a:ext cx="2852928" cy="61264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Audit Kepatuhan Hukum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9313" y="3190801"/>
            <a:ext cx="283464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Melakukan audit hukum secara berkala sangat penting untuk mendeteksi celah regulasi sedini mungkin dan memastikan kepatuhan penuh.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13200" y="2009775"/>
            <a:ext cx="3365450" cy="38100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00513" y="2390775"/>
            <a:ext cx="2852928" cy="310896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Penyusunan ToS Kuat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0513" y="2886001"/>
            <a:ext cx="283464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Penyusunan Syarat dan Ketentuan (Terms of Service) yang komprehensif berfungsi sebagai perlindungan hukum utama bagi platform digital.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64401" y="2009775"/>
            <a:ext cx="3365599" cy="38100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51788" y="2390775"/>
            <a:ext cx="2852928" cy="310896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Edukasi Tim Internal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51788" y="2885033"/>
            <a:ext cx="2834640" cy="1655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Memberikan pemahaman mendalam kepada tim internal mengenai batasan delik siber guna meminimalisir risiko pelanggaran UU ITE secara tidak sengaja.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84491"/>
          </a:xfrm>
          <a:prstGeom prst="rect">
            <a:avLst/>
          </a:prstGeom>
          <a:solidFill>
            <a:srgbClr val="CFF1D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38438" y="457200"/>
            <a:ext cx="6876288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Kesimpulan dan Diskusi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619250" y="1866900"/>
            <a:ext cx="4286250" cy="2089696"/>
          </a:xfrm>
          <a:prstGeom prst="roundRect">
            <a:avLst>
              <a:gd name="adj" fmla="val 91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00250" y="2247900"/>
            <a:ext cx="3593592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Ringkasan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000250" y="2754585"/>
            <a:ext cx="357530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UU ITE dan UU No. 1/2024 mewajibkan PSSE bertanggung jawab atas konten ilegal dan keamanan data bisnis digital.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86500" y="1866900"/>
            <a:ext cx="4286250" cy="2089696"/>
          </a:xfrm>
          <a:prstGeom prst="roundRect">
            <a:avLst>
              <a:gd name="adj" fmla="val 91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7500" y="2247900"/>
            <a:ext cx="3593592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Tanya Jawab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67500" y="2754585"/>
            <a:ext cx="357530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Sesi diskusi interaktif mengenai navigasi hukum siber dan penerapan aturan dalam operasional bisnis harian.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19250" y="4337596"/>
            <a:ext cx="4286250" cy="2089696"/>
          </a:xfrm>
          <a:prstGeom prst="roundRect">
            <a:avLst>
              <a:gd name="adj" fmla="val 91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00250" y="4718596"/>
            <a:ext cx="3593592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Penutup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000250" y="5225281"/>
            <a:ext cx="357530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Evaluasi akhir pemahaman materi mengenai batasan hukum siber serta implementasi prinsip Safe Harbor.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86500" y="4337596"/>
            <a:ext cx="4286250" cy="2089696"/>
          </a:xfrm>
          <a:prstGeom prst="roundRect">
            <a:avLst>
              <a:gd name="adj" fmla="val 91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67500" y="4718596"/>
            <a:ext cx="3593592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A968"/>
                </a:solidFill>
                <a:latin typeface="Nunito ExtraLight" pitchFamily="34" charset="0"/>
                <a:ea typeface="Nunito ExtraLight" pitchFamily="34" charset="-122"/>
                <a:cs typeface="Nunito ExtraLight" pitchFamily="34" charset="-120"/>
              </a:rPr>
              <a:t>Langkah Lanjut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67500" y="5225281"/>
            <a:ext cx="357530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Penerapan kepatuhan regulasi digital secara berkelanjutan untuk mitigasi risiko delik siber di masa depan.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1184</Words>
  <Application>Microsoft Office PowerPoint</Application>
  <PresentationFormat>Widescreen</PresentationFormat>
  <Paragraphs>191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Nunito ExtraLight</vt:lpstr>
      <vt:lpstr>Arial</vt:lpstr>
      <vt:lpstr>Calibri</vt:lpstr>
      <vt:lpstr>Lexend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百度文库 v1.0.0</dc:creator>
  <cp:lastModifiedBy>intan .</cp:lastModifiedBy>
  <cp:revision>2</cp:revision>
  <dcterms:created xsi:type="dcterms:W3CDTF">2026-09-25T07:44:35Z</dcterms:created>
  <dcterms:modified xsi:type="dcterms:W3CDTF">2026-09-25T08:05:21Z</dcterms:modified>
</cp:coreProperties>
</file>