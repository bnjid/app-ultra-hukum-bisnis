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Montserrat Thin" panose="020F0502020204030204" pitchFamily="2" charset="0"/>
      <p:regular r:id="rId18"/>
    </p:embeddedFont>
    <p:embeddedFont>
      <p:font typeface="Roboto" panose="02000000000000000000" pitchFamily="2"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13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2B744-1F5D-C043-301E-FDD5B511294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55DFE12-9F2D-5C02-CB4E-F751FE8F5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5EBCF58-121B-07D5-A815-26D8F07A51B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1A86961-DCD7-4645-629C-CA20538B316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6BD3A4-947F-334B-D97A-4F9F3DD187F3}"/>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2855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D0380-950D-0EB3-F821-03F4508FB8A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5035F00-FD85-51C4-43B5-7F049F5901B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1B2DB4-D29F-9C6A-5999-72150C15B99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AB74DC32-465E-F753-963C-7B7C968501D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EBFEF8-E4F3-D916-581F-219CD84106A6}"/>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55085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207A4-E570-9A26-41C4-3ABA7F38592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C78DFE1-769D-C827-9998-F44CEA38F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E1AAB41-3DDB-1920-EDE7-45768C2B8875}"/>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2EB322CD-8F7B-88BA-A2A3-A3A458215D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033F1C7-D3F0-2A37-B94E-239E844774E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417463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A0752-9F6C-2508-AE2B-3F7A7EF3637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D9CC9D8-3C56-F907-B56A-E5B8589E5D7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0C444C7-103E-FD3F-090E-FDB5759D2C4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217FCF-2142-E0CA-6C18-6C95D4342F43}"/>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664D8E9F-253E-1D82-97A9-15CA654745C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D77128A-737C-CA38-3862-20CEA44F66EB}"/>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329208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56D1A-FB16-5E31-A106-DCF02DAC97B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AB02E7C-260D-60C5-FCCA-DFC01F142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2BAA659-ACC6-6F45-429A-9678890E78F8}"/>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13D315E-F577-54BA-0BC7-11B2F9E497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3699DE7-3CB8-893F-47F6-D80F369F8B61}"/>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B0DFB00-0D40-DE77-E458-EEAD8647A13E}"/>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8" name="页脚占位符 7">
            <a:extLst>
              <a:ext uri="{FF2B5EF4-FFF2-40B4-BE49-F238E27FC236}">
                <a16:creationId xmlns:a16="http://schemas.microsoft.com/office/drawing/2014/main" id="{BE3B62EA-C11C-ED4C-E412-13015E94D64B}"/>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0B67572-C038-B8EE-3F4A-66F2EB5BC8D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907959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ACFB3-6E7C-10C3-4227-DCC235908A1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DEFDC94-EB77-1206-3206-1B33F78EA5BB}"/>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4" name="页脚占位符 3">
            <a:extLst>
              <a:ext uri="{FF2B5EF4-FFF2-40B4-BE49-F238E27FC236}">
                <a16:creationId xmlns:a16="http://schemas.microsoft.com/office/drawing/2014/main" id="{7AFB27BA-C6C4-956D-BB12-8D4F16B5CFF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DD0AACD-7B23-7A5E-6C34-7DCB44F64192}"/>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6249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546190-2158-46F8-6A32-12FE189EC47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3" name="页脚占位符 2">
            <a:extLst>
              <a:ext uri="{FF2B5EF4-FFF2-40B4-BE49-F238E27FC236}">
                <a16:creationId xmlns:a16="http://schemas.microsoft.com/office/drawing/2014/main" id="{AD3512C2-3838-72C2-51DD-8E9040126F7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6007A5F-B186-54C0-5D19-2284F293A9DE}"/>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91775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735BD-C3BB-8927-3AF4-94F9438CBE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2616762-3893-E59B-CB9B-C02C1AA3B6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270AA56D-7451-C3C5-6D51-B2650A454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28E855-990E-30E6-3512-97221C46C6FF}"/>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E47DA99E-7FBF-A00D-442B-2D8D7E7893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51B805B-BFA9-DDA6-CEEA-6ADEA1A0E43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8691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BD84F-84C9-AF27-1A59-8346212BD96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BB0A76F-B479-8050-2AD7-B9A011F11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E0EFA31-6C28-3C82-9363-FE2CAD862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E00E6CE-098C-0ED3-86A0-E120929DDF6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D50CC86E-6091-D81E-FA00-BF21FA580A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DE2F81-7731-1152-9792-87A036E1A7E4}"/>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808534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11DD4-0674-E844-9E12-5F2805D4717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0F851AA-3284-5ED7-C023-2D29A389897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1C3777-D1E7-BA80-B662-AF007330B33D}"/>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B0D95CC9-AF53-F0AA-FD40-F3E2CCEC5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BD1B16D-B121-595D-C223-CB5F9D1248F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33416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10C1838-1DC8-7579-5F22-B30187479BF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D670889-BEC7-D29F-E1AC-BF218674A2B1}"/>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115CB33-44D0-A76C-3FF3-EEA9A801CFD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578635D-6139-9A84-B3F9-9BCA803552D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941DB96-ECF2-C664-F90E-E7B4E08A6745}"/>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5339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C56813-2AEB-CC25-B5BE-39156AC4A5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5FFF8B-ED7D-4F9C-5CD8-CC3E43D1D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31D59E3-C823-D4DA-54BF-4D8DB9BF0F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9AC1EF5F-1486-06C8-051E-7B825CAD5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B6A3C8D-E9F0-A63A-F26B-7851D262D8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313459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0F1EE"/>
          </a:solidFill>
          <a:ln/>
        </p:spPr>
        <p:txBody>
          <a:bodyPr wrap="square" rtlCol="0" anchor="ctr"/>
          <a:lstStyle/>
          <a:p>
            <a:pPr marL="0" indent="0">
              <a:buNone/>
            </a:pPr>
            <a:endParaRPr lang="en-US" dirty="0"/>
          </a:p>
        </p:txBody>
      </p:sp>
      <p:sp>
        <p:nvSpPr>
          <p:cNvPr id="3" name="Text 1"/>
          <p:cNvSpPr/>
          <p:nvPr/>
        </p:nvSpPr>
        <p:spPr>
          <a:xfrm>
            <a:off x="0" y="0"/>
            <a:ext cx="1333500" cy="6858000"/>
          </a:xfrm>
          <a:prstGeom prst="rect">
            <a:avLst/>
          </a:prstGeom>
          <a:solidFill>
            <a:srgbClr val="84877E"/>
          </a:solidFill>
          <a:ln/>
        </p:spPr>
        <p:txBody>
          <a:bodyPr wrap="square" rtlCol="0" anchor="ctr"/>
          <a:lstStyle/>
          <a:p>
            <a:pPr marL="0" indent="0">
              <a:buNone/>
            </a:pPr>
            <a:endParaRPr lang="en-US" dirty="0"/>
          </a:p>
        </p:txBody>
      </p:sp>
      <p:sp>
        <p:nvSpPr>
          <p:cNvPr id="4" name="Text 2"/>
          <p:cNvSpPr/>
          <p:nvPr/>
        </p:nvSpPr>
        <p:spPr>
          <a:xfrm>
            <a:off x="1333500" y="0"/>
            <a:ext cx="114300" cy="6858000"/>
          </a:xfrm>
          <a:prstGeom prst="rect">
            <a:avLst/>
          </a:prstGeom>
          <a:solidFill>
            <a:srgbClr val="2F3A30"/>
          </a:solidFill>
          <a:ln/>
        </p:spPr>
        <p:txBody>
          <a:bodyPr wrap="square" rtlCol="0" anchor="ctr"/>
          <a:lstStyle/>
          <a:p>
            <a:pPr marL="0" indent="0">
              <a:buNone/>
            </a:pPr>
            <a:endParaRPr lang="en-US" dirty="0"/>
          </a:p>
        </p:txBody>
      </p:sp>
      <p:sp>
        <p:nvSpPr>
          <p:cNvPr id="5" name="Text 3"/>
          <p:cNvSpPr/>
          <p:nvPr/>
        </p:nvSpPr>
        <p:spPr>
          <a:xfrm>
            <a:off x="2400300" y="1896517"/>
            <a:ext cx="1143000" cy="76200"/>
          </a:xfrm>
          <a:prstGeom prst="rect">
            <a:avLst/>
          </a:prstGeom>
          <a:solidFill>
            <a:srgbClr val="2F3A30"/>
          </a:solidFill>
          <a:ln/>
        </p:spPr>
        <p:txBody>
          <a:bodyPr wrap="square" rtlCol="0" anchor="ctr"/>
          <a:lstStyle/>
          <a:p>
            <a:pPr marL="0" indent="0">
              <a:buNone/>
            </a:pPr>
            <a:endParaRPr lang="en-US" dirty="0"/>
          </a:p>
        </p:txBody>
      </p:sp>
      <p:sp>
        <p:nvSpPr>
          <p:cNvPr id="6" name="Text 4"/>
          <p:cNvSpPr/>
          <p:nvPr/>
        </p:nvSpPr>
        <p:spPr>
          <a:xfrm>
            <a:off x="2400300" y="2447925"/>
            <a:ext cx="8970264" cy="1197864"/>
          </a:xfrm>
          <a:prstGeom prst="rect">
            <a:avLst/>
          </a:prstGeom>
          <a:noFill/>
          <a:ln/>
        </p:spPr>
        <p:txBody>
          <a:bodyPr vert="horz" wrap="square" lIns="0" tIns="0" rIns="0" bIns="0" rtlCol="0" anchor="t"/>
          <a:lstStyle/>
          <a:p>
            <a:pPr marL="0" indent="0" algn="l">
              <a:lnSpc>
                <a:spcPts val="4680"/>
              </a:lnSpc>
              <a:buNone/>
            </a:pPr>
            <a:r>
              <a:rPr lang="en-US" sz="3900" b="1" kern="0" spc="-80" dirty="0">
                <a:solidFill>
                  <a:srgbClr val="1A211B"/>
                </a:solidFill>
                <a:latin typeface="Montserrat Thin" pitchFamily="34" charset="0"/>
                <a:ea typeface="Montserrat Thin" pitchFamily="34" charset="-122"/>
                <a:cs typeface="Montserrat Thin" pitchFamily="34" charset="-120"/>
              </a:rPr>
              <a:t>Hukum Kontrak Elektronik dan</a:t>
            </a:r>
            <a:endParaRPr lang="en-US" sz="3900" dirty="0"/>
          </a:p>
          <a:p>
            <a:pPr marL="0" indent="0" algn="l">
              <a:lnSpc>
                <a:spcPts val="4680"/>
              </a:lnSpc>
              <a:buNone/>
            </a:pPr>
            <a:r>
              <a:rPr lang="en-US" sz="3900" b="1" kern="0" spc="-80" dirty="0">
                <a:solidFill>
                  <a:srgbClr val="1A211B"/>
                </a:solidFill>
                <a:latin typeface="Montserrat Thin" pitchFamily="34" charset="0"/>
                <a:ea typeface="Montserrat Thin" pitchFamily="34" charset="-122"/>
                <a:cs typeface="Montserrat Thin" pitchFamily="34" charset="-120"/>
              </a:rPr>
              <a:t>Syarat Sah Perjanjian</a:t>
            </a:r>
            <a:endParaRPr lang="en-US" sz="3900" dirty="0"/>
          </a:p>
        </p:txBody>
      </p:sp>
      <p:sp>
        <p:nvSpPr>
          <p:cNvPr id="7" name="Shape 5"/>
          <p:cNvSpPr/>
          <p:nvPr/>
        </p:nvSpPr>
        <p:spPr>
          <a:xfrm>
            <a:off x="2400300" y="3923258"/>
            <a:ext cx="0" cy="276225"/>
          </a:xfrm>
          <a:prstGeom prst="line">
            <a:avLst/>
          </a:prstGeom>
          <a:noFill/>
          <a:ln w="47625">
            <a:solidFill>
              <a:srgbClr val="84877E"/>
            </a:solidFill>
            <a:prstDash val="solid"/>
          </a:ln>
        </p:spPr>
      </p:sp>
      <p:sp>
        <p:nvSpPr>
          <p:cNvPr id="8" name="Text 6"/>
          <p:cNvSpPr/>
          <p:nvPr/>
        </p:nvSpPr>
        <p:spPr>
          <a:xfrm>
            <a:off x="2400300" y="3923258"/>
            <a:ext cx="9079992" cy="310896"/>
          </a:xfrm>
          <a:prstGeom prst="rect">
            <a:avLst/>
          </a:prstGeom>
          <a:noFill/>
          <a:ln/>
        </p:spPr>
        <p:txBody>
          <a:bodyPr vert="horz" wrap="none" lIns="190500" tIns="0" rIns="0" bIns="0" rtlCol="0" anchor="t">
            <a:normAutofit/>
          </a:bodyPr>
          <a:lstStyle/>
          <a:p>
            <a:pPr marL="0" indent="0" algn="l">
              <a:lnSpc>
                <a:spcPts val="2160"/>
              </a:lnSpc>
              <a:buNone/>
            </a:pPr>
            <a:r>
              <a:rPr lang="en-US" sz="1800" b="1" kern="0" spc="150" dirty="0">
                <a:solidFill>
                  <a:srgbClr val="555952"/>
                </a:solidFill>
                <a:latin typeface="Montserrat Thin" pitchFamily="34" charset="0"/>
                <a:ea typeface="Montserrat Thin" pitchFamily="34" charset="-122"/>
                <a:cs typeface="Montserrat Thin" pitchFamily="34" charset="-120"/>
              </a:rPr>
              <a:t>TINJAUAN HUKUM SIBER DI INDONESIA</a:t>
            </a:r>
            <a:endParaRPr lang="en-US" sz="1800" dirty="0"/>
          </a:p>
        </p:txBody>
      </p:sp>
      <p:sp>
        <p:nvSpPr>
          <p:cNvPr id="9" name="Shape 7"/>
          <p:cNvSpPr/>
          <p:nvPr/>
        </p:nvSpPr>
        <p:spPr>
          <a:xfrm>
            <a:off x="2400300" y="5538787"/>
            <a:ext cx="8839200" cy="0"/>
          </a:xfrm>
          <a:prstGeom prst="line">
            <a:avLst/>
          </a:prstGeom>
          <a:noFill/>
          <a:ln w="9525">
            <a:solidFill>
              <a:srgbClr val="D0D2CE"/>
            </a:solidFill>
            <a:prstDash val="solid"/>
          </a:ln>
        </p:spPr>
      </p:sp>
      <p:sp>
        <p:nvSpPr>
          <p:cNvPr id="10" name="Text 8"/>
          <p:cNvSpPr/>
          <p:nvPr/>
        </p:nvSpPr>
        <p:spPr>
          <a:xfrm>
            <a:off x="2400300" y="5829300"/>
            <a:ext cx="1572768" cy="182880"/>
          </a:xfrm>
          <a:prstGeom prst="rect">
            <a:avLst/>
          </a:prstGeom>
          <a:noFill/>
          <a:ln/>
        </p:spPr>
        <p:txBody>
          <a:bodyPr vert="horz" wrap="none" lIns="0" tIns="0" rIns="0" bIns="0" rtlCol="0" anchor="t">
            <a:normAutofit/>
          </a:bodyPr>
          <a:lstStyle/>
          <a:p>
            <a:pPr marL="0" indent="0" algn="l">
              <a:lnSpc>
                <a:spcPts val="1260"/>
              </a:lnSpc>
              <a:buNone/>
            </a:pPr>
            <a:r>
              <a:rPr lang="en-US" sz="1050" b="1" kern="0" spc="70" dirty="0">
                <a:solidFill>
                  <a:srgbClr val="84877E"/>
                </a:solidFill>
                <a:latin typeface="Roboto" pitchFamily="34" charset="0"/>
                <a:ea typeface="Roboto" pitchFamily="34" charset="-122"/>
                <a:cs typeface="Roboto" pitchFamily="34" charset="-120"/>
              </a:rPr>
              <a:t>DISAJIKAN OLEH</a:t>
            </a:r>
            <a:endParaRPr lang="en-US" sz="1050" dirty="0"/>
          </a:p>
        </p:txBody>
      </p:sp>
      <p:sp>
        <p:nvSpPr>
          <p:cNvPr id="11" name="Text 9"/>
          <p:cNvSpPr/>
          <p:nvPr/>
        </p:nvSpPr>
        <p:spPr>
          <a:xfrm>
            <a:off x="2400300" y="6057900"/>
            <a:ext cx="1591056" cy="265176"/>
          </a:xfrm>
          <a:prstGeom prst="rect">
            <a:avLst/>
          </a:prstGeom>
          <a:noFill/>
          <a:ln/>
        </p:spPr>
        <p:txBody>
          <a:bodyPr vert="horz" wrap="none" lIns="0" tIns="0" rIns="0" bIns="0" rtlCol="0" anchor="t">
            <a:normAutofit/>
          </a:bodyPr>
          <a:lstStyle/>
          <a:p>
            <a:pPr marL="0" indent="0" algn="l">
              <a:lnSpc>
                <a:spcPts val="1800"/>
              </a:lnSpc>
              <a:buNone/>
            </a:pPr>
            <a:r>
              <a:rPr lang="en-US" sz="1500" b="1" dirty="0">
                <a:solidFill>
                  <a:srgbClr val="2F3A30"/>
                </a:solidFill>
                <a:latin typeface="Roboto" pitchFamily="34" charset="0"/>
                <a:ea typeface="Roboto" pitchFamily="34" charset="-122"/>
                <a:cs typeface="Roboto" pitchFamily="34" charset="-120"/>
              </a:rPr>
              <a:t>Dr. </a:t>
            </a:r>
            <a:r>
              <a:rPr lang="en-US" sz="1500" b="1" dirty="0" err="1">
                <a:solidFill>
                  <a:srgbClr val="2F3A30"/>
                </a:solidFill>
                <a:latin typeface="Roboto" pitchFamily="34" charset="0"/>
                <a:ea typeface="Roboto" pitchFamily="34" charset="-122"/>
                <a:cs typeface="Roboto" pitchFamily="34" charset="-120"/>
              </a:rPr>
              <a:t>Apik</a:t>
            </a:r>
            <a:r>
              <a:rPr lang="en-US" sz="1500" b="1" dirty="0">
                <a:solidFill>
                  <a:srgbClr val="2F3A30"/>
                </a:solidFill>
                <a:latin typeface="Roboto" pitchFamily="34" charset="0"/>
                <a:ea typeface="Roboto" pitchFamily="34" charset="-122"/>
                <a:cs typeface="Roboto" pitchFamily="34" charset="-120"/>
              </a:rPr>
              <a:t> </a:t>
            </a:r>
            <a:r>
              <a:rPr lang="en-US" sz="1500" b="1" dirty="0" err="1">
                <a:solidFill>
                  <a:srgbClr val="2F3A30"/>
                </a:solidFill>
                <a:latin typeface="Roboto" pitchFamily="34" charset="0"/>
                <a:ea typeface="Roboto" pitchFamily="34" charset="-122"/>
                <a:cs typeface="Roboto" pitchFamily="34" charset="-120"/>
              </a:rPr>
              <a:t>Anitasari</a:t>
            </a:r>
            <a:r>
              <a:rPr lang="en-US" sz="1500" b="1" dirty="0">
                <a:solidFill>
                  <a:srgbClr val="2F3A30"/>
                </a:solidFill>
                <a:latin typeface="Roboto" pitchFamily="34" charset="0"/>
                <a:ea typeface="Roboto" pitchFamily="34" charset="-122"/>
                <a:cs typeface="Roboto" pitchFamily="34" charset="-120"/>
              </a:rPr>
              <a:t> Intan </a:t>
            </a:r>
            <a:r>
              <a:rPr lang="en-US" sz="1500" b="1" dirty="0" err="1">
                <a:solidFill>
                  <a:srgbClr val="2F3A30"/>
                </a:solidFill>
                <a:latin typeface="Roboto" pitchFamily="34" charset="0"/>
                <a:ea typeface="Roboto" pitchFamily="34" charset="-122"/>
                <a:cs typeface="Roboto" pitchFamily="34" charset="-120"/>
              </a:rPr>
              <a:t>Saputri</a:t>
            </a:r>
            <a:r>
              <a:rPr lang="en-US" sz="1500" b="1" dirty="0">
                <a:solidFill>
                  <a:srgbClr val="2F3A30"/>
                </a:solidFill>
                <a:latin typeface="Roboto" pitchFamily="34" charset="0"/>
                <a:ea typeface="Roboto" pitchFamily="34" charset="-122"/>
                <a:cs typeface="Roboto" pitchFamily="34" charset="-120"/>
              </a:rPr>
              <a:t> S.H.,M.H</a:t>
            </a:r>
            <a:endParaRPr lang="en-US" sz="1500" dirty="0"/>
          </a:p>
        </p:txBody>
      </p:sp>
      <p:sp>
        <p:nvSpPr>
          <p:cNvPr id="12" name="Text 10"/>
          <p:cNvSpPr/>
          <p:nvPr/>
        </p:nvSpPr>
        <p:spPr>
          <a:xfrm>
            <a:off x="7711786" y="5829300"/>
            <a:ext cx="1728216" cy="182880"/>
          </a:xfrm>
          <a:prstGeom prst="rect">
            <a:avLst/>
          </a:prstGeom>
          <a:noFill/>
          <a:ln/>
        </p:spPr>
        <p:txBody>
          <a:bodyPr vert="horz" wrap="none" lIns="0" tIns="0" rIns="0" bIns="0" rtlCol="0" anchor="t">
            <a:normAutofit/>
          </a:bodyPr>
          <a:lstStyle/>
          <a:p>
            <a:pPr marL="0" indent="0" algn="l">
              <a:lnSpc>
                <a:spcPts val="1260"/>
              </a:lnSpc>
              <a:buNone/>
            </a:pPr>
            <a:endParaRPr lang="en-US" sz="1050" dirty="0"/>
          </a:p>
        </p:txBody>
      </p:sp>
      <p:sp>
        <p:nvSpPr>
          <p:cNvPr id="13" name="Text 11"/>
          <p:cNvSpPr/>
          <p:nvPr/>
        </p:nvSpPr>
        <p:spPr>
          <a:xfrm>
            <a:off x="7711786" y="6012180"/>
            <a:ext cx="1746504" cy="265176"/>
          </a:xfrm>
          <a:prstGeom prst="rect">
            <a:avLst/>
          </a:prstGeom>
          <a:noFill/>
          <a:ln/>
        </p:spPr>
        <p:txBody>
          <a:bodyPr vert="horz" wrap="none" lIns="0" tIns="0" rIns="0" bIns="0" rtlCol="0" anchor="t">
            <a:normAutofit/>
          </a:bodyPr>
          <a:lstStyle/>
          <a:p>
            <a:pPr marL="0" indent="0" algn="l">
              <a:lnSpc>
                <a:spcPts val="1800"/>
              </a:lnSpc>
              <a:buNone/>
            </a:pPr>
            <a:r>
              <a:rPr lang="en-US" sz="1500" b="1" dirty="0">
                <a:solidFill>
                  <a:srgbClr val="2F3A30"/>
                </a:solidFill>
                <a:latin typeface="Roboto" pitchFamily="34" charset="0"/>
                <a:ea typeface="Roboto" pitchFamily="34" charset="-122"/>
                <a:cs typeface="Roboto" pitchFamily="34" charset="-120"/>
              </a:rPr>
              <a:t>Universitas </a:t>
            </a:r>
            <a:r>
              <a:rPr lang="en-US" sz="1500" b="1" dirty="0" err="1">
                <a:solidFill>
                  <a:srgbClr val="2F3A30"/>
                </a:solidFill>
                <a:latin typeface="Roboto" pitchFamily="34" charset="0"/>
                <a:ea typeface="Roboto" pitchFamily="34" charset="-122"/>
                <a:cs typeface="Roboto" pitchFamily="34" charset="-120"/>
              </a:rPr>
              <a:t>Amikom</a:t>
            </a:r>
            <a:r>
              <a:rPr lang="en-US" sz="1500" b="1" dirty="0">
                <a:solidFill>
                  <a:srgbClr val="2F3A30"/>
                </a:solidFill>
                <a:latin typeface="Roboto" pitchFamily="34" charset="0"/>
                <a:ea typeface="Roboto" pitchFamily="34" charset="-122"/>
                <a:cs typeface="Roboto" pitchFamily="34" charset="-120"/>
              </a:rPr>
              <a:t> </a:t>
            </a:r>
            <a:r>
              <a:rPr lang="en-US" sz="1500" b="1" dirty="0" err="1">
                <a:solidFill>
                  <a:srgbClr val="2F3A30"/>
                </a:solidFill>
                <a:latin typeface="Roboto" pitchFamily="34" charset="0"/>
                <a:ea typeface="Roboto" pitchFamily="34" charset="-122"/>
                <a:cs typeface="Roboto" pitchFamily="34" charset="-120"/>
              </a:rPr>
              <a:t>Purwokerto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7572375"/>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666750" y="476250"/>
            <a:ext cx="10858500" cy="1219200"/>
          </a:xfrm>
          <a:prstGeom prst="rect">
            <a:avLst/>
          </a:prstGeom>
          <a:solidFill>
            <a:srgbClr val="D8DBD8"/>
          </a:solidFill>
          <a:ln/>
        </p:spPr>
        <p:txBody>
          <a:bodyPr wrap="square" rtlCol="0" anchor="ctr"/>
          <a:lstStyle/>
          <a:p>
            <a:pPr marL="0" indent="0">
              <a:buNone/>
            </a:pPr>
            <a:endParaRPr lang="en-US" dirty="0"/>
          </a:p>
        </p:txBody>
      </p:sp>
      <p:sp>
        <p:nvSpPr>
          <p:cNvPr id="4" name="Shape 2"/>
          <p:cNvSpPr/>
          <p:nvPr/>
        </p:nvSpPr>
        <p:spPr>
          <a:xfrm>
            <a:off x="666750" y="476250"/>
            <a:ext cx="0" cy="1219200"/>
          </a:xfrm>
          <a:prstGeom prst="line">
            <a:avLst/>
          </a:prstGeom>
          <a:noFill/>
          <a:ln w="95250">
            <a:solidFill>
              <a:srgbClr val="5D645B"/>
            </a:solidFill>
            <a:prstDash val="solid"/>
          </a:ln>
        </p:spPr>
      </p:sp>
      <p:sp>
        <p:nvSpPr>
          <p:cNvPr id="5" name="Text 3"/>
          <p:cNvSpPr/>
          <p:nvPr/>
        </p:nvSpPr>
        <p:spPr>
          <a:xfrm>
            <a:off x="1047750" y="666750"/>
            <a:ext cx="10277856" cy="841248"/>
          </a:xfrm>
          <a:prstGeom prst="rect">
            <a:avLst/>
          </a:prstGeom>
          <a:noFill/>
          <a:ln/>
        </p:spPr>
        <p:txBody>
          <a:bodyPr vert="horz" wrap="square" lIns="0" tIns="0" rIns="0" bIns="0" rtlCol="0" anchor="t"/>
          <a:lstStyle/>
          <a:p>
            <a:pPr marL="0" indent="0" algn="l">
              <a:lnSpc>
                <a:spcPts val="3240"/>
              </a:lnSpc>
              <a:buNone/>
            </a:pPr>
            <a:r>
              <a:rPr lang="en-US" sz="2700" b="1" kern="0" spc="70" dirty="0">
                <a:solidFill>
                  <a:srgbClr val="000000"/>
                </a:solidFill>
                <a:latin typeface="Montserrat Thin" pitchFamily="34" charset="0"/>
                <a:ea typeface="Montserrat Thin" pitchFamily="34" charset="-122"/>
                <a:cs typeface="Montserrat Thin" pitchFamily="34" charset="-120"/>
              </a:rPr>
              <a:t>HUKUM KONTRAK ELEKTRONIK DAN SYARAT SAH PERJANJIAN</a:t>
            </a:r>
            <a:endParaRPr lang="en-US" sz="2700" dirty="0"/>
          </a:p>
        </p:txBody>
      </p:sp>
      <p:sp>
        <p:nvSpPr>
          <p:cNvPr id="6" name="Text 4"/>
          <p:cNvSpPr/>
          <p:nvPr/>
        </p:nvSpPr>
        <p:spPr>
          <a:xfrm>
            <a:off x="666750" y="207645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7" name="Text 5"/>
          <p:cNvSpPr/>
          <p:nvPr/>
        </p:nvSpPr>
        <p:spPr>
          <a:xfrm>
            <a:off x="819150" y="221932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8" name="Text 6"/>
          <p:cNvSpPr/>
          <p:nvPr/>
        </p:nvSpPr>
        <p:spPr>
          <a:xfrm>
            <a:off x="819150" y="221932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01</a:t>
            </a:r>
            <a:endParaRPr lang="en-US" sz="1200" dirty="0"/>
          </a:p>
        </p:txBody>
      </p:sp>
      <p:sp>
        <p:nvSpPr>
          <p:cNvPr id="9" name="Text 7"/>
          <p:cNvSpPr/>
          <p:nvPr/>
        </p:nvSpPr>
        <p:spPr>
          <a:xfrm>
            <a:off x="1295400" y="2304976"/>
            <a:ext cx="2404872"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Tujuan Pembelajaran dan Pendahuluan</a:t>
            </a:r>
            <a:endParaRPr lang="en-US" sz="1050" dirty="0"/>
          </a:p>
        </p:txBody>
      </p:sp>
      <p:sp>
        <p:nvSpPr>
          <p:cNvPr id="10" name="Text 8"/>
          <p:cNvSpPr/>
          <p:nvPr/>
        </p:nvSpPr>
        <p:spPr>
          <a:xfrm>
            <a:off x="666750" y="280987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11" name="Text 9"/>
          <p:cNvSpPr/>
          <p:nvPr/>
        </p:nvSpPr>
        <p:spPr>
          <a:xfrm>
            <a:off x="819150" y="295275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12" name="Text 10"/>
          <p:cNvSpPr/>
          <p:nvPr/>
        </p:nvSpPr>
        <p:spPr>
          <a:xfrm>
            <a:off x="819150" y="295275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02</a:t>
            </a:r>
            <a:endParaRPr lang="en-US" sz="1200" dirty="0"/>
          </a:p>
        </p:txBody>
      </p:sp>
      <p:sp>
        <p:nvSpPr>
          <p:cNvPr id="13" name="Text 11"/>
          <p:cNvSpPr/>
          <p:nvPr/>
        </p:nvSpPr>
        <p:spPr>
          <a:xfrm>
            <a:off x="1295400" y="3038401"/>
            <a:ext cx="2825496"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Konsep Dasar Hukum Perjanjian Konvensional</a:t>
            </a:r>
            <a:endParaRPr lang="en-US" sz="1050" dirty="0"/>
          </a:p>
        </p:txBody>
      </p:sp>
      <p:sp>
        <p:nvSpPr>
          <p:cNvPr id="14" name="Text 12"/>
          <p:cNvSpPr/>
          <p:nvPr/>
        </p:nvSpPr>
        <p:spPr>
          <a:xfrm>
            <a:off x="666750" y="354330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15" name="Text 13"/>
          <p:cNvSpPr/>
          <p:nvPr/>
        </p:nvSpPr>
        <p:spPr>
          <a:xfrm>
            <a:off x="819150" y="368617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16" name="Text 14"/>
          <p:cNvSpPr/>
          <p:nvPr/>
        </p:nvSpPr>
        <p:spPr>
          <a:xfrm>
            <a:off x="819150" y="368617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03</a:t>
            </a:r>
            <a:endParaRPr lang="en-US" sz="1200" dirty="0"/>
          </a:p>
        </p:txBody>
      </p:sp>
      <p:sp>
        <p:nvSpPr>
          <p:cNvPr id="17" name="Text 15"/>
          <p:cNvSpPr/>
          <p:nvPr/>
        </p:nvSpPr>
        <p:spPr>
          <a:xfrm>
            <a:off x="1295400" y="3771826"/>
            <a:ext cx="3566160"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Penerapan Pasal 1320 KUH Perdata dalam Konteks Digital</a:t>
            </a:r>
            <a:endParaRPr lang="en-US" sz="1050" dirty="0"/>
          </a:p>
        </p:txBody>
      </p:sp>
      <p:sp>
        <p:nvSpPr>
          <p:cNvPr id="18" name="Text 16"/>
          <p:cNvSpPr/>
          <p:nvPr/>
        </p:nvSpPr>
        <p:spPr>
          <a:xfrm>
            <a:off x="666750" y="427672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19" name="Text 17"/>
          <p:cNvSpPr/>
          <p:nvPr/>
        </p:nvSpPr>
        <p:spPr>
          <a:xfrm>
            <a:off x="819150" y="441960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20" name="Text 18"/>
          <p:cNvSpPr/>
          <p:nvPr/>
        </p:nvSpPr>
        <p:spPr>
          <a:xfrm>
            <a:off x="819150" y="441960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04</a:t>
            </a:r>
            <a:endParaRPr lang="en-US" sz="1200" dirty="0"/>
          </a:p>
        </p:txBody>
      </p:sp>
      <p:sp>
        <p:nvSpPr>
          <p:cNvPr id="21" name="Text 19"/>
          <p:cNvSpPr/>
          <p:nvPr/>
        </p:nvSpPr>
        <p:spPr>
          <a:xfrm>
            <a:off x="1295400" y="4505251"/>
            <a:ext cx="3209544"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Perbedaan Kontrak Tradisional vs Kontrak Elektronik</a:t>
            </a:r>
            <a:endParaRPr lang="en-US" sz="1050" dirty="0"/>
          </a:p>
        </p:txBody>
      </p:sp>
      <p:sp>
        <p:nvSpPr>
          <p:cNvPr id="22" name="Text 20"/>
          <p:cNvSpPr/>
          <p:nvPr/>
        </p:nvSpPr>
        <p:spPr>
          <a:xfrm>
            <a:off x="666750" y="501015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23" name="Text 21"/>
          <p:cNvSpPr/>
          <p:nvPr/>
        </p:nvSpPr>
        <p:spPr>
          <a:xfrm>
            <a:off x="819150" y="515302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24" name="Text 22"/>
          <p:cNvSpPr/>
          <p:nvPr/>
        </p:nvSpPr>
        <p:spPr>
          <a:xfrm>
            <a:off x="819150" y="515302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05</a:t>
            </a:r>
            <a:endParaRPr lang="en-US" sz="1200" dirty="0"/>
          </a:p>
        </p:txBody>
      </p:sp>
      <p:sp>
        <p:nvSpPr>
          <p:cNvPr id="25" name="Text 23"/>
          <p:cNvSpPr/>
          <p:nvPr/>
        </p:nvSpPr>
        <p:spPr>
          <a:xfrm>
            <a:off x="1295400" y="5238676"/>
            <a:ext cx="3392424"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Anatomi E-Contract: Terms of Service dan Kontrak Baku</a:t>
            </a:r>
            <a:endParaRPr lang="en-US" sz="1050" dirty="0"/>
          </a:p>
        </p:txBody>
      </p:sp>
      <p:sp>
        <p:nvSpPr>
          <p:cNvPr id="26" name="Text 24"/>
          <p:cNvSpPr/>
          <p:nvPr/>
        </p:nvSpPr>
        <p:spPr>
          <a:xfrm>
            <a:off x="666750" y="574357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27" name="Text 25"/>
          <p:cNvSpPr/>
          <p:nvPr/>
        </p:nvSpPr>
        <p:spPr>
          <a:xfrm>
            <a:off x="819150" y="588645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28" name="Text 26"/>
          <p:cNvSpPr/>
          <p:nvPr/>
        </p:nvSpPr>
        <p:spPr>
          <a:xfrm>
            <a:off x="819150" y="588645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06</a:t>
            </a:r>
            <a:endParaRPr lang="en-US" sz="1200" dirty="0"/>
          </a:p>
        </p:txBody>
      </p:sp>
      <p:sp>
        <p:nvSpPr>
          <p:cNvPr id="29" name="Text 27"/>
          <p:cNvSpPr/>
          <p:nvPr/>
        </p:nvSpPr>
        <p:spPr>
          <a:xfrm>
            <a:off x="1295400" y="5972101"/>
            <a:ext cx="2944368"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Kebijakan Privasi dan Perlindungan Data Pribadi</a:t>
            </a:r>
            <a:endParaRPr lang="en-US" sz="1050" dirty="0"/>
          </a:p>
        </p:txBody>
      </p:sp>
      <p:sp>
        <p:nvSpPr>
          <p:cNvPr id="30" name="Text 28"/>
          <p:cNvSpPr/>
          <p:nvPr/>
        </p:nvSpPr>
        <p:spPr>
          <a:xfrm>
            <a:off x="666750" y="647700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31" name="Text 29"/>
          <p:cNvSpPr/>
          <p:nvPr/>
        </p:nvSpPr>
        <p:spPr>
          <a:xfrm>
            <a:off x="819150" y="661987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32" name="Text 30"/>
          <p:cNvSpPr/>
          <p:nvPr/>
        </p:nvSpPr>
        <p:spPr>
          <a:xfrm>
            <a:off x="819150" y="661987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07</a:t>
            </a:r>
            <a:endParaRPr lang="en-US" sz="1200" dirty="0"/>
          </a:p>
        </p:txBody>
      </p:sp>
      <p:sp>
        <p:nvSpPr>
          <p:cNvPr id="33" name="Text 31"/>
          <p:cNvSpPr/>
          <p:nvPr/>
        </p:nvSpPr>
        <p:spPr>
          <a:xfrm>
            <a:off x="1295400" y="6705526"/>
            <a:ext cx="3108960"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Mekanisme Persetujuan: Klik-wrap vs Browse-wrap</a:t>
            </a:r>
            <a:endParaRPr lang="en-US" sz="1050" dirty="0"/>
          </a:p>
        </p:txBody>
      </p:sp>
      <p:sp>
        <p:nvSpPr>
          <p:cNvPr id="34" name="Text 32"/>
          <p:cNvSpPr/>
          <p:nvPr/>
        </p:nvSpPr>
        <p:spPr>
          <a:xfrm>
            <a:off x="6238875" y="207645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35" name="Text 33"/>
          <p:cNvSpPr/>
          <p:nvPr/>
        </p:nvSpPr>
        <p:spPr>
          <a:xfrm>
            <a:off x="6391275" y="221932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36" name="Text 34"/>
          <p:cNvSpPr/>
          <p:nvPr/>
        </p:nvSpPr>
        <p:spPr>
          <a:xfrm>
            <a:off x="6391275" y="221932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08</a:t>
            </a:r>
            <a:endParaRPr lang="en-US" sz="1200" dirty="0"/>
          </a:p>
        </p:txBody>
      </p:sp>
      <p:sp>
        <p:nvSpPr>
          <p:cNvPr id="37" name="Text 35"/>
          <p:cNvSpPr/>
          <p:nvPr/>
        </p:nvSpPr>
        <p:spPr>
          <a:xfrm>
            <a:off x="6867525" y="2304976"/>
            <a:ext cx="2496312"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Tanda Tangan Elektronik Menurut UU ITE</a:t>
            </a:r>
            <a:endParaRPr lang="en-US" sz="1050" dirty="0"/>
          </a:p>
        </p:txBody>
      </p:sp>
      <p:sp>
        <p:nvSpPr>
          <p:cNvPr id="38" name="Text 36"/>
          <p:cNvSpPr/>
          <p:nvPr/>
        </p:nvSpPr>
        <p:spPr>
          <a:xfrm>
            <a:off x="6238875" y="280987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39" name="Text 37"/>
          <p:cNvSpPr/>
          <p:nvPr/>
        </p:nvSpPr>
        <p:spPr>
          <a:xfrm>
            <a:off x="6391275" y="295275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40" name="Text 38"/>
          <p:cNvSpPr/>
          <p:nvPr/>
        </p:nvSpPr>
        <p:spPr>
          <a:xfrm>
            <a:off x="6391275" y="295275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09</a:t>
            </a:r>
            <a:endParaRPr lang="en-US" sz="1200" dirty="0"/>
          </a:p>
        </p:txBody>
      </p:sp>
      <p:sp>
        <p:nvSpPr>
          <p:cNvPr id="41" name="Text 39"/>
          <p:cNvSpPr/>
          <p:nvPr/>
        </p:nvSpPr>
        <p:spPr>
          <a:xfrm>
            <a:off x="6867525" y="3038401"/>
            <a:ext cx="2807208"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Sertifikat Elektronik dan Peran Balai Sertifikasi</a:t>
            </a:r>
            <a:endParaRPr lang="en-US" sz="1050" dirty="0"/>
          </a:p>
        </p:txBody>
      </p:sp>
      <p:sp>
        <p:nvSpPr>
          <p:cNvPr id="42" name="Text 40"/>
          <p:cNvSpPr/>
          <p:nvPr/>
        </p:nvSpPr>
        <p:spPr>
          <a:xfrm>
            <a:off x="6238875" y="354330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43" name="Text 41"/>
          <p:cNvSpPr/>
          <p:nvPr/>
        </p:nvSpPr>
        <p:spPr>
          <a:xfrm>
            <a:off x="6391275" y="368617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44" name="Text 42"/>
          <p:cNvSpPr/>
          <p:nvPr/>
        </p:nvSpPr>
        <p:spPr>
          <a:xfrm>
            <a:off x="6391275" y="368617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10</a:t>
            </a:r>
            <a:endParaRPr lang="en-US" sz="1200" dirty="0"/>
          </a:p>
        </p:txBody>
      </p:sp>
      <p:sp>
        <p:nvSpPr>
          <p:cNvPr id="45" name="Text 43"/>
          <p:cNvSpPr/>
          <p:nvPr/>
        </p:nvSpPr>
        <p:spPr>
          <a:xfrm>
            <a:off x="6867525" y="3771826"/>
            <a:ext cx="2898648"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Yurisdiksi Hukum dalam Transaksi Lintas Batas</a:t>
            </a:r>
            <a:endParaRPr lang="en-US" sz="1050" dirty="0"/>
          </a:p>
        </p:txBody>
      </p:sp>
      <p:sp>
        <p:nvSpPr>
          <p:cNvPr id="46" name="Text 44"/>
          <p:cNvSpPr/>
          <p:nvPr/>
        </p:nvSpPr>
        <p:spPr>
          <a:xfrm>
            <a:off x="6238875" y="427672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47" name="Text 45"/>
          <p:cNvSpPr/>
          <p:nvPr/>
        </p:nvSpPr>
        <p:spPr>
          <a:xfrm>
            <a:off x="6391275" y="441960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48" name="Text 46"/>
          <p:cNvSpPr/>
          <p:nvPr/>
        </p:nvSpPr>
        <p:spPr>
          <a:xfrm>
            <a:off x="6391275" y="441960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11</a:t>
            </a:r>
            <a:endParaRPr lang="en-US" sz="1200" dirty="0"/>
          </a:p>
        </p:txBody>
      </p:sp>
      <p:sp>
        <p:nvSpPr>
          <p:cNvPr id="49" name="Text 47"/>
          <p:cNvSpPr/>
          <p:nvPr/>
        </p:nvSpPr>
        <p:spPr>
          <a:xfrm>
            <a:off x="6867525" y="4505251"/>
            <a:ext cx="2651760"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Masalah Hukum Cross-Border E-Commerce</a:t>
            </a:r>
            <a:endParaRPr lang="en-US" sz="1050" dirty="0"/>
          </a:p>
        </p:txBody>
      </p:sp>
      <p:sp>
        <p:nvSpPr>
          <p:cNvPr id="50" name="Text 48"/>
          <p:cNvSpPr/>
          <p:nvPr/>
        </p:nvSpPr>
        <p:spPr>
          <a:xfrm>
            <a:off x="6238875" y="5010150"/>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51" name="Text 49"/>
          <p:cNvSpPr/>
          <p:nvPr/>
        </p:nvSpPr>
        <p:spPr>
          <a:xfrm>
            <a:off x="6391275" y="5153025"/>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52" name="Text 50"/>
          <p:cNvSpPr/>
          <p:nvPr/>
        </p:nvSpPr>
        <p:spPr>
          <a:xfrm>
            <a:off x="6391275" y="5153025"/>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12</a:t>
            </a:r>
            <a:endParaRPr lang="en-US" sz="1200" dirty="0"/>
          </a:p>
        </p:txBody>
      </p:sp>
      <p:sp>
        <p:nvSpPr>
          <p:cNvPr id="53" name="Text 51"/>
          <p:cNvSpPr/>
          <p:nvPr/>
        </p:nvSpPr>
        <p:spPr>
          <a:xfrm>
            <a:off x="6867525" y="5238676"/>
            <a:ext cx="2889504"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Studi Kasus: Analisis Cacat Hukum ToS Aplikasi</a:t>
            </a:r>
            <a:endParaRPr lang="en-US" sz="1050" dirty="0"/>
          </a:p>
        </p:txBody>
      </p:sp>
      <p:sp>
        <p:nvSpPr>
          <p:cNvPr id="54" name="Text 52"/>
          <p:cNvSpPr/>
          <p:nvPr/>
        </p:nvSpPr>
        <p:spPr>
          <a:xfrm>
            <a:off x="6238875" y="5743575"/>
            <a:ext cx="5286375" cy="619125"/>
          </a:xfrm>
          <a:prstGeom prst="roundRect">
            <a:avLst>
              <a:gd name="adj" fmla="val 6154"/>
            </a:avLst>
          </a:prstGeom>
          <a:solidFill>
            <a:srgbClr val="FFFFFF"/>
          </a:solidFill>
          <a:ln w="9525">
            <a:solidFill>
              <a:srgbClr val="5D645B"/>
            </a:solidFill>
          </a:ln>
        </p:spPr>
        <p:txBody>
          <a:bodyPr wrap="square" rtlCol="0" anchor="ctr"/>
          <a:lstStyle/>
          <a:p>
            <a:pPr marL="0" indent="0">
              <a:buNone/>
            </a:pPr>
            <a:endParaRPr lang="en-US" dirty="0"/>
          </a:p>
        </p:txBody>
      </p:sp>
      <p:sp>
        <p:nvSpPr>
          <p:cNvPr id="55" name="Text 53"/>
          <p:cNvSpPr/>
          <p:nvPr/>
        </p:nvSpPr>
        <p:spPr>
          <a:xfrm>
            <a:off x="6391275" y="5886450"/>
            <a:ext cx="333375" cy="333375"/>
          </a:xfrm>
          <a:prstGeom prst="roundRect">
            <a:avLst>
              <a:gd name="adj" fmla="val 11429"/>
            </a:avLst>
          </a:prstGeom>
          <a:solidFill>
            <a:srgbClr val="5D645B"/>
          </a:solidFill>
          <a:ln/>
        </p:spPr>
        <p:txBody>
          <a:bodyPr wrap="square" rtlCol="0" anchor="ctr"/>
          <a:lstStyle/>
          <a:p>
            <a:pPr marL="0" indent="0">
              <a:buNone/>
            </a:pPr>
            <a:endParaRPr lang="en-US" dirty="0"/>
          </a:p>
        </p:txBody>
      </p:sp>
      <p:sp>
        <p:nvSpPr>
          <p:cNvPr id="56" name="Text 54"/>
          <p:cNvSpPr/>
          <p:nvPr/>
        </p:nvSpPr>
        <p:spPr>
          <a:xfrm>
            <a:off x="6391275" y="5886450"/>
            <a:ext cx="374904" cy="338328"/>
          </a:xfrm>
          <a:prstGeom prst="rect">
            <a:avLst/>
          </a:prstGeom>
          <a:noFill/>
          <a:ln/>
        </p:spPr>
        <p:txBody>
          <a:bodyPr vert="horz" wrap="square" lIns="0" tIns="0" rIns="0" bIns="0" rtlCol="0" anchor="ctr"/>
          <a:lstStyle/>
          <a:p>
            <a:pPr marL="0" indent="0" algn="ctr">
              <a:lnSpc>
                <a:spcPts val="1440"/>
              </a:lnSpc>
              <a:buNone/>
            </a:pPr>
            <a:r>
              <a:rPr lang="en-US" sz="1200" b="1" dirty="0">
                <a:solidFill>
                  <a:srgbClr val="FFFFFF"/>
                </a:solidFill>
                <a:latin typeface="Montserrat Thin" pitchFamily="34" charset="0"/>
                <a:ea typeface="Montserrat Thin" pitchFamily="34" charset="-122"/>
                <a:cs typeface="Montserrat Thin" pitchFamily="34" charset="-120"/>
              </a:rPr>
              <a:t>13</a:t>
            </a:r>
            <a:endParaRPr lang="en-US" sz="1200" dirty="0"/>
          </a:p>
        </p:txBody>
      </p:sp>
      <p:sp>
        <p:nvSpPr>
          <p:cNvPr id="57" name="Text 55"/>
          <p:cNvSpPr/>
          <p:nvPr/>
        </p:nvSpPr>
        <p:spPr>
          <a:xfrm>
            <a:off x="6867525" y="5972101"/>
            <a:ext cx="2313432" cy="192024"/>
          </a:xfrm>
          <a:prstGeom prst="rect">
            <a:avLst/>
          </a:prstGeom>
          <a:noFill/>
          <a:ln/>
        </p:spPr>
        <p:txBody>
          <a:bodyPr vert="horz" wrap="none" lIns="0" tIns="0" rIns="0" bIns="0" rtlCol="0" anchor="t">
            <a:normAutofit/>
          </a:bodyPr>
          <a:lstStyle/>
          <a:p>
            <a:pPr marL="0" indent="0" algn="l">
              <a:lnSpc>
                <a:spcPts val="1260"/>
              </a:lnSpc>
              <a:buNone/>
            </a:pPr>
            <a:r>
              <a:rPr lang="en-US" sz="1050" dirty="0">
                <a:solidFill>
                  <a:srgbClr val="333333"/>
                </a:solidFill>
                <a:latin typeface="Roboto" pitchFamily="34" charset="0"/>
                <a:ea typeface="Roboto" pitchFamily="34" charset="-122"/>
                <a:cs typeface="Roboto" pitchFamily="34" charset="-120"/>
              </a:rPr>
              <a:t>Kesimpulan dan Rekomendasi Praktis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2382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2362200" y="395288"/>
            <a:ext cx="7562088" cy="448056"/>
          </a:xfrm>
          <a:prstGeom prst="rect">
            <a:avLst/>
          </a:prstGeom>
          <a:noFill/>
          <a:ln/>
        </p:spPr>
        <p:txBody>
          <a:bodyPr vert="horz" wrap="square" lIns="0" tIns="0" rIns="0" bIns="0" rtlCol="0" anchor="t"/>
          <a:lstStyle/>
          <a:p>
            <a:pPr marL="0" indent="0" algn="ctr">
              <a:lnSpc>
                <a:spcPts val="3420"/>
              </a:lnSpc>
              <a:buNone/>
            </a:pPr>
            <a:r>
              <a:rPr lang="en-US" sz="2850" b="1" dirty="0">
                <a:solidFill>
                  <a:srgbClr val="000000"/>
                </a:solidFill>
                <a:latin typeface="Montserrat Thin" pitchFamily="34" charset="0"/>
                <a:ea typeface="Montserrat Thin" pitchFamily="34" charset="-122"/>
                <a:cs typeface="Montserrat Thin" pitchFamily="34" charset="-120"/>
              </a:rPr>
              <a:t>Tujuan Pembelajaran dan Pendahuluan</a:t>
            </a:r>
            <a:endParaRPr lang="en-US" sz="2850" dirty="0"/>
          </a:p>
        </p:txBody>
      </p:sp>
      <p:sp>
        <p:nvSpPr>
          <p:cNvPr id="5" name="Text 3"/>
          <p:cNvSpPr/>
          <p:nvPr/>
        </p:nvSpPr>
        <p:spPr>
          <a:xfrm>
            <a:off x="857250" y="1714500"/>
            <a:ext cx="5048250" cy="1538288"/>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857250" y="1738313"/>
            <a:ext cx="5048250" cy="0"/>
          </a:xfrm>
          <a:prstGeom prst="line">
            <a:avLst/>
          </a:prstGeom>
          <a:noFill/>
          <a:ln w="47625">
            <a:solidFill>
              <a:srgbClr val="5D645B"/>
            </a:solidFill>
            <a:prstDash val="solid"/>
          </a:ln>
        </p:spPr>
      </p:sp>
      <p:sp>
        <p:nvSpPr>
          <p:cNvPr id="7" name="Text 5"/>
          <p:cNvSpPr/>
          <p:nvPr/>
        </p:nvSpPr>
        <p:spPr>
          <a:xfrm>
            <a:off x="1095375" y="2000250"/>
            <a:ext cx="4718304" cy="292608"/>
          </a:xfrm>
          <a:prstGeom prst="rect">
            <a:avLst/>
          </a:prstGeom>
          <a:noFill/>
          <a:ln/>
        </p:spPr>
        <p:txBody>
          <a:bodyPr vert="horz" wrap="none" lIns="0" tIns="0" rIns="19050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Pemahaman Kontrak Digital</a:t>
            </a:r>
            <a:endParaRPr lang="en-US" sz="1650" dirty="0"/>
          </a:p>
        </p:txBody>
      </p:sp>
      <p:sp>
        <p:nvSpPr>
          <p:cNvPr id="8" name="Text 6"/>
          <p:cNvSpPr/>
          <p:nvPr/>
        </p:nvSpPr>
        <p:spPr>
          <a:xfrm>
            <a:off x="1095375" y="2369344"/>
            <a:ext cx="4608576" cy="649224"/>
          </a:xfrm>
          <a:prstGeom prst="rect">
            <a:avLst/>
          </a:prstGeom>
          <a:noFill/>
          <a:ln/>
        </p:spPr>
        <p:txBody>
          <a:bodyPr vert="horz" wrap="square" lIns="0" tIns="0" rIns="0" bIns="0" rtlCol="0" anchor="t"/>
          <a:lstStyle/>
          <a:p>
            <a:pPr marL="0" indent="0" algn="l">
              <a:lnSpc>
                <a:spcPts val="1688"/>
              </a:lnSpc>
              <a:buNone/>
            </a:pPr>
            <a:r>
              <a:rPr lang="en-US" sz="1125" kern="0" spc="20" dirty="0">
                <a:solidFill>
                  <a:srgbClr val="333333"/>
                </a:solidFill>
                <a:latin typeface="Roboto" pitchFamily="34" charset="0"/>
                <a:ea typeface="Roboto" pitchFamily="34" charset="-122"/>
                <a:cs typeface="Roboto" pitchFamily="34" charset="-120"/>
              </a:rPr>
              <a:t>Peserta diharapkan mampu memahami keabsahan hukum kontrak digital secara komprehensif, mencakup elemen validitas hukum dalam ekosistem digital saat ini.</a:t>
            </a:r>
            <a:endParaRPr lang="en-US" sz="1125" dirty="0"/>
          </a:p>
        </p:txBody>
      </p:sp>
      <p:sp>
        <p:nvSpPr>
          <p:cNvPr id="9" name="Text 7"/>
          <p:cNvSpPr/>
          <p:nvPr/>
        </p:nvSpPr>
        <p:spPr>
          <a:xfrm>
            <a:off x="6286500" y="1714500"/>
            <a:ext cx="5048250" cy="1538288"/>
          </a:xfrm>
          <a:prstGeom prst="rect">
            <a:avLst/>
          </a:prstGeom>
          <a:solidFill>
            <a:srgbClr val="FFFFFF"/>
          </a:solidFill>
          <a:ln/>
        </p:spPr>
        <p:txBody>
          <a:bodyPr wrap="square" rtlCol="0" anchor="ctr"/>
          <a:lstStyle/>
          <a:p>
            <a:pPr marL="0" indent="0">
              <a:buNone/>
            </a:pPr>
            <a:endParaRPr lang="en-US" dirty="0"/>
          </a:p>
        </p:txBody>
      </p:sp>
      <p:sp>
        <p:nvSpPr>
          <p:cNvPr id="10" name="Shape 8"/>
          <p:cNvSpPr/>
          <p:nvPr/>
        </p:nvSpPr>
        <p:spPr>
          <a:xfrm>
            <a:off x="6286500" y="1738313"/>
            <a:ext cx="5048250" cy="0"/>
          </a:xfrm>
          <a:prstGeom prst="line">
            <a:avLst/>
          </a:prstGeom>
          <a:noFill/>
          <a:ln w="47625">
            <a:solidFill>
              <a:srgbClr val="5D645B"/>
            </a:solidFill>
            <a:prstDash val="solid"/>
          </a:ln>
        </p:spPr>
      </p:sp>
      <p:sp>
        <p:nvSpPr>
          <p:cNvPr id="11" name="Text 9"/>
          <p:cNvSpPr/>
          <p:nvPr/>
        </p:nvSpPr>
        <p:spPr>
          <a:xfrm>
            <a:off x="6524625" y="2000250"/>
            <a:ext cx="4718304" cy="292608"/>
          </a:xfrm>
          <a:prstGeom prst="rect">
            <a:avLst/>
          </a:prstGeom>
          <a:noFill/>
          <a:ln/>
        </p:spPr>
        <p:txBody>
          <a:bodyPr vert="horz" wrap="none" lIns="0" tIns="0" rIns="19050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Analisis Legalitas Transaksi</a:t>
            </a:r>
            <a:endParaRPr lang="en-US" sz="1650" dirty="0"/>
          </a:p>
        </p:txBody>
      </p:sp>
      <p:sp>
        <p:nvSpPr>
          <p:cNvPr id="12" name="Text 10"/>
          <p:cNvSpPr/>
          <p:nvPr/>
        </p:nvSpPr>
        <p:spPr>
          <a:xfrm>
            <a:off x="6524625" y="2369344"/>
            <a:ext cx="4608576" cy="649224"/>
          </a:xfrm>
          <a:prstGeom prst="rect">
            <a:avLst/>
          </a:prstGeom>
          <a:noFill/>
          <a:ln/>
        </p:spPr>
        <p:txBody>
          <a:bodyPr vert="horz" wrap="square" lIns="0" tIns="0" rIns="0" bIns="0" rtlCol="0" anchor="t"/>
          <a:lstStyle/>
          <a:p>
            <a:pPr marL="0" indent="0" algn="l">
              <a:lnSpc>
                <a:spcPts val="1688"/>
              </a:lnSpc>
              <a:buNone/>
            </a:pPr>
            <a:r>
              <a:rPr lang="en-US" sz="1125" kern="0" spc="20" dirty="0">
                <a:solidFill>
                  <a:srgbClr val="333333"/>
                </a:solidFill>
                <a:latin typeface="Roboto" pitchFamily="34" charset="0"/>
                <a:ea typeface="Roboto" pitchFamily="34" charset="-122"/>
                <a:cs typeface="Roboto" pitchFamily="34" charset="-120"/>
              </a:rPr>
              <a:t>Mampu menganalisis aspek legalitas transaksi elektronik di Indonesia serta pentingnya kepastian regulasi untuk mendukung pertumbuhan ekonomi digital nasional.</a:t>
            </a:r>
            <a:endParaRPr lang="en-US" sz="1125" dirty="0"/>
          </a:p>
        </p:txBody>
      </p:sp>
      <p:sp>
        <p:nvSpPr>
          <p:cNvPr id="13" name="Text 11"/>
          <p:cNvSpPr/>
          <p:nvPr/>
        </p:nvSpPr>
        <p:spPr>
          <a:xfrm>
            <a:off x="857250" y="3633788"/>
            <a:ext cx="5048250" cy="1538288"/>
          </a:xfrm>
          <a:prstGeom prst="rect">
            <a:avLst/>
          </a:prstGeom>
          <a:solidFill>
            <a:srgbClr val="FFFFFF"/>
          </a:solidFill>
          <a:ln/>
        </p:spPr>
        <p:txBody>
          <a:bodyPr wrap="square" rtlCol="0" anchor="ctr"/>
          <a:lstStyle/>
          <a:p>
            <a:pPr marL="0" indent="0">
              <a:buNone/>
            </a:pPr>
            <a:endParaRPr lang="en-US" dirty="0"/>
          </a:p>
        </p:txBody>
      </p:sp>
      <p:sp>
        <p:nvSpPr>
          <p:cNvPr id="14" name="Shape 12"/>
          <p:cNvSpPr/>
          <p:nvPr/>
        </p:nvSpPr>
        <p:spPr>
          <a:xfrm>
            <a:off x="857250" y="3657600"/>
            <a:ext cx="5048250" cy="0"/>
          </a:xfrm>
          <a:prstGeom prst="line">
            <a:avLst/>
          </a:prstGeom>
          <a:noFill/>
          <a:ln w="47625">
            <a:solidFill>
              <a:srgbClr val="5D645B"/>
            </a:solidFill>
            <a:prstDash val="solid"/>
          </a:ln>
        </p:spPr>
      </p:sp>
      <p:sp>
        <p:nvSpPr>
          <p:cNvPr id="15" name="Text 13"/>
          <p:cNvSpPr/>
          <p:nvPr/>
        </p:nvSpPr>
        <p:spPr>
          <a:xfrm>
            <a:off x="1095375" y="3919537"/>
            <a:ext cx="4718304" cy="292608"/>
          </a:xfrm>
          <a:prstGeom prst="rect">
            <a:avLst/>
          </a:prstGeom>
          <a:noFill/>
          <a:ln/>
        </p:spPr>
        <p:txBody>
          <a:bodyPr vert="horz" wrap="none" lIns="0" tIns="0" rIns="19050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Urgensi Regulasi E-Contract</a:t>
            </a:r>
            <a:endParaRPr lang="en-US" sz="1650" dirty="0"/>
          </a:p>
        </p:txBody>
      </p:sp>
      <p:sp>
        <p:nvSpPr>
          <p:cNvPr id="16" name="Text 14"/>
          <p:cNvSpPr/>
          <p:nvPr/>
        </p:nvSpPr>
        <p:spPr>
          <a:xfrm>
            <a:off x="1095375" y="4288631"/>
            <a:ext cx="4608576" cy="649224"/>
          </a:xfrm>
          <a:prstGeom prst="rect">
            <a:avLst/>
          </a:prstGeom>
          <a:noFill/>
          <a:ln/>
        </p:spPr>
        <p:txBody>
          <a:bodyPr vert="horz" wrap="square" lIns="0" tIns="0" rIns="0" bIns="0" rtlCol="0" anchor="t"/>
          <a:lstStyle/>
          <a:p>
            <a:pPr marL="0" indent="0" algn="l">
              <a:lnSpc>
                <a:spcPts val="1688"/>
              </a:lnSpc>
              <a:buNone/>
            </a:pPr>
            <a:r>
              <a:rPr lang="en-US" sz="1125" kern="0" spc="20" dirty="0">
                <a:solidFill>
                  <a:srgbClr val="333333"/>
                </a:solidFill>
                <a:latin typeface="Roboto" pitchFamily="34" charset="0"/>
                <a:ea typeface="Roboto" pitchFamily="34" charset="-122"/>
                <a:cs typeface="Roboto" pitchFamily="34" charset="-120"/>
              </a:rPr>
              <a:t>Menjelaskan urgensi regulasi E-Contract karena kontrak baku dan transaksi digital sering memicu sengketa, sehingga KUH Perdata perlu melakukan pembenahan.</a:t>
            </a:r>
            <a:endParaRPr lang="en-US" sz="1125" dirty="0"/>
          </a:p>
        </p:txBody>
      </p:sp>
      <p:sp>
        <p:nvSpPr>
          <p:cNvPr id="17" name="Text 15"/>
          <p:cNvSpPr/>
          <p:nvPr/>
        </p:nvSpPr>
        <p:spPr>
          <a:xfrm>
            <a:off x="6286500" y="3633788"/>
            <a:ext cx="5048250" cy="1538288"/>
          </a:xfrm>
          <a:prstGeom prst="rect">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6286500" y="3657600"/>
            <a:ext cx="5048250" cy="0"/>
          </a:xfrm>
          <a:prstGeom prst="line">
            <a:avLst/>
          </a:prstGeom>
          <a:noFill/>
          <a:ln w="47625">
            <a:solidFill>
              <a:srgbClr val="5D645B"/>
            </a:solidFill>
            <a:prstDash val="solid"/>
          </a:ln>
        </p:spPr>
      </p:sp>
      <p:sp>
        <p:nvSpPr>
          <p:cNvPr id="19" name="Text 17"/>
          <p:cNvSpPr/>
          <p:nvPr/>
        </p:nvSpPr>
        <p:spPr>
          <a:xfrm>
            <a:off x="6524625" y="3919537"/>
            <a:ext cx="4718304" cy="292608"/>
          </a:xfrm>
          <a:prstGeom prst="rect">
            <a:avLst/>
          </a:prstGeom>
          <a:noFill/>
          <a:ln/>
        </p:spPr>
        <p:txBody>
          <a:bodyPr vert="horz" wrap="none" lIns="0" tIns="0" rIns="19050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Kepastian Hukum Digital</a:t>
            </a:r>
            <a:endParaRPr lang="en-US" sz="1650" dirty="0"/>
          </a:p>
        </p:txBody>
      </p:sp>
      <p:sp>
        <p:nvSpPr>
          <p:cNvPr id="20" name="Text 18"/>
          <p:cNvSpPr/>
          <p:nvPr/>
        </p:nvSpPr>
        <p:spPr>
          <a:xfrm>
            <a:off x="6524625" y="4288631"/>
            <a:ext cx="4608576" cy="649224"/>
          </a:xfrm>
          <a:prstGeom prst="rect">
            <a:avLst/>
          </a:prstGeom>
          <a:noFill/>
          <a:ln/>
        </p:spPr>
        <p:txBody>
          <a:bodyPr vert="horz" wrap="square" lIns="0" tIns="0" rIns="0" bIns="0" rtlCol="0" anchor="t"/>
          <a:lstStyle/>
          <a:p>
            <a:pPr marL="0" indent="0" algn="l">
              <a:lnSpc>
                <a:spcPts val="1688"/>
              </a:lnSpc>
              <a:buNone/>
            </a:pPr>
            <a:r>
              <a:rPr lang="en-US" sz="1125" kern="0" spc="20" dirty="0">
                <a:solidFill>
                  <a:srgbClr val="333333"/>
                </a:solidFill>
                <a:latin typeface="Roboto" pitchFamily="34" charset="0"/>
                <a:ea typeface="Roboto" pitchFamily="34" charset="-122"/>
                <a:cs typeface="Roboto" pitchFamily="34" charset="-120"/>
              </a:rPr>
              <a:t>Fokus utama sesi ini adalah memastikan validitas hukum dalam transaksi elektronik guna menciptakan lingkungan bisnis digital yang aman dan terpercaya.</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71450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952500" y="2476500"/>
            <a:ext cx="4286250" cy="1891308"/>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952500" y="2476500"/>
            <a:ext cx="0" cy="1891308"/>
          </a:xfrm>
          <a:prstGeom prst="line">
            <a:avLst/>
          </a:prstGeom>
          <a:noFill/>
          <a:ln w="47625">
            <a:solidFill>
              <a:srgbClr val="5D645B"/>
            </a:solidFill>
            <a:prstDash val="solid"/>
          </a:ln>
        </p:spPr>
      </p:sp>
      <p:sp>
        <p:nvSpPr>
          <p:cNvPr id="6" name="Text 4"/>
          <p:cNvSpPr/>
          <p:nvPr/>
        </p:nvSpPr>
        <p:spPr>
          <a:xfrm>
            <a:off x="1190625" y="2667000"/>
            <a:ext cx="3913632" cy="521208"/>
          </a:xfrm>
          <a:prstGeom prst="rect">
            <a:avLst/>
          </a:prstGeom>
          <a:noFill/>
          <a:ln/>
        </p:spPr>
        <p:txBody>
          <a:bodyPr vert="horz" wrap="square" lIns="0" tIns="0" rIns="285750" bIns="0" rtlCol="0" anchor="t"/>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Syarat Sah &amp; Pilar Utama Perjanjian</a:t>
            </a:r>
            <a:endParaRPr lang="en-US" sz="1650" dirty="0"/>
          </a:p>
        </p:txBody>
      </p:sp>
      <p:sp>
        <p:nvSpPr>
          <p:cNvPr id="7" name="Text 5"/>
          <p:cNvSpPr/>
          <p:nvPr/>
        </p:nvSpPr>
        <p:spPr>
          <a:xfrm>
            <a:off x="1190625" y="3322141"/>
            <a:ext cx="3895344" cy="859536"/>
          </a:xfrm>
          <a:prstGeom prst="rect">
            <a:avLst/>
          </a:prstGeom>
          <a:noFill/>
          <a:ln/>
        </p:spPr>
        <p:txBody>
          <a:bodyPr vert="horz" wrap="square" lIns="0" tIns="0" rIns="0" bIns="0" rtlCol="0" anchor="t"/>
          <a:lstStyle/>
          <a:p>
            <a:pPr marL="0" indent="0" algn="l">
              <a:lnSpc>
                <a:spcPts val="1680"/>
              </a:lnSpc>
              <a:buNone/>
            </a:pPr>
            <a:r>
              <a:rPr lang="en-US" sz="1050" dirty="0">
                <a:solidFill>
                  <a:srgbClr val="333333"/>
                </a:solidFill>
                <a:latin typeface="Roboto" pitchFamily="34" charset="0"/>
                <a:ea typeface="Roboto" pitchFamily="34" charset="-122"/>
                <a:cs typeface="Roboto" pitchFamily="34" charset="-120"/>
              </a:rPr>
              <a:t>Berdasarkan Pasal 1320 KUH Perdata, keabsahan kontrak bersandar pada empat pilar utama: Kesepakatan, Kecakapan, Objek Tertentu, dan Sebab yang Halal sebagai fondasi vital legalitas.</a:t>
            </a:r>
            <a:endParaRPr lang="en-US" sz="1050" dirty="0"/>
          </a:p>
        </p:txBody>
      </p:sp>
      <p:sp>
        <p:nvSpPr>
          <p:cNvPr id="8" name="Text 6"/>
          <p:cNvSpPr/>
          <p:nvPr/>
        </p:nvSpPr>
        <p:spPr>
          <a:xfrm>
            <a:off x="952500" y="4844058"/>
            <a:ext cx="4286250" cy="1634133"/>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952500" y="4844058"/>
            <a:ext cx="0" cy="1634133"/>
          </a:xfrm>
          <a:prstGeom prst="line">
            <a:avLst/>
          </a:prstGeom>
          <a:noFill/>
          <a:ln w="47625">
            <a:solidFill>
              <a:srgbClr val="5D645B"/>
            </a:solidFill>
            <a:prstDash val="solid"/>
          </a:ln>
        </p:spPr>
      </p:sp>
      <p:sp>
        <p:nvSpPr>
          <p:cNvPr id="10" name="Text 8"/>
          <p:cNvSpPr/>
          <p:nvPr/>
        </p:nvSpPr>
        <p:spPr>
          <a:xfrm>
            <a:off x="1190625" y="5034558"/>
            <a:ext cx="3685032" cy="292608"/>
          </a:xfrm>
          <a:prstGeom prst="rect">
            <a:avLst/>
          </a:prstGeom>
          <a:noFill/>
          <a:ln/>
        </p:spPr>
        <p:txBody>
          <a:bodyPr vert="horz" wrap="none" lIns="0" tIns="0" rIns="28575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Relevansi Klasik di Era Digital</a:t>
            </a:r>
            <a:endParaRPr lang="en-US" sz="1650" dirty="0"/>
          </a:p>
        </p:txBody>
      </p:sp>
      <p:sp>
        <p:nvSpPr>
          <p:cNvPr id="11" name="Text 9"/>
          <p:cNvSpPr/>
          <p:nvPr/>
        </p:nvSpPr>
        <p:spPr>
          <a:xfrm>
            <a:off x="1190625" y="5432524"/>
            <a:ext cx="3895344" cy="859536"/>
          </a:xfrm>
          <a:prstGeom prst="rect">
            <a:avLst/>
          </a:prstGeom>
          <a:noFill/>
          <a:ln/>
        </p:spPr>
        <p:txBody>
          <a:bodyPr vert="horz" wrap="square" lIns="0" tIns="0" rIns="0" bIns="0" rtlCol="0" anchor="t"/>
          <a:lstStyle/>
          <a:p>
            <a:pPr marL="0" indent="0" algn="l">
              <a:lnSpc>
                <a:spcPts val="1680"/>
              </a:lnSpc>
              <a:buNone/>
            </a:pPr>
            <a:r>
              <a:rPr lang="en-US" sz="1050" dirty="0">
                <a:solidFill>
                  <a:srgbClr val="333333"/>
                </a:solidFill>
                <a:latin typeface="Roboto" pitchFamily="34" charset="0"/>
                <a:ea typeface="Roboto" pitchFamily="34" charset="-122"/>
                <a:cs typeface="Roboto" pitchFamily="34" charset="-120"/>
              </a:rPr>
              <a:t>Penerapan nilai hukum perdata memastikan bahwa meskipun medium berubah menjadi elektronik, esensi kepastian hukum tetap terjaga sepenuhnya bagi para pihak yang terlibat dalam transaksi.</a:t>
            </a:r>
            <a:endParaRPr lang="en-US" sz="1050" dirty="0"/>
          </a:p>
        </p:txBody>
      </p:sp>
      <p:sp>
        <p:nvSpPr>
          <p:cNvPr id="12" name="Text 10"/>
          <p:cNvSpPr/>
          <p:nvPr/>
        </p:nvSpPr>
        <p:spPr>
          <a:xfrm>
            <a:off x="5715000" y="2190750"/>
            <a:ext cx="5715000" cy="4286250"/>
          </a:xfrm>
          <a:prstGeom prst="roundRect">
            <a:avLst>
              <a:gd name="adj" fmla="val 2222"/>
            </a:avLst>
          </a:prstGeom>
          <a:solidFill>
            <a:srgbClr val="FFFFFF"/>
          </a:solidFill>
          <a:ln w="9525">
            <a:solidFill>
              <a:srgbClr val="D8DBD8"/>
            </a:solidFill>
          </a:ln>
        </p:spPr>
        <p:txBody>
          <a:bodyPr wrap="square" rtlCol="0" anchor="ctr"/>
          <a:lstStyle/>
          <a:p>
            <a:pPr marL="0" indent="0">
              <a:buNone/>
            </a:pPr>
            <a:endParaRPr lang="en-US" dirty="0"/>
          </a:p>
        </p:txBody>
      </p:sp>
      <p:pic>
        <p:nvPicPr>
          <p:cNvPr id="13" name="Image 0" descr="image.png"/>
          <p:cNvPicPr>
            <a:picLocks noChangeAspect="1"/>
          </p:cNvPicPr>
          <p:nvPr/>
        </p:nvPicPr>
        <p:blipFill>
          <a:blip r:embed="rId3"/>
          <a:srcRect/>
          <a:stretch/>
        </p:blipFill>
        <p:spPr>
          <a:xfrm>
            <a:off x="5724525" y="2200275"/>
            <a:ext cx="5695950" cy="4267200"/>
          </a:xfrm>
          <a:prstGeom prst="rect">
            <a:avLst/>
          </a:prstGeom>
        </p:spPr>
      </p:pic>
      <p:sp>
        <p:nvSpPr>
          <p:cNvPr id="14" name="Text 11"/>
          <p:cNvSpPr/>
          <p:nvPr/>
        </p:nvSpPr>
        <p:spPr>
          <a:xfrm>
            <a:off x="-123063" y="666750"/>
            <a:ext cx="12554712" cy="612648"/>
          </a:xfrm>
          <a:prstGeom prst="rect">
            <a:avLst/>
          </a:prstGeom>
          <a:noFill/>
          <a:ln/>
        </p:spPr>
        <p:txBody>
          <a:bodyPr vert="horz" wrap="none" lIns="0" tIns="0" rIns="0" bIns="0" rtlCol="0" anchor="t">
            <a:normAutofit/>
          </a:bodyPr>
          <a:lstStyle/>
          <a:p>
            <a:pPr marL="0" indent="0" algn="ctr">
              <a:lnSpc>
                <a:spcPts val="4320"/>
              </a:lnSpc>
              <a:buNone/>
            </a:pPr>
            <a:r>
              <a:rPr lang="en-US" sz="3600" b="1" dirty="0">
                <a:solidFill>
                  <a:srgbClr val="000000"/>
                </a:solidFill>
                <a:latin typeface="Montserrat Thin" pitchFamily="34" charset="0"/>
                <a:ea typeface="Montserrat Thin" pitchFamily="34" charset="-122"/>
                <a:cs typeface="Montserrat Thin" pitchFamily="34" charset="-120"/>
              </a:rPr>
              <a:t>Konsep Dasar Hukum Perjanjian Konvensional</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4287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571500" y="2095500"/>
            <a:ext cx="3492401" cy="3619500"/>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571500" y="2119312"/>
            <a:ext cx="3492401" cy="0"/>
          </a:xfrm>
          <a:prstGeom prst="line">
            <a:avLst/>
          </a:prstGeom>
          <a:noFill/>
          <a:ln w="47625">
            <a:solidFill>
              <a:srgbClr val="5D645B"/>
            </a:solidFill>
            <a:prstDash val="solid"/>
          </a:ln>
        </p:spPr>
      </p:sp>
      <p:sp>
        <p:nvSpPr>
          <p:cNvPr id="6" name="Text 4"/>
          <p:cNvSpPr/>
          <p:nvPr/>
        </p:nvSpPr>
        <p:spPr>
          <a:xfrm>
            <a:off x="1984325" y="2524125"/>
            <a:ext cx="666750" cy="666750"/>
          </a:xfrm>
          <a:prstGeom prst="roundRect">
            <a:avLst>
              <a:gd name="adj" fmla="val 1371429"/>
            </a:avLst>
          </a:prstGeom>
          <a:solidFill>
            <a:srgbClr val="5D645B"/>
          </a:solidFill>
          <a:ln/>
        </p:spPr>
        <p:txBody>
          <a:bodyPr wrap="square" rtlCol="0" anchor="ctr"/>
          <a:lstStyle/>
          <a:p>
            <a:pPr marL="0" indent="0">
              <a:buNone/>
            </a:pPr>
            <a:endParaRPr lang="en-US" dirty="0"/>
          </a:p>
        </p:txBody>
      </p:sp>
      <p:sp>
        <p:nvSpPr>
          <p:cNvPr id="7" name="Text 5"/>
          <p:cNvSpPr/>
          <p:nvPr/>
        </p:nvSpPr>
        <p:spPr>
          <a:xfrm>
            <a:off x="2151823" y="2690813"/>
            <a:ext cx="411480" cy="374904"/>
          </a:xfrm>
          <a:prstGeom prst="rect">
            <a:avLst/>
          </a:prstGeom>
          <a:noFill/>
          <a:ln/>
        </p:spPr>
        <p:txBody>
          <a:bodyPr vert="horz" wrap="none" lIns="0" tIns="0" rIns="0" bIns="0" rtlCol="0" anchor="t">
            <a:normAutofit/>
          </a:bodyPr>
          <a:lstStyle/>
          <a:p>
            <a:pPr marL="0" indent="0" algn="ctr">
              <a:lnSpc>
                <a:spcPts val="2700"/>
              </a:lnSpc>
              <a:buNone/>
            </a:pPr>
            <a:r>
              <a:rPr lang="en-US" sz="2250" b="1" dirty="0">
                <a:solidFill>
                  <a:srgbClr val="FFFFFF"/>
                </a:solidFill>
                <a:latin typeface="Roboto" pitchFamily="34" charset="0"/>
                <a:ea typeface="Roboto" pitchFamily="34" charset="-122"/>
                <a:cs typeface="Roboto" pitchFamily="34" charset="-120"/>
              </a:rPr>
              <a:t>01</a:t>
            </a:r>
            <a:endParaRPr lang="en-US" sz="2250" dirty="0"/>
          </a:p>
        </p:txBody>
      </p:sp>
      <p:sp>
        <p:nvSpPr>
          <p:cNvPr id="8" name="Text 6"/>
          <p:cNvSpPr/>
          <p:nvPr/>
        </p:nvSpPr>
        <p:spPr>
          <a:xfrm>
            <a:off x="807988" y="3467100"/>
            <a:ext cx="3072384" cy="502920"/>
          </a:xfrm>
          <a:prstGeom prst="rect">
            <a:avLst/>
          </a:prstGeom>
          <a:noFill/>
          <a:ln/>
        </p:spPr>
        <p:txBody>
          <a:bodyPr vert="horz" wrap="square" lIns="190500" tIns="0" rIns="190500" bIns="0" rtlCol="0" anchor="t"/>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Mekanisme Konsensus Elektronik</a:t>
            </a:r>
            <a:endParaRPr lang="en-US" sz="1500" dirty="0"/>
          </a:p>
        </p:txBody>
      </p:sp>
      <p:sp>
        <p:nvSpPr>
          <p:cNvPr id="9" name="Text 7"/>
          <p:cNvSpPr/>
          <p:nvPr/>
        </p:nvSpPr>
        <p:spPr>
          <a:xfrm>
            <a:off x="807988" y="4191000"/>
            <a:ext cx="3063240" cy="1143000"/>
          </a:xfrm>
          <a:prstGeom prst="rect">
            <a:avLst/>
          </a:prstGeom>
          <a:noFill/>
          <a:ln/>
        </p:spPr>
        <p:txBody>
          <a:bodyPr vert="horz" wrap="square" lIns="0" tIns="0" rIns="0" bIns="0" rtlCol="0" anchor="t"/>
          <a:lstStyle/>
          <a:p>
            <a:pPr marL="0" indent="0" algn="l">
              <a:lnSpc>
                <a:spcPts val="1800"/>
              </a:lnSpc>
              <a:buNone/>
            </a:pPr>
            <a:r>
              <a:rPr lang="en-US" sz="1125" dirty="0">
                <a:solidFill>
                  <a:srgbClr val="333333"/>
                </a:solidFill>
                <a:latin typeface="Roboto" pitchFamily="34" charset="0"/>
                <a:ea typeface="Roboto" pitchFamily="34" charset="-122"/>
                <a:cs typeface="Roboto" pitchFamily="34" charset="-120"/>
              </a:rPr>
              <a:t>Kesepakatan digital terbentuk melalui tindakan aktif seperti klik tombol "Setuju" atau "Beli". Hal ini merupakan manifestasi kehendak para pihak yang dilakukan secara elektronik dan sah menurut hukum.</a:t>
            </a:r>
            <a:endParaRPr lang="en-US" sz="1125" dirty="0"/>
          </a:p>
        </p:txBody>
      </p:sp>
      <p:sp>
        <p:nvSpPr>
          <p:cNvPr id="10" name="Text 8"/>
          <p:cNvSpPr/>
          <p:nvPr/>
        </p:nvSpPr>
        <p:spPr>
          <a:xfrm>
            <a:off x="4349651" y="2095500"/>
            <a:ext cx="3492550" cy="3619500"/>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4349651" y="2119312"/>
            <a:ext cx="3492550" cy="0"/>
          </a:xfrm>
          <a:prstGeom prst="line">
            <a:avLst/>
          </a:prstGeom>
          <a:noFill/>
          <a:ln w="47625">
            <a:solidFill>
              <a:srgbClr val="5D645B"/>
            </a:solidFill>
            <a:prstDash val="solid"/>
          </a:ln>
        </p:spPr>
      </p:sp>
      <p:sp>
        <p:nvSpPr>
          <p:cNvPr id="12" name="Text 10"/>
          <p:cNvSpPr/>
          <p:nvPr/>
        </p:nvSpPr>
        <p:spPr>
          <a:xfrm>
            <a:off x="5762476" y="2524125"/>
            <a:ext cx="666750" cy="666750"/>
          </a:xfrm>
          <a:prstGeom prst="roundRect">
            <a:avLst>
              <a:gd name="adj" fmla="val 1371429"/>
            </a:avLst>
          </a:prstGeom>
          <a:solidFill>
            <a:srgbClr val="5D645B"/>
          </a:solidFill>
          <a:ln/>
        </p:spPr>
        <p:txBody>
          <a:bodyPr wrap="square" rtlCol="0" anchor="ctr"/>
          <a:lstStyle/>
          <a:p>
            <a:pPr marL="0" indent="0">
              <a:buNone/>
            </a:pPr>
            <a:endParaRPr lang="en-US" dirty="0"/>
          </a:p>
        </p:txBody>
      </p:sp>
      <p:sp>
        <p:nvSpPr>
          <p:cNvPr id="13" name="Text 11"/>
          <p:cNvSpPr/>
          <p:nvPr/>
        </p:nvSpPr>
        <p:spPr>
          <a:xfrm>
            <a:off x="5929973" y="2690813"/>
            <a:ext cx="411480" cy="374904"/>
          </a:xfrm>
          <a:prstGeom prst="rect">
            <a:avLst/>
          </a:prstGeom>
          <a:noFill/>
          <a:ln/>
        </p:spPr>
        <p:txBody>
          <a:bodyPr vert="horz" wrap="none" lIns="0" tIns="0" rIns="0" bIns="0" rtlCol="0" anchor="t">
            <a:normAutofit/>
          </a:bodyPr>
          <a:lstStyle/>
          <a:p>
            <a:pPr marL="0" indent="0" algn="ctr">
              <a:lnSpc>
                <a:spcPts val="2700"/>
              </a:lnSpc>
              <a:buNone/>
            </a:pPr>
            <a:r>
              <a:rPr lang="en-US" sz="2250" b="1" dirty="0">
                <a:solidFill>
                  <a:srgbClr val="FFFFFF"/>
                </a:solidFill>
                <a:latin typeface="Roboto" pitchFamily="34" charset="0"/>
                <a:ea typeface="Roboto" pitchFamily="34" charset="-122"/>
                <a:cs typeface="Roboto" pitchFamily="34" charset="-120"/>
              </a:rPr>
              <a:t>02</a:t>
            </a:r>
            <a:endParaRPr lang="en-US" sz="2250" dirty="0"/>
          </a:p>
        </p:txBody>
      </p:sp>
      <p:sp>
        <p:nvSpPr>
          <p:cNvPr id="14" name="Text 12"/>
          <p:cNvSpPr/>
          <p:nvPr/>
        </p:nvSpPr>
        <p:spPr>
          <a:xfrm>
            <a:off x="4586213" y="3467100"/>
            <a:ext cx="3072384" cy="502920"/>
          </a:xfrm>
          <a:prstGeom prst="rect">
            <a:avLst/>
          </a:prstGeom>
          <a:noFill/>
          <a:ln/>
        </p:spPr>
        <p:txBody>
          <a:bodyPr vert="horz" wrap="square" lIns="190500" tIns="0" rIns="190500" bIns="0" rtlCol="0" anchor="t"/>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Verifikasi Kecakapan Pihak</a:t>
            </a:r>
            <a:endParaRPr lang="en-US" sz="1500" dirty="0"/>
          </a:p>
        </p:txBody>
      </p:sp>
      <p:sp>
        <p:nvSpPr>
          <p:cNvPr id="15" name="Text 13"/>
          <p:cNvSpPr/>
          <p:nvPr/>
        </p:nvSpPr>
        <p:spPr>
          <a:xfrm>
            <a:off x="4586213" y="4191000"/>
            <a:ext cx="3063240" cy="1143000"/>
          </a:xfrm>
          <a:prstGeom prst="rect">
            <a:avLst/>
          </a:prstGeom>
          <a:noFill/>
          <a:ln/>
        </p:spPr>
        <p:txBody>
          <a:bodyPr vert="horz" wrap="square" lIns="0" tIns="0" rIns="0" bIns="0" rtlCol="0" anchor="t"/>
          <a:lstStyle/>
          <a:p>
            <a:pPr marL="0" indent="0" algn="l">
              <a:lnSpc>
                <a:spcPts val="1800"/>
              </a:lnSpc>
              <a:buNone/>
            </a:pPr>
            <a:r>
              <a:rPr lang="en-US" sz="1125" dirty="0">
                <a:solidFill>
                  <a:srgbClr val="333333"/>
                </a:solidFill>
                <a:latin typeface="Roboto" pitchFamily="34" charset="0"/>
                <a:ea typeface="Roboto" pitchFamily="34" charset="-122"/>
                <a:cs typeface="Roboto" pitchFamily="34" charset="-120"/>
              </a:rPr>
              <a:t>Validasi kapasitas hukum dilakukan melalui sistem identifikasi digital, autentikasi data kependudukan, atau pernyataan mandiri pengguna secara online guna memastikan kecakapan subjek hukum.</a:t>
            </a:r>
            <a:endParaRPr lang="en-US" sz="1125" dirty="0"/>
          </a:p>
        </p:txBody>
      </p:sp>
      <p:sp>
        <p:nvSpPr>
          <p:cNvPr id="16" name="Text 14"/>
          <p:cNvSpPr/>
          <p:nvPr/>
        </p:nvSpPr>
        <p:spPr>
          <a:xfrm>
            <a:off x="8127950" y="2095500"/>
            <a:ext cx="3492550" cy="3619500"/>
          </a:xfrm>
          <a:prstGeom prst="rect">
            <a:avLst/>
          </a:prstGeom>
          <a:solidFill>
            <a:srgbClr val="FFFFFF"/>
          </a:solidFill>
          <a:ln/>
        </p:spPr>
        <p:txBody>
          <a:bodyPr wrap="square" rtlCol="0" anchor="ctr"/>
          <a:lstStyle/>
          <a:p>
            <a:pPr marL="0" indent="0">
              <a:buNone/>
            </a:pPr>
            <a:endParaRPr lang="en-US" dirty="0"/>
          </a:p>
        </p:txBody>
      </p:sp>
      <p:sp>
        <p:nvSpPr>
          <p:cNvPr id="17" name="Shape 15"/>
          <p:cNvSpPr/>
          <p:nvPr/>
        </p:nvSpPr>
        <p:spPr>
          <a:xfrm>
            <a:off x="8127950" y="2119312"/>
            <a:ext cx="3492550" cy="0"/>
          </a:xfrm>
          <a:prstGeom prst="line">
            <a:avLst/>
          </a:prstGeom>
          <a:noFill/>
          <a:ln w="47625">
            <a:solidFill>
              <a:srgbClr val="5D645B"/>
            </a:solidFill>
            <a:prstDash val="solid"/>
          </a:ln>
        </p:spPr>
      </p:sp>
      <p:sp>
        <p:nvSpPr>
          <p:cNvPr id="18" name="Text 16"/>
          <p:cNvSpPr/>
          <p:nvPr/>
        </p:nvSpPr>
        <p:spPr>
          <a:xfrm>
            <a:off x="9540776" y="2524125"/>
            <a:ext cx="666750" cy="666750"/>
          </a:xfrm>
          <a:prstGeom prst="roundRect">
            <a:avLst>
              <a:gd name="adj" fmla="val 1371429"/>
            </a:avLst>
          </a:prstGeom>
          <a:solidFill>
            <a:srgbClr val="5D645B"/>
          </a:solidFill>
          <a:ln/>
        </p:spPr>
        <p:txBody>
          <a:bodyPr wrap="square" rtlCol="0" anchor="ctr"/>
          <a:lstStyle/>
          <a:p>
            <a:pPr marL="0" indent="0">
              <a:buNone/>
            </a:pPr>
            <a:endParaRPr lang="en-US" dirty="0"/>
          </a:p>
        </p:txBody>
      </p:sp>
      <p:sp>
        <p:nvSpPr>
          <p:cNvPr id="19" name="Text 17"/>
          <p:cNvSpPr/>
          <p:nvPr/>
        </p:nvSpPr>
        <p:spPr>
          <a:xfrm>
            <a:off x="9708273" y="2690813"/>
            <a:ext cx="411480" cy="374904"/>
          </a:xfrm>
          <a:prstGeom prst="rect">
            <a:avLst/>
          </a:prstGeom>
          <a:noFill/>
          <a:ln/>
        </p:spPr>
        <p:txBody>
          <a:bodyPr vert="horz" wrap="none" lIns="0" tIns="0" rIns="0" bIns="0" rtlCol="0" anchor="t">
            <a:normAutofit/>
          </a:bodyPr>
          <a:lstStyle/>
          <a:p>
            <a:pPr marL="0" indent="0" algn="ctr">
              <a:lnSpc>
                <a:spcPts val="2700"/>
              </a:lnSpc>
              <a:buNone/>
            </a:pPr>
            <a:r>
              <a:rPr lang="en-US" sz="2250" b="1" dirty="0">
                <a:solidFill>
                  <a:srgbClr val="FFFFFF"/>
                </a:solidFill>
                <a:latin typeface="Roboto" pitchFamily="34" charset="0"/>
                <a:ea typeface="Roboto" pitchFamily="34" charset="-122"/>
                <a:cs typeface="Roboto" pitchFamily="34" charset="-120"/>
              </a:rPr>
              <a:t>03</a:t>
            </a:r>
            <a:endParaRPr lang="en-US" sz="2250" dirty="0"/>
          </a:p>
        </p:txBody>
      </p:sp>
      <p:sp>
        <p:nvSpPr>
          <p:cNvPr id="20" name="Text 18"/>
          <p:cNvSpPr/>
          <p:nvPr/>
        </p:nvSpPr>
        <p:spPr>
          <a:xfrm>
            <a:off x="8537793" y="3590925"/>
            <a:ext cx="2724912" cy="283464"/>
          </a:xfrm>
          <a:prstGeom prst="rect">
            <a:avLst/>
          </a:prstGeom>
          <a:noFill/>
          <a:ln/>
        </p:spPr>
        <p:txBody>
          <a:bodyPr vert="horz" wrap="none" lIns="190500" tIns="0" rIns="190500" bIns="0" rtlCol="0" anchor="t">
            <a:normAutofit/>
          </a:bodyPr>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Validitas Objek Digital</a:t>
            </a:r>
            <a:endParaRPr lang="en-US" sz="1500" dirty="0"/>
          </a:p>
        </p:txBody>
      </p:sp>
      <p:sp>
        <p:nvSpPr>
          <p:cNvPr id="21" name="Text 19"/>
          <p:cNvSpPr/>
          <p:nvPr/>
        </p:nvSpPr>
        <p:spPr>
          <a:xfrm>
            <a:off x="8364513" y="4191000"/>
            <a:ext cx="3063240" cy="1143000"/>
          </a:xfrm>
          <a:prstGeom prst="rect">
            <a:avLst/>
          </a:prstGeom>
          <a:noFill/>
          <a:ln/>
        </p:spPr>
        <p:txBody>
          <a:bodyPr vert="horz" wrap="square" lIns="0" tIns="0" rIns="0" bIns="0" rtlCol="0" anchor="t"/>
          <a:lstStyle/>
          <a:p>
            <a:pPr marL="0" indent="0" algn="l">
              <a:lnSpc>
                <a:spcPts val="1800"/>
              </a:lnSpc>
              <a:buNone/>
            </a:pPr>
            <a:r>
              <a:rPr lang="en-US" sz="1125" dirty="0">
                <a:solidFill>
                  <a:srgbClr val="333333"/>
                </a:solidFill>
                <a:latin typeface="Roboto" pitchFamily="34" charset="0"/>
                <a:ea typeface="Roboto" pitchFamily="34" charset="-122"/>
                <a:cs typeface="Roboto" pitchFamily="34" charset="-120"/>
              </a:rPr>
              <a:t>Produk digital, informasi, atau jasa daring diakui sebagai objek perjanjian yang sah (objek tertentu). Syaratnya adalah memenuhi aspek kebendaan dan tidak bertentangan dengan peraturan perundang-undangan.</a:t>
            </a:r>
            <a:endParaRPr lang="en-US" sz="1125" dirty="0"/>
          </a:p>
        </p:txBody>
      </p:sp>
      <p:sp>
        <p:nvSpPr>
          <p:cNvPr id="22" name="Text 20"/>
          <p:cNvSpPr/>
          <p:nvPr/>
        </p:nvSpPr>
        <p:spPr>
          <a:xfrm>
            <a:off x="-122825" y="617190"/>
            <a:ext cx="12536424" cy="484632"/>
          </a:xfrm>
          <a:prstGeom prst="rect">
            <a:avLst/>
          </a:prstGeom>
          <a:noFill/>
          <a:ln/>
        </p:spPr>
        <p:txBody>
          <a:bodyPr vert="horz" wrap="none" lIns="0" tIns="0" rIns="0" bIns="0" rtlCol="0" anchor="t">
            <a:normAutofit/>
          </a:bodyPr>
          <a:lstStyle/>
          <a:p>
            <a:pPr marL="0" indent="0" algn="ctr">
              <a:lnSpc>
                <a:spcPts val="3420"/>
              </a:lnSpc>
              <a:buNone/>
            </a:pPr>
            <a:r>
              <a:rPr lang="en-US" sz="2850" b="1" dirty="0">
                <a:solidFill>
                  <a:srgbClr val="000000"/>
                </a:solidFill>
                <a:latin typeface="Montserrat Thin" pitchFamily="34" charset="0"/>
                <a:ea typeface="Montserrat Thin" pitchFamily="34" charset="-122"/>
                <a:cs typeface="Montserrat Thin" pitchFamily="34" charset="-120"/>
              </a:rPr>
              <a:t>Penerapan Pasal 1320 KUH Perdata dalam Konteks Digital</a:t>
            </a:r>
            <a:endParaRPr lang="en-US" sz="2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4287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22920" y="620985"/>
            <a:ext cx="12545568" cy="530352"/>
          </a:xfrm>
          <a:prstGeom prst="rect">
            <a:avLst/>
          </a:prstGeom>
          <a:noFill/>
          <a:ln/>
        </p:spPr>
        <p:txBody>
          <a:bodyPr vert="horz" wrap="none" lIns="0" tIns="0" rIns="0" bIns="0" rtlCol="0" anchor="t">
            <a:normAutofit/>
          </a:bodyPr>
          <a:lstStyle/>
          <a:p>
            <a:pPr marL="0" indent="0" algn="ctr">
              <a:lnSpc>
                <a:spcPts val="3780"/>
              </a:lnSpc>
              <a:buNone/>
            </a:pPr>
            <a:r>
              <a:rPr lang="en-US" sz="3150" b="1" dirty="0">
                <a:solidFill>
                  <a:srgbClr val="000000"/>
                </a:solidFill>
                <a:latin typeface="Montserrat Thin" pitchFamily="34" charset="0"/>
                <a:ea typeface="Montserrat Thin" pitchFamily="34" charset="-122"/>
                <a:cs typeface="Montserrat Thin" pitchFamily="34" charset="-120"/>
              </a:rPr>
              <a:t>Perbedaan Kontrak Tradisional vs Kontrak Elektronik</a:t>
            </a:r>
            <a:endParaRPr lang="en-US" sz="3150" dirty="0"/>
          </a:p>
        </p:txBody>
      </p:sp>
      <p:sp>
        <p:nvSpPr>
          <p:cNvPr id="5" name="Text 3"/>
          <p:cNvSpPr/>
          <p:nvPr/>
        </p:nvSpPr>
        <p:spPr>
          <a:xfrm>
            <a:off x="571500" y="2095500"/>
            <a:ext cx="2619375" cy="3638550"/>
          </a:xfrm>
          <a:prstGeom prst="roundRect">
            <a:avLst>
              <a:gd name="adj" fmla="val 1455"/>
            </a:avLst>
          </a:prstGeom>
          <a:solidFill>
            <a:srgbClr val="FFFFFF"/>
          </a:solidFill>
          <a:ln/>
        </p:spPr>
        <p:txBody>
          <a:bodyPr wrap="square" rtlCol="0" anchor="ctr"/>
          <a:lstStyle/>
          <a:p>
            <a:pPr marL="0" indent="0">
              <a:buNone/>
            </a:pPr>
            <a:endParaRPr lang="en-US" dirty="0"/>
          </a:p>
        </p:txBody>
      </p:sp>
      <p:sp>
        <p:nvSpPr>
          <p:cNvPr id="6" name="Shape 4"/>
          <p:cNvSpPr/>
          <p:nvPr/>
        </p:nvSpPr>
        <p:spPr>
          <a:xfrm>
            <a:off x="571500" y="2119312"/>
            <a:ext cx="2619375" cy="0"/>
          </a:xfrm>
          <a:prstGeom prst="line">
            <a:avLst/>
          </a:prstGeom>
          <a:noFill/>
          <a:ln w="47625">
            <a:solidFill>
              <a:srgbClr val="5D645B"/>
            </a:solidFill>
            <a:prstDash val="solid"/>
          </a:ln>
        </p:spPr>
      </p:sp>
      <p:sp>
        <p:nvSpPr>
          <p:cNvPr id="7" name="Text 5"/>
          <p:cNvSpPr/>
          <p:nvPr/>
        </p:nvSpPr>
        <p:spPr>
          <a:xfrm>
            <a:off x="1595438" y="2333625"/>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8" name="Text 6"/>
          <p:cNvSpPr/>
          <p:nvPr/>
        </p:nvSpPr>
        <p:spPr>
          <a:xfrm>
            <a:off x="1728788" y="2462213"/>
            <a:ext cx="384048" cy="347472"/>
          </a:xfrm>
          <a:prstGeom prst="rect">
            <a:avLst/>
          </a:prstGeom>
          <a:noFill/>
          <a:ln/>
        </p:spPr>
        <p:txBody>
          <a:bodyPr vert="horz" wrap="none" lIns="0" tIns="0" rIns="0" bIns="0" rtlCol="0" anchor="t">
            <a:normAutofit/>
          </a:bodyPr>
          <a:lstStyle/>
          <a:p>
            <a:pPr marL="0" indent="0" algn="l">
              <a:lnSpc>
                <a:spcPts val="2520"/>
              </a:lnSpc>
              <a:buNone/>
            </a:pPr>
            <a:r>
              <a:rPr lang="en-US" sz="2100" b="1" dirty="0">
                <a:solidFill>
                  <a:srgbClr val="FFFFFF"/>
                </a:solidFill>
                <a:latin typeface="Roboto" pitchFamily="34" charset="0"/>
                <a:ea typeface="Roboto" pitchFamily="34" charset="-122"/>
                <a:cs typeface="Roboto" pitchFamily="34" charset="-120"/>
              </a:rPr>
              <a:t>01</a:t>
            </a:r>
            <a:endParaRPr lang="en-US" sz="2100" dirty="0"/>
          </a:p>
        </p:txBody>
      </p:sp>
      <p:sp>
        <p:nvSpPr>
          <p:cNvPr id="9" name="Text 7"/>
          <p:cNvSpPr/>
          <p:nvPr/>
        </p:nvSpPr>
        <p:spPr>
          <a:xfrm>
            <a:off x="739188" y="3095625"/>
            <a:ext cx="2331720" cy="237744"/>
          </a:xfrm>
          <a:prstGeom prst="rect">
            <a:avLst/>
          </a:prstGeom>
          <a:noFill/>
          <a:ln/>
        </p:spPr>
        <p:txBody>
          <a:bodyPr vert="horz" wrap="none" lIns="0" tIns="0" rIns="190500" bIns="0" rtlCol="0" anchor="t">
            <a:normAutofit/>
          </a:bodyPr>
          <a:lstStyle/>
          <a:p>
            <a:pPr marL="0" indent="0" algn="ctr">
              <a:lnSpc>
                <a:spcPts val="1620"/>
              </a:lnSpc>
              <a:buNone/>
            </a:pPr>
            <a:r>
              <a:rPr lang="en-US" sz="1350" b="1" dirty="0">
                <a:solidFill>
                  <a:srgbClr val="000000"/>
                </a:solidFill>
                <a:latin typeface="Montserrat Thin" pitchFamily="34" charset="0"/>
                <a:ea typeface="Montserrat Thin" pitchFamily="34" charset="-122"/>
                <a:cs typeface="Montserrat Thin" pitchFamily="34" charset="-120"/>
              </a:rPr>
              <a:t>Transformasi Kontrak</a:t>
            </a:r>
            <a:endParaRPr lang="en-US" sz="1350" dirty="0"/>
          </a:p>
        </p:txBody>
      </p:sp>
      <p:sp>
        <p:nvSpPr>
          <p:cNvPr id="10" name="Text 8"/>
          <p:cNvSpPr/>
          <p:nvPr/>
        </p:nvSpPr>
        <p:spPr>
          <a:xfrm>
            <a:off x="762000" y="3448050"/>
            <a:ext cx="2276856" cy="768096"/>
          </a:xfrm>
          <a:prstGeom prst="rect">
            <a:avLst/>
          </a:prstGeom>
          <a:noFill/>
          <a:ln/>
        </p:spPr>
        <p:txBody>
          <a:bodyPr vert="horz" wrap="square" lIns="0" tIns="0" rIns="0" bIns="0" rtlCol="0" anchor="t"/>
          <a:lstStyle/>
          <a:p>
            <a:pPr marL="0" indent="0" algn="l">
              <a:lnSpc>
                <a:spcPts val="1560"/>
              </a:lnSpc>
              <a:buNone/>
            </a:pPr>
            <a:r>
              <a:rPr lang="en-US" sz="975" dirty="0">
                <a:solidFill>
                  <a:srgbClr val="333333"/>
                </a:solidFill>
                <a:latin typeface="Roboto" pitchFamily="34" charset="0"/>
                <a:ea typeface="Roboto" pitchFamily="34" charset="-122"/>
                <a:cs typeface="Roboto" pitchFamily="34" charset="-120"/>
              </a:rPr>
              <a:t>Kontrak bertransformasi dari media kertas konvensional menjadi data elektronik yang efisien, mengubah cara interaksi hukum secara fundamental.</a:t>
            </a:r>
            <a:endParaRPr lang="en-US" sz="975" dirty="0"/>
          </a:p>
        </p:txBody>
      </p:sp>
      <p:pic>
        <p:nvPicPr>
          <p:cNvPr id="11" name="Image 0" descr="image.png"/>
          <p:cNvPicPr>
            <a:picLocks noChangeAspect="1"/>
          </p:cNvPicPr>
          <p:nvPr/>
        </p:nvPicPr>
        <p:blipFill>
          <a:blip r:embed="rId3"/>
          <a:srcRect/>
          <a:stretch/>
        </p:blipFill>
        <p:spPr>
          <a:xfrm>
            <a:off x="762000" y="4400550"/>
            <a:ext cx="2238375" cy="1143000"/>
          </a:xfrm>
          <a:prstGeom prst="rect">
            <a:avLst/>
          </a:prstGeom>
        </p:spPr>
      </p:pic>
      <p:sp>
        <p:nvSpPr>
          <p:cNvPr id="12" name="Text 9"/>
          <p:cNvSpPr/>
          <p:nvPr/>
        </p:nvSpPr>
        <p:spPr>
          <a:xfrm>
            <a:off x="3381375" y="2095500"/>
            <a:ext cx="2619375" cy="3638550"/>
          </a:xfrm>
          <a:prstGeom prst="roundRect">
            <a:avLst>
              <a:gd name="adj" fmla="val 1455"/>
            </a:avLst>
          </a:prstGeom>
          <a:solidFill>
            <a:srgbClr val="FFFFFF"/>
          </a:solidFill>
          <a:ln/>
        </p:spPr>
        <p:txBody>
          <a:bodyPr wrap="square" rtlCol="0" anchor="ctr"/>
          <a:lstStyle/>
          <a:p>
            <a:pPr marL="0" indent="0">
              <a:buNone/>
            </a:pPr>
            <a:endParaRPr lang="en-US" dirty="0"/>
          </a:p>
        </p:txBody>
      </p:sp>
      <p:sp>
        <p:nvSpPr>
          <p:cNvPr id="13" name="Shape 10"/>
          <p:cNvSpPr/>
          <p:nvPr/>
        </p:nvSpPr>
        <p:spPr>
          <a:xfrm>
            <a:off x="3381375" y="2119312"/>
            <a:ext cx="2619375" cy="0"/>
          </a:xfrm>
          <a:prstGeom prst="line">
            <a:avLst/>
          </a:prstGeom>
          <a:noFill/>
          <a:ln w="47625">
            <a:solidFill>
              <a:srgbClr val="5D645B"/>
            </a:solidFill>
            <a:prstDash val="solid"/>
          </a:ln>
        </p:spPr>
      </p:sp>
      <p:sp>
        <p:nvSpPr>
          <p:cNvPr id="14" name="Text 11"/>
          <p:cNvSpPr/>
          <p:nvPr/>
        </p:nvSpPr>
        <p:spPr>
          <a:xfrm>
            <a:off x="4405313" y="2333625"/>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15" name="Text 12"/>
          <p:cNvSpPr/>
          <p:nvPr/>
        </p:nvSpPr>
        <p:spPr>
          <a:xfrm>
            <a:off x="4538663" y="2462213"/>
            <a:ext cx="384048" cy="347472"/>
          </a:xfrm>
          <a:prstGeom prst="rect">
            <a:avLst/>
          </a:prstGeom>
          <a:noFill/>
          <a:ln/>
        </p:spPr>
        <p:txBody>
          <a:bodyPr vert="horz" wrap="none" lIns="0" tIns="0" rIns="0" bIns="0" rtlCol="0" anchor="t">
            <a:normAutofit/>
          </a:bodyPr>
          <a:lstStyle/>
          <a:p>
            <a:pPr marL="0" indent="0" algn="l">
              <a:lnSpc>
                <a:spcPts val="2520"/>
              </a:lnSpc>
              <a:buNone/>
            </a:pPr>
            <a:r>
              <a:rPr lang="en-US" sz="2100" b="1" dirty="0">
                <a:solidFill>
                  <a:srgbClr val="FFFFFF"/>
                </a:solidFill>
                <a:latin typeface="Roboto" pitchFamily="34" charset="0"/>
                <a:ea typeface="Roboto" pitchFamily="34" charset="-122"/>
                <a:cs typeface="Roboto" pitchFamily="34" charset="-120"/>
              </a:rPr>
              <a:t>02</a:t>
            </a:r>
            <a:endParaRPr lang="en-US" sz="2100" dirty="0"/>
          </a:p>
        </p:txBody>
      </p:sp>
      <p:sp>
        <p:nvSpPr>
          <p:cNvPr id="16" name="Text 13"/>
          <p:cNvSpPr/>
          <p:nvPr/>
        </p:nvSpPr>
        <p:spPr>
          <a:xfrm>
            <a:off x="3549063" y="3095625"/>
            <a:ext cx="2331720" cy="237744"/>
          </a:xfrm>
          <a:prstGeom prst="rect">
            <a:avLst/>
          </a:prstGeom>
          <a:noFill/>
          <a:ln/>
        </p:spPr>
        <p:txBody>
          <a:bodyPr vert="horz" wrap="none" lIns="0" tIns="0" rIns="190500" bIns="0" rtlCol="0" anchor="t">
            <a:normAutofit/>
          </a:bodyPr>
          <a:lstStyle/>
          <a:p>
            <a:pPr marL="0" indent="0" algn="ctr">
              <a:lnSpc>
                <a:spcPts val="1620"/>
              </a:lnSpc>
              <a:buNone/>
            </a:pPr>
            <a:r>
              <a:rPr lang="en-US" sz="1350" b="1" dirty="0">
                <a:solidFill>
                  <a:srgbClr val="000000"/>
                </a:solidFill>
                <a:latin typeface="Montserrat Thin" pitchFamily="34" charset="0"/>
                <a:ea typeface="Montserrat Thin" pitchFamily="34" charset="-122"/>
                <a:cs typeface="Montserrat Thin" pitchFamily="34" charset="-120"/>
              </a:rPr>
              <a:t>Asas Kebebasan</a:t>
            </a:r>
            <a:endParaRPr lang="en-US" sz="1350" dirty="0"/>
          </a:p>
        </p:txBody>
      </p:sp>
      <p:sp>
        <p:nvSpPr>
          <p:cNvPr id="17" name="Text 14"/>
          <p:cNvSpPr/>
          <p:nvPr/>
        </p:nvSpPr>
        <p:spPr>
          <a:xfrm>
            <a:off x="3571875" y="3448050"/>
            <a:ext cx="2276856" cy="768096"/>
          </a:xfrm>
          <a:prstGeom prst="rect">
            <a:avLst/>
          </a:prstGeom>
          <a:noFill/>
          <a:ln/>
        </p:spPr>
        <p:txBody>
          <a:bodyPr vert="horz" wrap="square" lIns="0" tIns="0" rIns="0" bIns="0" rtlCol="0" anchor="t"/>
          <a:lstStyle/>
          <a:p>
            <a:pPr marL="0" indent="0" algn="l">
              <a:lnSpc>
                <a:spcPts val="1560"/>
              </a:lnSpc>
              <a:buNone/>
            </a:pPr>
            <a:r>
              <a:rPr lang="en-US" sz="975" dirty="0">
                <a:solidFill>
                  <a:srgbClr val="333333"/>
                </a:solidFill>
                <a:latin typeface="Roboto" pitchFamily="34" charset="0"/>
                <a:ea typeface="Roboto" pitchFamily="34" charset="-122"/>
                <a:cs typeface="Roboto" pitchFamily="34" charset="-120"/>
              </a:rPr>
              <a:t>Asas kebebasan berkontrak tetap berlaku di ruang siber, memberi fleksibilitas bagi para pihak menentukan klausula secara mandiri dan legal.</a:t>
            </a:r>
            <a:endParaRPr lang="en-US" sz="975" dirty="0"/>
          </a:p>
        </p:txBody>
      </p:sp>
      <p:pic>
        <p:nvPicPr>
          <p:cNvPr id="18" name="Image 1" descr="image.png"/>
          <p:cNvPicPr>
            <a:picLocks noChangeAspect="1"/>
          </p:cNvPicPr>
          <p:nvPr/>
        </p:nvPicPr>
        <p:blipFill>
          <a:blip r:embed="rId4"/>
          <a:srcRect/>
          <a:stretch/>
        </p:blipFill>
        <p:spPr>
          <a:xfrm>
            <a:off x="3571875" y="4400550"/>
            <a:ext cx="2238375" cy="1143000"/>
          </a:xfrm>
          <a:prstGeom prst="rect">
            <a:avLst/>
          </a:prstGeom>
        </p:spPr>
      </p:pic>
      <p:sp>
        <p:nvSpPr>
          <p:cNvPr id="19" name="Text 15"/>
          <p:cNvSpPr/>
          <p:nvPr/>
        </p:nvSpPr>
        <p:spPr>
          <a:xfrm>
            <a:off x="6191250" y="2095500"/>
            <a:ext cx="2619375" cy="3848100"/>
          </a:xfrm>
          <a:prstGeom prst="roundRect">
            <a:avLst>
              <a:gd name="adj" fmla="val 1455"/>
            </a:avLst>
          </a:prstGeom>
          <a:solidFill>
            <a:srgbClr val="FFFFFF"/>
          </a:solidFill>
          <a:ln/>
        </p:spPr>
        <p:txBody>
          <a:bodyPr wrap="square" rtlCol="0" anchor="ctr"/>
          <a:lstStyle/>
          <a:p>
            <a:pPr marL="0" indent="0">
              <a:buNone/>
            </a:pPr>
            <a:endParaRPr lang="en-US" dirty="0"/>
          </a:p>
        </p:txBody>
      </p:sp>
      <p:sp>
        <p:nvSpPr>
          <p:cNvPr id="20" name="Shape 16"/>
          <p:cNvSpPr/>
          <p:nvPr/>
        </p:nvSpPr>
        <p:spPr>
          <a:xfrm>
            <a:off x="6191250" y="2119312"/>
            <a:ext cx="2619375" cy="0"/>
          </a:xfrm>
          <a:prstGeom prst="line">
            <a:avLst/>
          </a:prstGeom>
          <a:noFill/>
          <a:ln w="47625">
            <a:solidFill>
              <a:srgbClr val="5D645B"/>
            </a:solidFill>
            <a:prstDash val="solid"/>
          </a:ln>
        </p:spPr>
      </p:sp>
      <p:sp>
        <p:nvSpPr>
          <p:cNvPr id="21" name="Text 17"/>
          <p:cNvSpPr/>
          <p:nvPr/>
        </p:nvSpPr>
        <p:spPr>
          <a:xfrm>
            <a:off x="7215188" y="2333625"/>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22" name="Text 18"/>
          <p:cNvSpPr/>
          <p:nvPr/>
        </p:nvSpPr>
        <p:spPr>
          <a:xfrm>
            <a:off x="7348538" y="2462213"/>
            <a:ext cx="384048" cy="347472"/>
          </a:xfrm>
          <a:prstGeom prst="rect">
            <a:avLst/>
          </a:prstGeom>
          <a:noFill/>
          <a:ln/>
        </p:spPr>
        <p:txBody>
          <a:bodyPr vert="horz" wrap="none" lIns="0" tIns="0" rIns="0" bIns="0" rtlCol="0" anchor="t">
            <a:normAutofit/>
          </a:bodyPr>
          <a:lstStyle/>
          <a:p>
            <a:pPr marL="0" indent="0" algn="l">
              <a:lnSpc>
                <a:spcPts val="2520"/>
              </a:lnSpc>
              <a:buNone/>
            </a:pPr>
            <a:r>
              <a:rPr lang="en-US" sz="2100" b="1" dirty="0">
                <a:solidFill>
                  <a:srgbClr val="FFFFFF"/>
                </a:solidFill>
                <a:latin typeface="Roboto" pitchFamily="34" charset="0"/>
                <a:ea typeface="Roboto" pitchFamily="34" charset="-122"/>
                <a:cs typeface="Roboto" pitchFamily="34" charset="-120"/>
              </a:rPr>
              <a:t>03</a:t>
            </a:r>
            <a:endParaRPr lang="en-US" sz="2100" dirty="0"/>
          </a:p>
        </p:txBody>
      </p:sp>
      <p:sp>
        <p:nvSpPr>
          <p:cNvPr id="23" name="Text 19"/>
          <p:cNvSpPr/>
          <p:nvPr/>
        </p:nvSpPr>
        <p:spPr>
          <a:xfrm>
            <a:off x="6381750" y="3095625"/>
            <a:ext cx="2286000" cy="420624"/>
          </a:xfrm>
          <a:prstGeom prst="rect">
            <a:avLst/>
          </a:prstGeom>
          <a:noFill/>
          <a:ln/>
        </p:spPr>
        <p:txBody>
          <a:bodyPr vert="horz" wrap="square" lIns="0" tIns="0" rIns="190500" bIns="0" rtlCol="0" anchor="t"/>
          <a:lstStyle/>
          <a:p>
            <a:pPr marL="0" indent="0" algn="ctr">
              <a:lnSpc>
                <a:spcPts val="1620"/>
              </a:lnSpc>
              <a:buNone/>
            </a:pPr>
            <a:r>
              <a:rPr lang="en-US" sz="1350" b="1" dirty="0">
                <a:solidFill>
                  <a:srgbClr val="000000"/>
                </a:solidFill>
                <a:latin typeface="Montserrat Thin" pitchFamily="34" charset="0"/>
                <a:ea typeface="Montserrat Thin" pitchFamily="34" charset="-122"/>
                <a:cs typeface="Montserrat Thin" pitchFamily="34" charset="-120"/>
              </a:rPr>
              <a:t>Itikad Baik (Good Faith)</a:t>
            </a:r>
            <a:endParaRPr lang="en-US" sz="1350" dirty="0"/>
          </a:p>
        </p:txBody>
      </p:sp>
      <p:sp>
        <p:nvSpPr>
          <p:cNvPr id="24" name="Text 20"/>
          <p:cNvSpPr/>
          <p:nvPr/>
        </p:nvSpPr>
        <p:spPr>
          <a:xfrm>
            <a:off x="6381750" y="3657600"/>
            <a:ext cx="2276856" cy="768096"/>
          </a:xfrm>
          <a:prstGeom prst="rect">
            <a:avLst/>
          </a:prstGeom>
          <a:noFill/>
          <a:ln/>
        </p:spPr>
        <p:txBody>
          <a:bodyPr vert="horz" wrap="square" lIns="0" tIns="0" rIns="0" bIns="0" rtlCol="0" anchor="t"/>
          <a:lstStyle/>
          <a:p>
            <a:pPr marL="0" indent="0" algn="l">
              <a:lnSpc>
                <a:spcPts val="1560"/>
              </a:lnSpc>
              <a:buNone/>
            </a:pPr>
            <a:r>
              <a:rPr lang="en-US" sz="975" dirty="0">
                <a:solidFill>
                  <a:srgbClr val="333333"/>
                </a:solidFill>
                <a:latin typeface="Roboto" pitchFamily="34" charset="0"/>
                <a:ea typeface="Roboto" pitchFamily="34" charset="-122"/>
                <a:cs typeface="Roboto" pitchFamily="34" charset="-120"/>
              </a:rPr>
              <a:t>Prinsip itikad baik menjadi fondasi utama e-commerce guna menjamin perlindungan hukum dan kejujuran bagi konsumen serta pelaku usaha.</a:t>
            </a:r>
            <a:endParaRPr lang="en-US" sz="975" dirty="0"/>
          </a:p>
        </p:txBody>
      </p:sp>
      <p:pic>
        <p:nvPicPr>
          <p:cNvPr id="25" name="Image 2" descr="image.png"/>
          <p:cNvPicPr>
            <a:picLocks noChangeAspect="1"/>
          </p:cNvPicPr>
          <p:nvPr/>
        </p:nvPicPr>
        <p:blipFill>
          <a:blip r:embed="rId5"/>
          <a:srcRect/>
          <a:stretch/>
        </p:blipFill>
        <p:spPr>
          <a:xfrm>
            <a:off x="6381750" y="4610100"/>
            <a:ext cx="2238375" cy="1143000"/>
          </a:xfrm>
          <a:prstGeom prst="rect">
            <a:avLst/>
          </a:prstGeom>
        </p:spPr>
      </p:pic>
      <p:sp>
        <p:nvSpPr>
          <p:cNvPr id="26" name="Text 21"/>
          <p:cNvSpPr/>
          <p:nvPr/>
        </p:nvSpPr>
        <p:spPr>
          <a:xfrm>
            <a:off x="9001125" y="2095500"/>
            <a:ext cx="2619375" cy="3638550"/>
          </a:xfrm>
          <a:prstGeom prst="roundRect">
            <a:avLst>
              <a:gd name="adj" fmla="val 1455"/>
            </a:avLst>
          </a:prstGeom>
          <a:solidFill>
            <a:srgbClr val="FFFFFF"/>
          </a:solidFill>
          <a:ln/>
        </p:spPr>
        <p:txBody>
          <a:bodyPr wrap="square" rtlCol="0" anchor="ctr"/>
          <a:lstStyle/>
          <a:p>
            <a:pPr marL="0" indent="0">
              <a:buNone/>
            </a:pPr>
            <a:endParaRPr lang="en-US" dirty="0"/>
          </a:p>
        </p:txBody>
      </p:sp>
      <p:sp>
        <p:nvSpPr>
          <p:cNvPr id="27" name="Shape 22"/>
          <p:cNvSpPr/>
          <p:nvPr/>
        </p:nvSpPr>
        <p:spPr>
          <a:xfrm>
            <a:off x="9001125" y="2119312"/>
            <a:ext cx="2619375" cy="0"/>
          </a:xfrm>
          <a:prstGeom prst="line">
            <a:avLst/>
          </a:prstGeom>
          <a:noFill/>
          <a:ln w="47625">
            <a:solidFill>
              <a:srgbClr val="5D645B"/>
            </a:solidFill>
            <a:prstDash val="solid"/>
          </a:ln>
        </p:spPr>
      </p:sp>
      <p:sp>
        <p:nvSpPr>
          <p:cNvPr id="28" name="Text 23"/>
          <p:cNvSpPr/>
          <p:nvPr/>
        </p:nvSpPr>
        <p:spPr>
          <a:xfrm>
            <a:off x="10025063" y="2333625"/>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29" name="Text 24"/>
          <p:cNvSpPr/>
          <p:nvPr/>
        </p:nvSpPr>
        <p:spPr>
          <a:xfrm>
            <a:off x="10158413" y="2462213"/>
            <a:ext cx="384048" cy="347472"/>
          </a:xfrm>
          <a:prstGeom prst="rect">
            <a:avLst/>
          </a:prstGeom>
          <a:noFill/>
          <a:ln/>
        </p:spPr>
        <p:txBody>
          <a:bodyPr vert="horz" wrap="none" lIns="0" tIns="0" rIns="0" bIns="0" rtlCol="0" anchor="t">
            <a:normAutofit/>
          </a:bodyPr>
          <a:lstStyle/>
          <a:p>
            <a:pPr marL="0" indent="0" algn="l">
              <a:lnSpc>
                <a:spcPts val="2520"/>
              </a:lnSpc>
              <a:buNone/>
            </a:pPr>
            <a:r>
              <a:rPr lang="en-US" sz="2100" b="1" dirty="0">
                <a:solidFill>
                  <a:srgbClr val="FFFFFF"/>
                </a:solidFill>
                <a:latin typeface="Roboto" pitchFamily="34" charset="0"/>
                <a:ea typeface="Roboto" pitchFamily="34" charset="-122"/>
                <a:cs typeface="Roboto" pitchFamily="34" charset="-120"/>
              </a:rPr>
              <a:t>04</a:t>
            </a:r>
            <a:endParaRPr lang="en-US" sz="2100" dirty="0"/>
          </a:p>
        </p:txBody>
      </p:sp>
      <p:sp>
        <p:nvSpPr>
          <p:cNvPr id="30" name="Text 25"/>
          <p:cNvSpPr/>
          <p:nvPr/>
        </p:nvSpPr>
        <p:spPr>
          <a:xfrm>
            <a:off x="9168813" y="3095625"/>
            <a:ext cx="2331720" cy="237744"/>
          </a:xfrm>
          <a:prstGeom prst="rect">
            <a:avLst/>
          </a:prstGeom>
          <a:noFill/>
          <a:ln/>
        </p:spPr>
        <p:txBody>
          <a:bodyPr vert="horz" wrap="none" lIns="0" tIns="0" rIns="190500" bIns="0" rtlCol="0" anchor="t">
            <a:normAutofit/>
          </a:bodyPr>
          <a:lstStyle/>
          <a:p>
            <a:pPr marL="0" indent="0" algn="ctr">
              <a:lnSpc>
                <a:spcPts val="1620"/>
              </a:lnSpc>
              <a:buNone/>
            </a:pPr>
            <a:r>
              <a:rPr lang="en-US" sz="1350" b="1" dirty="0">
                <a:solidFill>
                  <a:srgbClr val="000000"/>
                </a:solidFill>
                <a:latin typeface="Montserrat Thin" pitchFamily="34" charset="0"/>
                <a:ea typeface="Montserrat Thin" pitchFamily="34" charset="-122"/>
                <a:cs typeface="Montserrat Thin" pitchFamily="34" charset="-120"/>
              </a:rPr>
              <a:t>Integritas Kontrak</a:t>
            </a:r>
            <a:endParaRPr lang="en-US" sz="1350" dirty="0"/>
          </a:p>
        </p:txBody>
      </p:sp>
      <p:sp>
        <p:nvSpPr>
          <p:cNvPr id="31" name="Text 26"/>
          <p:cNvSpPr/>
          <p:nvPr/>
        </p:nvSpPr>
        <p:spPr>
          <a:xfrm>
            <a:off x="9191625" y="3448050"/>
            <a:ext cx="2276856" cy="768096"/>
          </a:xfrm>
          <a:prstGeom prst="rect">
            <a:avLst/>
          </a:prstGeom>
          <a:noFill/>
          <a:ln/>
        </p:spPr>
        <p:txBody>
          <a:bodyPr vert="horz" wrap="square" lIns="0" tIns="0" rIns="0" bIns="0" rtlCol="0" anchor="t"/>
          <a:lstStyle/>
          <a:p>
            <a:pPr marL="0" indent="0" algn="l">
              <a:lnSpc>
                <a:spcPts val="1560"/>
              </a:lnSpc>
              <a:buNone/>
            </a:pPr>
            <a:r>
              <a:rPr lang="en-US" sz="975" dirty="0">
                <a:solidFill>
                  <a:srgbClr val="333333"/>
                </a:solidFill>
                <a:latin typeface="Roboto" pitchFamily="34" charset="0"/>
                <a:ea typeface="Roboto" pitchFamily="34" charset="-122"/>
                <a:cs typeface="Roboto" pitchFamily="34" charset="-120"/>
              </a:rPr>
              <a:t>Penerapan teknologi digital memastikan integritas kontrak elektronik setara dengan kontrak fisik tradisional dalam kekuatan pembuktian hukum.</a:t>
            </a:r>
            <a:endParaRPr lang="en-US" sz="975" dirty="0"/>
          </a:p>
        </p:txBody>
      </p:sp>
      <p:pic>
        <p:nvPicPr>
          <p:cNvPr id="32" name="Image 3" descr="image.png"/>
          <p:cNvPicPr>
            <a:picLocks noChangeAspect="1"/>
          </p:cNvPicPr>
          <p:nvPr/>
        </p:nvPicPr>
        <p:blipFill>
          <a:blip r:embed="rId6"/>
          <a:srcRect/>
          <a:stretch/>
        </p:blipFill>
        <p:spPr>
          <a:xfrm>
            <a:off x="9191625" y="4400550"/>
            <a:ext cx="2238375" cy="1143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33350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619250" y="1905000"/>
            <a:ext cx="3810000" cy="2133600"/>
          </a:xfrm>
          <a:prstGeom prst="rect">
            <a:avLst/>
          </a:prstGeom>
          <a:solidFill>
            <a:srgbClr val="FFFFFF"/>
          </a:solidFill>
          <a:ln/>
        </p:spPr>
        <p:txBody>
          <a:bodyPr wrap="square" rtlCol="0" anchor="ctr"/>
          <a:lstStyle/>
          <a:p>
            <a:pPr marL="0" indent="0">
              <a:buNone/>
            </a:pPr>
            <a:endParaRPr lang="en-US" dirty="0"/>
          </a:p>
        </p:txBody>
      </p:sp>
      <p:pic>
        <p:nvPicPr>
          <p:cNvPr id="5" name="Image 0" descr="image.png"/>
          <p:cNvPicPr>
            <a:picLocks noChangeAspect="1"/>
          </p:cNvPicPr>
          <p:nvPr/>
        </p:nvPicPr>
        <p:blipFill>
          <a:blip r:embed="rId3"/>
          <a:srcRect b="9614"/>
          <a:stretch/>
        </p:blipFill>
        <p:spPr>
          <a:xfrm>
            <a:off x="1619250" y="1905000"/>
            <a:ext cx="3810000" cy="2133600"/>
          </a:xfrm>
          <a:prstGeom prst="rect">
            <a:avLst/>
          </a:prstGeom>
        </p:spPr>
      </p:pic>
      <p:sp>
        <p:nvSpPr>
          <p:cNvPr id="6" name="Text 3"/>
          <p:cNvSpPr/>
          <p:nvPr/>
        </p:nvSpPr>
        <p:spPr>
          <a:xfrm>
            <a:off x="1619250" y="4229100"/>
            <a:ext cx="3810000" cy="2133600"/>
          </a:xfrm>
          <a:prstGeom prst="rect">
            <a:avLst/>
          </a:prstGeom>
          <a:solidFill>
            <a:srgbClr val="FFFFFF"/>
          </a:solidFill>
          <a:ln/>
        </p:spPr>
        <p:txBody>
          <a:bodyPr wrap="square" rtlCol="0" anchor="ctr"/>
          <a:lstStyle/>
          <a:p>
            <a:pPr marL="0" indent="0">
              <a:buNone/>
            </a:pPr>
            <a:endParaRPr lang="en-US" dirty="0"/>
          </a:p>
        </p:txBody>
      </p:sp>
      <p:pic>
        <p:nvPicPr>
          <p:cNvPr id="7" name="Image 1" descr="image.png"/>
          <p:cNvPicPr>
            <a:picLocks noChangeAspect="1"/>
          </p:cNvPicPr>
          <p:nvPr/>
        </p:nvPicPr>
        <p:blipFill>
          <a:blip r:embed="rId4"/>
          <a:srcRect b="6667"/>
          <a:stretch/>
        </p:blipFill>
        <p:spPr>
          <a:xfrm>
            <a:off x="1619250" y="4229100"/>
            <a:ext cx="3810000" cy="2133600"/>
          </a:xfrm>
          <a:prstGeom prst="rect">
            <a:avLst/>
          </a:prstGeom>
        </p:spPr>
      </p:pic>
      <p:sp>
        <p:nvSpPr>
          <p:cNvPr id="8" name="Text 4"/>
          <p:cNvSpPr/>
          <p:nvPr/>
        </p:nvSpPr>
        <p:spPr>
          <a:xfrm>
            <a:off x="6096000" y="1905000"/>
            <a:ext cx="5143500" cy="2133600"/>
          </a:xfrm>
          <a:prstGeom prst="rect">
            <a:avLst/>
          </a:prstGeom>
          <a:solidFill>
            <a:srgbClr val="FFFFFF"/>
          </a:solidFill>
          <a:ln/>
        </p:spPr>
        <p:txBody>
          <a:bodyPr wrap="square" rtlCol="0" anchor="ctr"/>
          <a:lstStyle/>
          <a:p>
            <a:pPr marL="0" indent="0">
              <a:buNone/>
            </a:pPr>
            <a:endParaRPr lang="en-US" dirty="0"/>
          </a:p>
        </p:txBody>
      </p:sp>
      <p:sp>
        <p:nvSpPr>
          <p:cNvPr id="9" name="Shape 5"/>
          <p:cNvSpPr/>
          <p:nvPr/>
        </p:nvSpPr>
        <p:spPr>
          <a:xfrm>
            <a:off x="6096000" y="1905000"/>
            <a:ext cx="0" cy="2133600"/>
          </a:xfrm>
          <a:prstGeom prst="line">
            <a:avLst/>
          </a:prstGeom>
          <a:noFill/>
          <a:ln w="47625">
            <a:solidFill>
              <a:srgbClr val="5D645B"/>
            </a:solidFill>
            <a:prstDash val="solid"/>
          </a:ln>
        </p:spPr>
      </p:sp>
      <p:sp>
        <p:nvSpPr>
          <p:cNvPr id="10" name="Text 6"/>
          <p:cNvSpPr/>
          <p:nvPr/>
        </p:nvSpPr>
        <p:spPr>
          <a:xfrm>
            <a:off x="6429375" y="2189708"/>
            <a:ext cx="4343400" cy="512064"/>
          </a:xfrm>
          <a:prstGeom prst="rect">
            <a:avLst/>
          </a:prstGeom>
          <a:noFill/>
          <a:ln/>
        </p:spPr>
        <p:txBody>
          <a:bodyPr vert="horz" wrap="square" lIns="0" tIns="0" rIns="0" bIns="0" rtlCol="0" anchor="t"/>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Definisi dan Fungsi Terms of Service (ToS)</a:t>
            </a:r>
            <a:endParaRPr lang="en-US" sz="1650" dirty="0"/>
          </a:p>
        </p:txBody>
      </p:sp>
      <p:sp>
        <p:nvSpPr>
          <p:cNvPr id="11" name="Text 7"/>
          <p:cNvSpPr/>
          <p:nvPr/>
        </p:nvSpPr>
        <p:spPr>
          <a:xfrm>
            <a:off x="6429375" y="2835176"/>
            <a:ext cx="4562856" cy="1042416"/>
          </a:xfrm>
          <a:prstGeom prst="rect">
            <a:avLst/>
          </a:prstGeom>
          <a:noFill/>
          <a:ln/>
        </p:spPr>
        <p:txBody>
          <a:bodyPr vert="horz" wrap="square" lIns="0" tIns="0" rIns="0" bIns="0" rtlCol="0" anchor="t"/>
          <a:lstStyle/>
          <a:p>
            <a:pPr marL="0" indent="0" algn="l">
              <a:lnSpc>
                <a:spcPts val="2040"/>
              </a:lnSpc>
              <a:buNone/>
            </a:pPr>
            <a:r>
              <a:rPr lang="en-US" sz="1200" dirty="0">
                <a:solidFill>
                  <a:srgbClr val="333333"/>
                </a:solidFill>
                <a:latin typeface="Roboto" pitchFamily="34" charset="0"/>
                <a:ea typeface="Roboto" pitchFamily="34" charset="-122"/>
                <a:cs typeface="Roboto" pitchFamily="34" charset="-120"/>
              </a:rPr>
              <a:t>Terms of Service (ToS) berfungsi sebagai kontrak adhesi yang mengatur hak dan kewajiban digital pengguna dalam transaksi elektronik. Instrumen ini menjadi standar hukum utama dalam ekosistem e-commerce modern saat ini.</a:t>
            </a:r>
            <a:endParaRPr lang="en-US" sz="1200" dirty="0"/>
          </a:p>
        </p:txBody>
      </p:sp>
      <p:sp>
        <p:nvSpPr>
          <p:cNvPr id="12" name="Text 8"/>
          <p:cNvSpPr/>
          <p:nvPr/>
        </p:nvSpPr>
        <p:spPr>
          <a:xfrm>
            <a:off x="6096000" y="4229100"/>
            <a:ext cx="5143500" cy="2133600"/>
          </a:xfrm>
          <a:prstGeom prst="rect">
            <a:avLst/>
          </a:prstGeom>
          <a:solidFill>
            <a:srgbClr val="FFFFFF"/>
          </a:solidFill>
          <a:ln/>
        </p:spPr>
        <p:txBody>
          <a:bodyPr wrap="square" rtlCol="0" anchor="ctr"/>
          <a:lstStyle/>
          <a:p>
            <a:pPr marL="0" indent="0">
              <a:buNone/>
            </a:pPr>
            <a:endParaRPr lang="en-US" dirty="0"/>
          </a:p>
        </p:txBody>
      </p:sp>
      <p:sp>
        <p:nvSpPr>
          <p:cNvPr id="13" name="Shape 9"/>
          <p:cNvSpPr/>
          <p:nvPr/>
        </p:nvSpPr>
        <p:spPr>
          <a:xfrm>
            <a:off x="6096000" y="4229100"/>
            <a:ext cx="0" cy="2133600"/>
          </a:xfrm>
          <a:prstGeom prst="line">
            <a:avLst/>
          </a:prstGeom>
          <a:noFill/>
          <a:ln w="47625">
            <a:solidFill>
              <a:srgbClr val="5D645B"/>
            </a:solidFill>
            <a:prstDash val="solid"/>
          </a:ln>
        </p:spPr>
      </p:sp>
      <p:sp>
        <p:nvSpPr>
          <p:cNvPr id="14" name="Text 10"/>
          <p:cNvSpPr/>
          <p:nvPr/>
        </p:nvSpPr>
        <p:spPr>
          <a:xfrm>
            <a:off x="6429375" y="4516710"/>
            <a:ext cx="4425696" cy="283464"/>
          </a:xfrm>
          <a:prstGeom prst="rect">
            <a:avLst/>
          </a:prstGeom>
          <a:noFill/>
          <a:ln/>
        </p:spPr>
        <p:txBody>
          <a:bodyPr vert="horz" wrap="none" lIns="0" tIns="0" rIns="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Kedudukan Hukum Kontrak Baku</a:t>
            </a:r>
            <a:endParaRPr lang="en-US" sz="1650" dirty="0"/>
          </a:p>
        </p:txBody>
      </p:sp>
      <p:sp>
        <p:nvSpPr>
          <p:cNvPr id="15" name="Text 11"/>
          <p:cNvSpPr/>
          <p:nvPr/>
        </p:nvSpPr>
        <p:spPr>
          <a:xfrm>
            <a:off x="6429375" y="4907905"/>
            <a:ext cx="4562856" cy="1042416"/>
          </a:xfrm>
          <a:prstGeom prst="rect">
            <a:avLst/>
          </a:prstGeom>
          <a:noFill/>
          <a:ln/>
        </p:spPr>
        <p:txBody>
          <a:bodyPr vert="horz" wrap="square" lIns="0" tIns="0" rIns="0" bIns="0" rtlCol="0" anchor="t"/>
          <a:lstStyle/>
          <a:p>
            <a:pPr marL="0" indent="0" algn="l">
              <a:lnSpc>
                <a:spcPts val="2040"/>
              </a:lnSpc>
              <a:buNone/>
            </a:pPr>
            <a:r>
              <a:rPr lang="en-US" sz="1200" dirty="0">
                <a:solidFill>
                  <a:srgbClr val="333333"/>
                </a:solidFill>
                <a:latin typeface="Roboto" pitchFamily="34" charset="0"/>
                <a:ea typeface="Roboto" pitchFamily="34" charset="-122"/>
                <a:cs typeface="Roboto" pitchFamily="34" charset="-120"/>
              </a:rPr>
              <a:t>Kontrak baku sangat krusial dalam perlindungan konsumen karena sifatnya yang non-negotiable. Pengguna tidak dapat menegosiasikan persyaratan secara individual, sehingga pengawasan hukum menjadi sangat penting.</a:t>
            </a:r>
            <a:endParaRPr lang="en-US" sz="1200" dirty="0"/>
          </a:p>
        </p:txBody>
      </p:sp>
      <p:sp>
        <p:nvSpPr>
          <p:cNvPr id="16" name="Text 12"/>
          <p:cNvSpPr/>
          <p:nvPr/>
        </p:nvSpPr>
        <p:spPr>
          <a:xfrm>
            <a:off x="809625" y="504825"/>
            <a:ext cx="10671048" cy="448056"/>
          </a:xfrm>
          <a:prstGeom prst="rect">
            <a:avLst/>
          </a:prstGeom>
          <a:noFill/>
          <a:ln/>
        </p:spPr>
        <p:txBody>
          <a:bodyPr vert="horz" wrap="square" lIns="0" tIns="0" rIns="0" bIns="0" rtlCol="0" anchor="t"/>
          <a:lstStyle/>
          <a:p>
            <a:pPr marL="0" indent="0" algn="l">
              <a:lnSpc>
                <a:spcPts val="3420"/>
              </a:lnSpc>
              <a:buNone/>
            </a:pPr>
            <a:r>
              <a:rPr lang="en-US" sz="2850" b="1" dirty="0">
                <a:solidFill>
                  <a:srgbClr val="000000"/>
                </a:solidFill>
                <a:latin typeface="Montserrat Thin" pitchFamily="34" charset="0"/>
                <a:ea typeface="Montserrat Thin" pitchFamily="34" charset="-122"/>
                <a:cs typeface="Montserrat Thin" pitchFamily="34" charset="-120"/>
              </a:rPr>
              <a:t>Anatomi E-Contract: Terms of Service dan Kontrak Baku</a:t>
            </a:r>
            <a:endParaRPr lang="en-US" sz="2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2382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095375" y="395288"/>
            <a:ext cx="10094976" cy="448056"/>
          </a:xfrm>
          <a:prstGeom prst="rect">
            <a:avLst/>
          </a:prstGeom>
          <a:noFill/>
          <a:ln/>
        </p:spPr>
        <p:txBody>
          <a:bodyPr vert="horz" wrap="square" lIns="0" tIns="0" rIns="0" bIns="0" rtlCol="0" anchor="t"/>
          <a:lstStyle/>
          <a:p>
            <a:pPr marL="0" indent="0" algn="ctr">
              <a:lnSpc>
                <a:spcPts val="3420"/>
              </a:lnSpc>
              <a:buNone/>
            </a:pPr>
            <a:r>
              <a:rPr lang="en-US" sz="2850" b="1" dirty="0">
                <a:solidFill>
                  <a:srgbClr val="000000"/>
                </a:solidFill>
                <a:latin typeface="Montserrat Thin" pitchFamily="34" charset="0"/>
                <a:ea typeface="Montserrat Thin" pitchFamily="34" charset="-122"/>
                <a:cs typeface="Montserrat Thin" pitchFamily="34" charset="-120"/>
              </a:rPr>
              <a:t>Hukum Kontrak Elektronik dan Syarat Sah Perjanjian</a:t>
            </a:r>
            <a:endParaRPr lang="en-US" sz="2850" dirty="0"/>
          </a:p>
        </p:txBody>
      </p:sp>
      <p:sp>
        <p:nvSpPr>
          <p:cNvPr id="5" name="Text 3"/>
          <p:cNvSpPr/>
          <p:nvPr/>
        </p:nvSpPr>
        <p:spPr>
          <a:xfrm>
            <a:off x="857250" y="1714500"/>
            <a:ext cx="5095875" cy="1990725"/>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857250" y="1733550"/>
            <a:ext cx="5095875" cy="0"/>
          </a:xfrm>
          <a:prstGeom prst="line">
            <a:avLst/>
          </a:prstGeom>
          <a:noFill/>
          <a:ln w="38100">
            <a:solidFill>
              <a:srgbClr val="5D645B"/>
            </a:solidFill>
            <a:prstDash val="solid"/>
          </a:ln>
        </p:spPr>
      </p:sp>
      <p:sp>
        <p:nvSpPr>
          <p:cNvPr id="7" name="Shape 5"/>
          <p:cNvSpPr/>
          <p:nvPr/>
        </p:nvSpPr>
        <p:spPr>
          <a:xfrm>
            <a:off x="857250" y="1714500"/>
            <a:ext cx="0" cy="1990725"/>
          </a:xfrm>
          <a:prstGeom prst="line">
            <a:avLst/>
          </a:prstGeom>
          <a:noFill/>
          <a:ln w="38100">
            <a:solidFill>
              <a:srgbClr val="5D645B"/>
            </a:solidFill>
            <a:prstDash val="solid"/>
          </a:ln>
        </p:spPr>
      </p:sp>
      <p:sp>
        <p:nvSpPr>
          <p:cNvPr id="8" name="Text 6"/>
          <p:cNvSpPr/>
          <p:nvPr/>
        </p:nvSpPr>
        <p:spPr>
          <a:xfrm>
            <a:off x="1181100" y="2038350"/>
            <a:ext cx="4617720" cy="210312"/>
          </a:xfrm>
          <a:prstGeom prst="rect">
            <a:avLst/>
          </a:prstGeom>
          <a:noFill/>
          <a:ln/>
        </p:spPr>
        <p:txBody>
          <a:bodyPr vert="horz" wrap="none" lIns="0" tIns="0" rIns="0" bIns="0" rtlCol="0" anchor="t">
            <a:normAutofit/>
          </a:bodyPr>
          <a:lstStyle/>
          <a:p>
            <a:pPr marL="0" indent="0" algn="l">
              <a:lnSpc>
                <a:spcPts val="1440"/>
              </a:lnSpc>
              <a:buNone/>
            </a:pPr>
            <a:r>
              <a:rPr lang="en-US" sz="1200" b="1" dirty="0">
                <a:solidFill>
                  <a:srgbClr val="5D645B"/>
                </a:solidFill>
                <a:latin typeface="Roboto" pitchFamily="34" charset="0"/>
                <a:ea typeface="Roboto" pitchFamily="34" charset="-122"/>
                <a:cs typeface="Roboto" pitchFamily="34" charset="-120"/>
              </a:rPr>
              <a:t>KEWAJIBAN PLATFORM</a:t>
            </a:r>
            <a:endParaRPr lang="en-US" sz="1200" dirty="0"/>
          </a:p>
        </p:txBody>
      </p:sp>
      <p:sp>
        <p:nvSpPr>
          <p:cNvPr id="9" name="Text 7"/>
          <p:cNvSpPr/>
          <p:nvPr/>
        </p:nvSpPr>
        <p:spPr>
          <a:xfrm>
            <a:off x="1181100" y="2362200"/>
            <a:ext cx="4626864" cy="265176"/>
          </a:xfrm>
          <a:prstGeom prst="rect">
            <a:avLst/>
          </a:prstGeom>
          <a:noFill/>
          <a:ln/>
        </p:spPr>
        <p:txBody>
          <a:bodyPr vert="horz" wrap="none" lIns="0" tIns="0" rIns="38100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Pengelolaan Data Transparan</a:t>
            </a:r>
            <a:endParaRPr lang="en-US" sz="1500" dirty="0"/>
          </a:p>
        </p:txBody>
      </p:sp>
      <p:sp>
        <p:nvSpPr>
          <p:cNvPr id="10" name="Text 8"/>
          <p:cNvSpPr/>
          <p:nvPr/>
        </p:nvSpPr>
        <p:spPr>
          <a:xfrm>
            <a:off x="1181100" y="2733675"/>
            <a:ext cx="4526280" cy="685800"/>
          </a:xfrm>
          <a:prstGeom prst="rect">
            <a:avLst/>
          </a:prstGeom>
          <a:noFill/>
          <a:ln/>
        </p:spPr>
        <p:txBody>
          <a:bodyPr vert="horz" wrap="square" lIns="0" tIns="0" rIns="0" bIns="0" rtlCol="0" anchor="t"/>
          <a:lstStyle/>
          <a:p>
            <a:pPr marL="0" indent="0" algn="l">
              <a:lnSpc>
                <a:spcPts val="1800"/>
              </a:lnSpc>
              <a:buNone/>
            </a:pPr>
            <a:r>
              <a:rPr lang="en-US" sz="1125" kern="0" spc="20" dirty="0">
                <a:solidFill>
                  <a:srgbClr val="333333"/>
                </a:solidFill>
                <a:latin typeface="Roboto" pitchFamily="34" charset="0"/>
                <a:ea typeface="Roboto" pitchFamily="34" charset="-122"/>
                <a:cs typeface="Roboto" pitchFamily="34" charset="-120"/>
              </a:rPr>
              <a:t>Penyedia platform wajib mengelola data secara transparan dan aman sebagai bagian integral dari perjanjian elektronik guna menjamin integritas layanan digital.</a:t>
            </a:r>
            <a:endParaRPr lang="en-US" sz="1125" dirty="0"/>
          </a:p>
        </p:txBody>
      </p:sp>
      <p:sp>
        <p:nvSpPr>
          <p:cNvPr id="11" name="Text 9"/>
          <p:cNvSpPr/>
          <p:nvPr/>
        </p:nvSpPr>
        <p:spPr>
          <a:xfrm>
            <a:off x="6238875" y="1714500"/>
            <a:ext cx="5095875" cy="1990725"/>
          </a:xfrm>
          <a:prstGeom prst="rect">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6238875" y="1733550"/>
            <a:ext cx="5095875" cy="0"/>
          </a:xfrm>
          <a:prstGeom prst="line">
            <a:avLst/>
          </a:prstGeom>
          <a:noFill/>
          <a:ln w="38100">
            <a:solidFill>
              <a:srgbClr val="5D645B"/>
            </a:solidFill>
            <a:prstDash val="solid"/>
          </a:ln>
        </p:spPr>
      </p:sp>
      <p:sp>
        <p:nvSpPr>
          <p:cNvPr id="13" name="Shape 11"/>
          <p:cNvSpPr/>
          <p:nvPr/>
        </p:nvSpPr>
        <p:spPr>
          <a:xfrm>
            <a:off x="6238875" y="1714500"/>
            <a:ext cx="0" cy="1990725"/>
          </a:xfrm>
          <a:prstGeom prst="line">
            <a:avLst/>
          </a:prstGeom>
          <a:noFill/>
          <a:ln w="38100">
            <a:solidFill>
              <a:srgbClr val="5D645B"/>
            </a:solidFill>
            <a:prstDash val="solid"/>
          </a:ln>
        </p:spPr>
      </p:sp>
      <p:sp>
        <p:nvSpPr>
          <p:cNvPr id="14" name="Text 12"/>
          <p:cNvSpPr/>
          <p:nvPr/>
        </p:nvSpPr>
        <p:spPr>
          <a:xfrm>
            <a:off x="6562725" y="2038350"/>
            <a:ext cx="4617720" cy="210312"/>
          </a:xfrm>
          <a:prstGeom prst="rect">
            <a:avLst/>
          </a:prstGeom>
          <a:noFill/>
          <a:ln/>
        </p:spPr>
        <p:txBody>
          <a:bodyPr vert="horz" wrap="none" lIns="0" tIns="0" rIns="0" bIns="0" rtlCol="0" anchor="t">
            <a:normAutofit/>
          </a:bodyPr>
          <a:lstStyle/>
          <a:p>
            <a:pPr marL="0" indent="0" algn="l">
              <a:lnSpc>
                <a:spcPts val="1440"/>
              </a:lnSpc>
              <a:buNone/>
            </a:pPr>
            <a:r>
              <a:rPr lang="en-US" sz="1200" b="1" dirty="0">
                <a:solidFill>
                  <a:srgbClr val="5D645B"/>
                </a:solidFill>
                <a:latin typeface="Roboto" pitchFamily="34" charset="0"/>
                <a:ea typeface="Roboto" pitchFamily="34" charset="-122"/>
                <a:cs typeface="Roboto" pitchFamily="34" charset="-120"/>
              </a:rPr>
              <a:t>KEPATUHAN REGULASI</a:t>
            </a:r>
            <a:endParaRPr lang="en-US" sz="1200" dirty="0"/>
          </a:p>
        </p:txBody>
      </p:sp>
      <p:sp>
        <p:nvSpPr>
          <p:cNvPr id="15" name="Text 13"/>
          <p:cNvSpPr/>
          <p:nvPr/>
        </p:nvSpPr>
        <p:spPr>
          <a:xfrm>
            <a:off x="6562725" y="2362200"/>
            <a:ext cx="4626864" cy="265176"/>
          </a:xfrm>
          <a:prstGeom prst="rect">
            <a:avLst/>
          </a:prstGeom>
          <a:noFill/>
          <a:ln/>
        </p:spPr>
        <p:txBody>
          <a:bodyPr vert="horz" wrap="none" lIns="0" tIns="0" rIns="38100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Privacy Policy &amp; UU PDP</a:t>
            </a:r>
            <a:endParaRPr lang="en-US" sz="1500" dirty="0"/>
          </a:p>
        </p:txBody>
      </p:sp>
      <p:sp>
        <p:nvSpPr>
          <p:cNvPr id="16" name="Text 14"/>
          <p:cNvSpPr/>
          <p:nvPr/>
        </p:nvSpPr>
        <p:spPr>
          <a:xfrm>
            <a:off x="6562725" y="2733675"/>
            <a:ext cx="4526280" cy="685800"/>
          </a:xfrm>
          <a:prstGeom prst="rect">
            <a:avLst/>
          </a:prstGeom>
          <a:noFill/>
          <a:ln/>
        </p:spPr>
        <p:txBody>
          <a:bodyPr vert="horz" wrap="square" lIns="0" tIns="0" rIns="0" bIns="0" rtlCol="0" anchor="t"/>
          <a:lstStyle/>
          <a:p>
            <a:pPr marL="0" indent="0" algn="l">
              <a:lnSpc>
                <a:spcPts val="1800"/>
              </a:lnSpc>
              <a:buNone/>
            </a:pPr>
            <a:r>
              <a:rPr lang="en-US" sz="1125" kern="0" spc="20" dirty="0">
                <a:solidFill>
                  <a:srgbClr val="333333"/>
                </a:solidFill>
                <a:latin typeface="Roboto" pitchFamily="34" charset="0"/>
                <a:ea typeface="Roboto" pitchFamily="34" charset="-122"/>
                <a:cs typeface="Roboto" pitchFamily="34" charset="-120"/>
              </a:rPr>
              <a:t>Kebijakan Privasi merupakan instrumen vital untuk memenuhi standar kepatuhan UU Perlindungan Data Pribadi dalam setiap transaksi dan kontrak elektronik.</a:t>
            </a:r>
            <a:endParaRPr lang="en-US" sz="1125" dirty="0"/>
          </a:p>
        </p:txBody>
      </p:sp>
      <p:sp>
        <p:nvSpPr>
          <p:cNvPr id="17" name="Text 15"/>
          <p:cNvSpPr/>
          <p:nvPr/>
        </p:nvSpPr>
        <p:spPr>
          <a:xfrm>
            <a:off x="857250" y="3990975"/>
            <a:ext cx="5095875" cy="1990725"/>
          </a:xfrm>
          <a:prstGeom prst="rect">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857250" y="4010025"/>
            <a:ext cx="5095875" cy="0"/>
          </a:xfrm>
          <a:prstGeom prst="line">
            <a:avLst/>
          </a:prstGeom>
          <a:noFill/>
          <a:ln w="38100">
            <a:solidFill>
              <a:srgbClr val="5D645B"/>
            </a:solidFill>
            <a:prstDash val="solid"/>
          </a:ln>
        </p:spPr>
      </p:sp>
      <p:sp>
        <p:nvSpPr>
          <p:cNvPr id="19" name="Shape 17"/>
          <p:cNvSpPr/>
          <p:nvPr/>
        </p:nvSpPr>
        <p:spPr>
          <a:xfrm>
            <a:off x="857250" y="3990975"/>
            <a:ext cx="0" cy="1990725"/>
          </a:xfrm>
          <a:prstGeom prst="line">
            <a:avLst/>
          </a:prstGeom>
          <a:noFill/>
          <a:ln w="38100">
            <a:solidFill>
              <a:srgbClr val="5D645B"/>
            </a:solidFill>
            <a:prstDash val="solid"/>
          </a:ln>
        </p:spPr>
      </p:sp>
      <p:sp>
        <p:nvSpPr>
          <p:cNvPr id="20" name="Text 18"/>
          <p:cNvSpPr/>
          <p:nvPr/>
        </p:nvSpPr>
        <p:spPr>
          <a:xfrm>
            <a:off x="1181100" y="4314825"/>
            <a:ext cx="4617720" cy="210312"/>
          </a:xfrm>
          <a:prstGeom prst="rect">
            <a:avLst/>
          </a:prstGeom>
          <a:noFill/>
          <a:ln/>
        </p:spPr>
        <p:txBody>
          <a:bodyPr vert="horz" wrap="none" lIns="0" tIns="0" rIns="0" bIns="0" rtlCol="0" anchor="t">
            <a:normAutofit/>
          </a:bodyPr>
          <a:lstStyle/>
          <a:p>
            <a:pPr marL="0" indent="0" algn="l">
              <a:lnSpc>
                <a:spcPts val="1440"/>
              </a:lnSpc>
              <a:buNone/>
            </a:pPr>
            <a:r>
              <a:rPr lang="en-US" sz="1200" b="1" dirty="0">
                <a:solidFill>
                  <a:srgbClr val="5D645B"/>
                </a:solidFill>
                <a:latin typeface="Roboto" pitchFamily="34" charset="0"/>
                <a:ea typeface="Roboto" pitchFamily="34" charset="-122"/>
                <a:cs typeface="Roboto" pitchFamily="34" charset="-120"/>
              </a:rPr>
              <a:t>HAK PENGGUNA</a:t>
            </a:r>
            <a:endParaRPr lang="en-US" sz="1200" dirty="0"/>
          </a:p>
        </p:txBody>
      </p:sp>
      <p:sp>
        <p:nvSpPr>
          <p:cNvPr id="21" name="Text 19"/>
          <p:cNvSpPr/>
          <p:nvPr/>
        </p:nvSpPr>
        <p:spPr>
          <a:xfrm>
            <a:off x="1181100" y="4638675"/>
            <a:ext cx="4626864" cy="265176"/>
          </a:xfrm>
          <a:prstGeom prst="rect">
            <a:avLst/>
          </a:prstGeom>
          <a:noFill/>
          <a:ln/>
        </p:spPr>
        <p:txBody>
          <a:bodyPr vert="horz" wrap="none" lIns="0" tIns="0" rIns="38100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Akses &amp; Kontrol Digital</a:t>
            </a:r>
            <a:endParaRPr lang="en-US" sz="1500" dirty="0"/>
          </a:p>
        </p:txBody>
      </p:sp>
      <p:sp>
        <p:nvSpPr>
          <p:cNvPr id="22" name="Text 20"/>
          <p:cNvSpPr/>
          <p:nvPr/>
        </p:nvSpPr>
        <p:spPr>
          <a:xfrm>
            <a:off x="1181100" y="5010150"/>
            <a:ext cx="4526280" cy="685800"/>
          </a:xfrm>
          <a:prstGeom prst="rect">
            <a:avLst/>
          </a:prstGeom>
          <a:noFill/>
          <a:ln/>
        </p:spPr>
        <p:txBody>
          <a:bodyPr vert="horz" wrap="square" lIns="0" tIns="0" rIns="0" bIns="0" rtlCol="0" anchor="t"/>
          <a:lstStyle/>
          <a:p>
            <a:pPr marL="0" indent="0" algn="l">
              <a:lnSpc>
                <a:spcPts val="1800"/>
              </a:lnSpc>
              <a:buNone/>
            </a:pPr>
            <a:r>
              <a:rPr lang="en-US" sz="1125" kern="0" spc="20" dirty="0">
                <a:solidFill>
                  <a:srgbClr val="333333"/>
                </a:solidFill>
                <a:latin typeface="Roboto" pitchFamily="34" charset="0"/>
                <a:ea typeface="Roboto" pitchFamily="34" charset="-122"/>
                <a:cs typeface="Roboto" pitchFamily="34" charset="-120"/>
              </a:rPr>
              <a:t>Pengguna memiliki hak penuh untuk mengakses, memperbaiki, dan menghapus data pribadi mereka di dalam ekosistem kontrak digital yang telah disepakati bersama.</a:t>
            </a:r>
            <a:endParaRPr lang="en-US" sz="1125" dirty="0"/>
          </a:p>
        </p:txBody>
      </p:sp>
      <p:sp>
        <p:nvSpPr>
          <p:cNvPr id="23" name="Text 21"/>
          <p:cNvSpPr/>
          <p:nvPr/>
        </p:nvSpPr>
        <p:spPr>
          <a:xfrm>
            <a:off x="6238875" y="3990975"/>
            <a:ext cx="5095875" cy="1990725"/>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6238875" y="4010025"/>
            <a:ext cx="5095875" cy="0"/>
          </a:xfrm>
          <a:prstGeom prst="line">
            <a:avLst/>
          </a:prstGeom>
          <a:noFill/>
          <a:ln w="38100">
            <a:solidFill>
              <a:srgbClr val="5D645B"/>
            </a:solidFill>
            <a:prstDash val="solid"/>
          </a:ln>
        </p:spPr>
      </p:sp>
      <p:sp>
        <p:nvSpPr>
          <p:cNvPr id="25" name="Shape 23"/>
          <p:cNvSpPr/>
          <p:nvPr/>
        </p:nvSpPr>
        <p:spPr>
          <a:xfrm>
            <a:off x="6238875" y="3990975"/>
            <a:ext cx="0" cy="1990725"/>
          </a:xfrm>
          <a:prstGeom prst="line">
            <a:avLst/>
          </a:prstGeom>
          <a:noFill/>
          <a:ln w="38100">
            <a:solidFill>
              <a:srgbClr val="5D645B"/>
            </a:solidFill>
            <a:prstDash val="solid"/>
          </a:ln>
        </p:spPr>
      </p:sp>
      <p:sp>
        <p:nvSpPr>
          <p:cNvPr id="26" name="Text 24"/>
          <p:cNvSpPr/>
          <p:nvPr/>
        </p:nvSpPr>
        <p:spPr>
          <a:xfrm>
            <a:off x="6562725" y="4314825"/>
            <a:ext cx="4617720" cy="210312"/>
          </a:xfrm>
          <a:prstGeom prst="rect">
            <a:avLst/>
          </a:prstGeom>
          <a:noFill/>
          <a:ln/>
        </p:spPr>
        <p:txBody>
          <a:bodyPr vert="horz" wrap="none" lIns="0" tIns="0" rIns="0" bIns="0" rtlCol="0" anchor="t">
            <a:normAutofit/>
          </a:bodyPr>
          <a:lstStyle/>
          <a:p>
            <a:pPr marL="0" indent="0" algn="l">
              <a:lnSpc>
                <a:spcPts val="1440"/>
              </a:lnSpc>
              <a:buNone/>
            </a:pPr>
            <a:r>
              <a:rPr lang="en-US" sz="1200" b="1" dirty="0">
                <a:solidFill>
                  <a:srgbClr val="5D645B"/>
                </a:solidFill>
                <a:latin typeface="Roboto" pitchFamily="34" charset="0"/>
                <a:ea typeface="Roboto" pitchFamily="34" charset="-122"/>
                <a:cs typeface="Roboto" pitchFamily="34" charset="-120"/>
              </a:rPr>
              <a:t>PERLINDUNGAN DATA</a:t>
            </a:r>
            <a:endParaRPr lang="en-US" sz="1200" dirty="0"/>
          </a:p>
        </p:txBody>
      </p:sp>
      <p:sp>
        <p:nvSpPr>
          <p:cNvPr id="27" name="Text 25"/>
          <p:cNvSpPr/>
          <p:nvPr/>
        </p:nvSpPr>
        <p:spPr>
          <a:xfrm>
            <a:off x="6562725" y="4638675"/>
            <a:ext cx="4626864" cy="265176"/>
          </a:xfrm>
          <a:prstGeom prst="rect">
            <a:avLst/>
          </a:prstGeom>
          <a:noFill/>
          <a:ln/>
        </p:spPr>
        <p:txBody>
          <a:bodyPr vert="horz" wrap="none" lIns="0" tIns="0" rIns="38100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Kewajiban Pengelolaan Data</a:t>
            </a:r>
            <a:endParaRPr lang="en-US" sz="1500" dirty="0"/>
          </a:p>
        </p:txBody>
      </p:sp>
      <p:sp>
        <p:nvSpPr>
          <p:cNvPr id="28" name="Text 26"/>
          <p:cNvSpPr/>
          <p:nvPr/>
        </p:nvSpPr>
        <p:spPr>
          <a:xfrm>
            <a:off x="6562725" y="5010150"/>
            <a:ext cx="4526280" cy="685800"/>
          </a:xfrm>
          <a:prstGeom prst="rect">
            <a:avLst/>
          </a:prstGeom>
          <a:noFill/>
          <a:ln/>
        </p:spPr>
        <p:txBody>
          <a:bodyPr vert="horz" wrap="square" lIns="0" tIns="0" rIns="0" bIns="0" rtlCol="0" anchor="t"/>
          <a:lstStyle/>
          <a:p>
            <a:pPr marL="0" indent="0" algn="l">
              <a:lnSpc>
                <a:spcPts val="1800"/>
              </a:lnSpc>
              <a:buNone/>
            </a:pPr>
            <a:r>
              <a:rPr lang="en-US" sz="1125" kern="0" spc="20" dirty="0">
                <a:solidFill>
                  <a:srgbClr val="333333"/>
                </a:solidFill>
                <a:latin typeface="Roboto" pitchFamily="34" charset="0"/>
                <a:ea typeface="Roboto" pitchFamily="34" charset="-122"/>
                <a:cs typeface="Roboto" pitchFamily="34" charset="-120"/>
              </a:rPr>
              <a:t>Fokus utama pada kewajiban hukum penyedia platform dalam mengelola data pribadi pengguna secara aman sesuai dengan koridor hukum yang berlaku di Indonesia.</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2382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243013" y="395288"/>
            <a:ext cx="9802368" cy="448056"/>
          </a:xfrm>
          <a:prstGeom prst="rect">
            <a:avLst/>
          </a:prstGeom>
          <a:noFill/>
          <a:ln/>
        </p:spPr>
        <p:txBody>
          <a:bodyPr vert="horz" wrap="square" lIns="0" tIns="0" rIns="0" bIns="0" rtlCol="0" anchor="t"/>
          <a:lstStyle/>
          <a:p>
            <a:pPr marL="0" indent="0" algn="ctr">
              <a:lnSpc>
                <a:spcPts val="3420"/>
              </a:lnSpc>
              <a:buNone/>
            </a:pPr>
            <a:r>
              <a:rPr lang="en-US" sz="2850" b="1" dirty="0">
                <a:solidFill>
                  <a:srgbClr val="000000"/>
                </a:solidFill>
                <a:latin typeface="Montserrat Thin" pitchFamily="34" charset="0"/>
                <a:ea typeface="Montserrat Thin" pitchFamily="34" charset="-122"/>
                <a:cs typeface="Montserrat Thin" pitchFamily="34" charset="-120"/>
              </a:rPr>
              <a:t>Mekanisme Persetujuan: Klik-wrap vs Browse-wrap</a:t>
            </a:r>
            <a:endParaRPr lang="en-US" sz="2850" dirty="0"/>
          </a:p>
        </p:txBody>
      </p:sp>
      <p:sp>
        <p:nvSpPr>
          <p:cNvPr id="5" name="Text 3"/>
          <p:cNvSpPr/>
          <p:nvPr/>
        </p:nvSpPr>
        <p:spPr>
          <a:xfrm>
            <a:off x="476250" y="1905000"/>
            <a:ext cx="5524500" cy="4191000"/>
          </a:xfrm>
          <a:prstGeom prst="rect">
            <a:avLst/>
          </a:prstGeom>
          <a:solidFill>
            <a:srgbClr val="FFFFFF"/>
          </a:solidFill>
          <a:ln w="19050">
            <a:solidFill>
              <a:srgbClr val="5D645B"/>
            </a:solidFill>
          </a:ln>
        </p:spPr>
        <p:txBody>
          <a:bodyPr wrap="square" rtlCol="0" anchor="ctr"/>
          <a:lstStyle/>
          <a:p>
            <a:pPr marL="0" indent="0">
              <a:buNone/>
            </a:pPr>
            <a:endParaRPr lang="en-US" dirty="0"/>
          </a:p>
        </p:txBody>
      </p:sp>
      <p:sp>
        <p:nvSpPr>
          <p:cNvPr id="6" name="Text 4"/>
          <p:cNvSpPr/>
          <p:nvPr/>
        </p:nvSpPr>
        <p:spPr>
          <a:xfrm>
            <a:off x="876300" y="2305050"/>
            <a:ext cx="4782312" cy="557784"/>
          </a:xfrm>
          <a:prstGeom prst="rect">
            <a:avLst/>
          </a:prstGeom>
          <a:noFill/>
          <a:ln/>
        </p:spPr>
        <p:txBody>
          <a:bodyPr vert="horz" wrap="square" lIns="0" tIns="0" rIns="285750" bIns="0" rtlCol="0" anchor="t"/>
          <a:lstStyle/>
          <a:p>
            <a:pPr marL="0" indent="0" algn="l">
              <a:lnSpc>
                <a:spcPts val="2160"/>
              </a:lnSpc>
              <a:buNone/>
            </a:pPr>
            <a:r>
              <a:rPr lang="en-US" sz="1800" b="1" dirty="0">
                <a:solidFill>
                  <a:srgbClr val="000000"/>
                </a:solidFill>
                <a:latin typeface="Montserrat Thin" pitchFamily="34" charset="0"/>
                <a:ea typeface="Montserrat Thin" pitchFamily="34" charset="-122"/>
                <a:cs typeface="Montserrat Thin" pitchFamily="34" charset="-120"/>
              </a:rPr>
              <a:t>Perbedaan Teknis &amp; Legalitas Mekanisme</a:t>
            </a:r>
            <a:endParaRPr lang="en-US" sz="1800" dirty="0"/>
          </a:p>
        </p:txBody>
      </p:sp>
      <p:sp>
        <p:nvSpPr>
          <p:cNvPr id="7" name="Text 5"/>
          <p:cNvSpPr/>
          <p:nvPr/>
        </p:nvSpPr>
        <p:spPr>
          <a:xfrm>
            <a:off x="876300" y="3045991"/>
            <a:ext cx="4764024" cy="1929384"/>
          </a:xfrm>
          <a:prstGeom prst="rect">
            <a:avLst/>
          </a:prstGeom>
          <a:noFill/>
          <a:ln/>
        </p:spPr>
        <p:txBody>
          <a:bodyPr vert="horz" wrap="square" lIns="0" tIns="0" rIns="0" bIns="0" rtlCol="0" anchor="t"/>
          <a:lstStyle/>
          <a:p>
            <a:pPr marL="0" indent="0" algn="l">
              <a:lnSpc>
                <a:spcPts val="2160"/>
              </a:lnSpc>
              <a:buNone/>
            </a:pPr>
            <a:r>
              <a:rPr lang="en-US" sz="1200" kern="0" spc="30" dirty="0">
                <a:solidFill>
                  <a:srgbClr val="333333"/>
                </a:solidFill>
                <a:latin typeface="Roboto" pitchFamily="34" charset="0"/>
                <a:ea typeface="Roboto" pitchFamily="34" charset="-122"/>
                <a:cs typeface="Roboto" pitchFamily="34" charset="-120"/>
              </a:rPr>
              <a:t>Mekanisme Klik-wrap mengharuskan tindakan aktif pengguna seperti mencentang kotak persetujuan, sedangkan Browse-wrap hanya mengandalkan penggunaan situs. Klik-wrap memiliki kekuatan pembuktian yang jauh lebih kuat dalam sistem hukum Indonesia karena merepresentasikan kesepakatan nyata yang dapat dibuktikan secara digital, memberikan kepastian hukum bagi para pihak yang bertransaksi secara elektronik.</a:t>
            </a:r>
            <a:endParaRPr lang="en-US" sz="1200" dirty="0"/>
          </a:p>
        </p:txBody>
      </p:sp>
      <p:sp>
        <p:nvSpPr>
          <p:cNvPr id="8" name="Text 6"/>
          <p:cNvSpPr/>
          <p:nvPr/>
        </p:nvSpPr>
        <p:spPr>
          <a:xfrm>
            <a:off x="6191250" y="1905000"/>
            <a:ext cx="5524500" cy="4191000"/>
          </a:xfrm>
          <a:prstGeom prst="rect">
            <a:avLst/>
          </a:prstGeom>
          <a:solidFill>
            <a:srgbClr val="FFFFFF"/>
          </a:solidFill>
          <a:ln w="19050">
            <a:solidFill>
              <a:srgbClr val="5D645B"/>
            </a:solidFill>
          </a:ln>
        </p:spPr>
        <p:txBody>
          <a:bodyPr wrap="square" rtlCol="0" anchor="ctr"/>
          <a:lstStyle/>
          <a:p>
            <a:pPr marL="0" indent="0">
              <a:buNone/>
            </a:pPr>
            <a:endParaRPr lang="en-US" dirty="0"/>
          </a:p>
        </p:txBody>
      </p:sp>
      <p:sp>
        <p:nvSpPr>
          <p:cNvPr id="9" name="Text 7"/>
          <p:cNvSpPr/>
          <p:nvPr/>
        </p:nvSpPr>
        <p:spPr>
          <a:xfrm>
            <a:off x="6591300" y="2305050"/>
            <a:ext cx="4882896" cy="310896"/>
          </a:xfrm>
          <a:prstGeom prst="rect">
            <a:avLst/>
          </a:prstGeom>
          <a:noFill/>
          <a:ln/>
        </p:spPr>
        <p:txBody>
          <a:bodyPr vert="horz" wrap="none" lIns="0" tIns="0" rIns="285750" bIns="0" rtlCol="0" anchor="t">
            <a:normAutofit/>
          </a:bodyPr>
          <a:lstStyle/>
          <a:p>
            <a:pPr marL="0" indent="0" algn="l">
              <a:lnSpc>
                <a:spcPts val="2160"/>
              </a:lnSpc>
              <a:buNone/>
            </a:pPr>
            <a:r>
              <a:rPr lang="en-US" sz="1800" b="1" dirty="0">
                <a:solidFill>
                  <a:srgbClr val="000000"/>
                </a:solidFill>
                <a:latin typeface="Montserrat Thin" pitchFamily="34" charset="0"/>
                <a:ea typeface="Montserrat Thin" pitchFamily="34" charset="-122"/>
                <a:cs typeface="Montserrat Thin" pitchFamily="34" charset="-120"/>
              </a:rPr>
              <a:t>Praktik Terbaik Untuk Transparansi</a:t>
            </a:r>
            <a:endParaRPr lang="en-US" sz="1800" dirty="0"/>
          </a:p>
        </p:txBody>
      </p:sp>
      <p:sp>
        <p:nvSpPr>
          <p:cNvPr id="10" name="Text 8"/>
          <p:cNvSpPr/>
          <p:nvPr/>
        </p:nvSpPr>
        <p:spPr>
          <a:xfrm>
            <a:off x="6591300" y="2773561"/>
            <a:ext cx="4764024" cy="2194560"/>
          </a:xfrm>
          <a:prstGeom prst="rect">
            <a:avLst/>
          </a:prstGeom>
          <a:noFill/>
          <a:ln/>
        </p:spPr>
        <p:txBody>
          <a:bodyPr vert="horz" wrap="square" lIns="0" tIns="0" rIns="0" bIns="0" rtlCol="0" anchor="t"/>
          <a:lstStyle/>
          <a:p>
            <a:pPr marL="0" indent="0" algn="l">
              <a:lnSpc>
                <a:spcPts val="2160"/>
              </a:lnSpc>
              <a:buNone/>
            </a:pPr>
            <a:r>
              <a:rPr lang="en-US" sz="1200" kern="0" spc="30" dirty="0">
                <a:solidFill>
                  <a:srgbClr val="333333"/>
                </a:solidFill>
                <a:latin typeface="Roboto" pitchFamily="34" charset="0"/>
                <a:ea typeface="Roboto" pitchFamily="34" charset="-122"/>
                <a:cs typeface="Roboto" pitchFamily="34" charset="-120"/>
              </a:rPr>
              <a:t>Untuk memastikan keabsahan perjanjian, perusahaan harus menerapkan desain antarmuka yang menonjol dan memberikan akses mudah ke dokumen hukum. Memberikan persetujuan eksplisit adalah kunci utama dalam memenuhi standar transparansi hukum. Fokus pada mitigasi risiko ini tidak hanya menjamin kepatuhan tetapi juga membangun kepercayaan pengguna jangka panjang melalui struktur kontrak elektronik yang jelas dan sah secara formal.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4287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762000" y="1905000"/>
            <a:ext cx="4038600" cy="4000500"/>
          </a:xfrm>
          <a:prstGeom prst="roundRect">
            <a:avLst>
              <a:gd name="adj" fmla="val 1905"/>
            </a:avLst>
          </a:prstGeom>
          <a:solidFill>
            <a:srgbClr val="FFFFFF"/>
          </a:solidFill>
          <a:ln w="47625">
            <a:solidFill>
              <a:srgbClr val="5D645B"/>
            </a:solidFill>
          </a:ln>
        </p:spPr>
        <p:txBody>
          <a:bodyPr wrap="square" rtlCol="0" anchor="ctr"/>
          <a:lstStyle/>
          <a:p>
            <a:pPr marL="0" indent="0">
              <a:buNone/>
            </a:pPr>
            <a:endParaRPr lang="en-US" dirty="0"/>
          </a:p>
        </p:txBody>
      </p:sp>
      <p:pic>
        <p:nvPicPr>
          <p:cNvPr id="5" name="Image 0" descr="image.png"/>
          <p:cNvPicPr>
            <a:picLocks noChangeAspect="1"/>
          </p:cNvPicPr>
          <p:nvPr/>
        </p:nvPicPr>
        <p:blipFill>
          <a:blip r:embed="rId3"/>
          <a:srcRect/>
          <a:stretch/>
        </p:blipFill>
        <p:spPr>
          <a:xfrm>
            <a:off x="809625" y="1952625"/>
            <a:ext cx="3943350" cy="3905250"/>
          </a:xfrm>
          <a:prstGeom prst="rect">
            <a:avLst/>
          </a:prstGeom>
        </p:spPr>
      </p:pic>
      <p:sp>
        <p:nvSpPr>
          <p:cNvPr id="6" name="Text 3"/>
          <p:cNvSpPr/>
          <p:nvPr/>
        </p:nvSpPr>
        <p:spPr>
          <a:xfrm>
            <a:off x="5372100" y="2141488"/>
            <a:ext cx="6057900" cy="1017091"/>
          </a:xfrm>
          <a:prstGeom prst="roundRect">
            <a:avLst>
              <a:gd name="adj" fmla="val 3746"/>
            </a:avLst>
          </a:prstGeom>
          <a:solidFill>
            <a:srgbClr val="FFFFFF"/>
          </a:solidFill>
          <a:ln/>
        </p:spPr>
        <p:txBody>
          <a:bodyPr wrap="square" rtlCol="0" anchor="ctr"/>
          <a:lstStyle/>
          <a:p>
            <a:pPr marL="0" indent="0">
              <a:buNone/>
            </a:pPr>
            <a:endParaRPr lang="en-US" dirty="0"/>
          </a:p>
        </p:txBody>
      </p:sp>
      <p:sp>
        <p:nvSpPr>
          <p:cNvPr id="7" name="Text 4"/>
          <p:cNvSpPr/>
          <p:nvPr/>
        </p:nvSpPr>
        <p:spPr>
          <a:xfrm>
            <a:off x="5514975" y="2284363"/>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8" name="Text 5"/>
          <p:cNvSpPr/>
          <p:nvPr/>
        </p:nvSpPr>
        <p:spPr>
          <a:xfrm>
            <a:off x="5667375" y="2436763"/>
            <a:ext cx="338328" cy="301752"/>
          </a:xfrm>
          <a:prstGeom prst="rect">
            <a:avLst/>
          </a:prstGeom>
          <a:noFill/>
          <a:ln/>
        </p:spPr>
        <p:txBody>
          <a:bodyPr vert="horz" wrap="none" lIns="0" tIns="0" rIns="0" bIns="0" rtlCol="0" anchor="t">
            <a:normAutofit/>
          </a:bodyPr>
          <a:lstStyle/>
          <a:p>
            <a:pPr marL="0" indent="0" algn="l">
              <a:lnSpc>
                <a:spcPts val="2160"/>
              </a:lnSpc>
              <a:buNone/>
            </a:pPr>
            <a:r>
              <a:rPr lang="en-US" sz="1800" b="1" dirty="0">
                <a:solidFill>
                  <a:srgbClr val="FFFFFF"/>
                </a:solidFill>
                <a:latin typeface="Roboto" pitchFamily="34" charset="0"/>
                <a:ea typeface="Roboto" pitchFamily="34" charset="-122"/>
                <a:cs typeface="Roboto" pitchFamily="34" charset="-120"/>
              </a:rPr>
              <a:t>01</a:t>
            </a:r>
            <a:endParaRPr lang="en-US" sz="1800" dirty="0"/>
          </a:p>
        </p:txBody>
      </p:sp>
      <p:sp>
        <p:nvSpPr>
          <p:cNvPr id="9" name="Text 6"/>
          <p:cNvSpPr/>
          <p:nvPr/>
        </p:nvSpPr>
        <p:spPr>
          <a:xfrm>
            <a:off x="6324600" y="2284363"/>
            <a:ext cx="5111496" cy="265176"/>
          </a:xfrm>
          <a:prstGeom prst="rect">
            <a:avLst/>
          </a:prstGeom>
          <a:noFill/>
          <a:ln/>
        </p:spPr>
        <p:txBody>
          <a:bodyPr vert="horz" wrap="none" lIns="0" tIns="0" rIns="28575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Pengertian Berdasarkan Pasal 1 UU ITE</a:t>
            </a:r>
            <a:endParaRPr lang="en-US" sz="1500" dirty="0"/>
          </a:p>
        </p:txBody>
      </p:sp>
      <p:sp>
        <p:nvSpPr>
          <p:cNvPr id="10" name="Text 7"/>
          <p:cNvSpPr/>
          <p:nvPr/>
        </p:nvSpPr>
        <p:spPr>
          <a:xfrm>
            <a:off x="6324600" y="2588121"/>
            <a:ext cx="5001768" cy="429768"/>
          </a:xfrm>
          <a:prstGeom prst="rect">
            <a:avLst/>
          </a:prstGeom>
          <a:noFill/>
          <a:ln/>
        </p:spPr>
        <p:txBody>
          <a:bodyPr vert="horz" wrap="square" lIns="0" tIns="0" rIns="0" bIns="0" rtlCol="0" anchor="t"/>
          <a:lstStyle/>
          <a:p>
            <a:pPr marL="0" indent="0" algn="l">
              <a:lnSpc>
                <a:spcPts val="1680"/>
              </a:lnSpc>
              <a:buNone/>
            </a:pPr>
            <a:r>
              <a:rPr lang="en-US" sz="1050" dirty="0">
                <a:solidFill>
                  <a:srgbClr val="333333"/>
                </a:solidFill>
                <a:latin typeface="Roboto" pitchFamily="34" charset="0"/>
                <a:ea typeface="Roboto" pitchFamily="34" charset="-122"/>
                <a:cs typeface="Roboto" pitchFamily="34" charset="-120"/>
              </a:rPr>
              <a:t>Informasi elektronik yang terasosiasi dengan informasi lainnya sebagai alat verifikasi identitas penandatangan sesuai Pasal 1 angka 12 UU ITE.</a:t>
            </a:r>
            <a:endParaRPr lang="en-US" sz="1050" dirty="0"/>
          </a:p>
        </p:txBody>
      </p:sp>
      <p:sp>
        <p:nvSpPr>
          <p:cNvPr id="11" name="Text 8"/>
          <p:cNvSpPr/>
          <p:nvPr/>
        </p:nvSpPr>
        <p:spPr>
          <a:xfrm>
            <a:off x="5372100" y="3396704"/>
            <a:ext cx="6057900" cy="1017091"/>
          </a:xfrm>
          <a:prstGeom prst="roundRect">
            <a:avLst>
              <a:gd name="adj" fmla="val 3746"/>
            </a:avLst>
          </a:prstGeom>
          <a:solidFill>
            <a:srgbClr val="FFFFFF"/>
          </a:solidFill>
          <a:ln/>
        </p:spPr>
        <p:txBody>
          <a:bodyPr wrap="square" rtlCol="0" anchor="ctr"/>
          <a:lstStyle/>
          <a:p>
            <a:pPr marL="0" indent="0">
              <a:buNone/>
            </a:pPr>
            <a:endParaRPr lang="en-US" dirty="0"/>
          </a:p>
        </p:txBody>
      </p:sp>
      <p:sp>
        <p:nvSpPr>
          <p:cNvPr id="12" name="Text 9"/>
          <p:cNvSpPr/>
          <p:nvPr/>
        </p:nvSpPr>
        <p:spPr>
          <a:xfrm>
            <a:off x="5514975" y="3539579"/>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13" name="Text 10"/>
          <p:cNvSpPr/>
          <p:nvPr/>
        </p:nvSpPr>
        <p:spPr>
          <a:xfrm>
            <a:off x="5667375" y="3691979"/>
            <a:ext cx="338328" cy="301752"/>
          </a:xfrm>
          <a:prstGeom prst="rect">
            <a:avLst/>
          </a:prstGeom>
          <a:noFill/>
          <a:ln/>
        </p:spPr>
        <p:txBody>
          <a:bodyPr vert="horz" wrap="none" lIns="0" tIns="0" rIns="0" bIns="0" rtlCol="0" anchor="t">
            <a:normAutofit/>
          </a:bodyPr>
          <a:lstStyle/>
          <a:p>
            <a:pPr marL="0" indent="0" algn="l">
              <a:lnSpc>
                <a:spcPts val="2160"/>
              </a:lnSpc>
              <a:buNone/>
            </a:pPr>
            <a:r>
              <a:rPr lang="en-US" sz="1800" b="1" dirty="0">
                <a:solidFill>
                  <a:srgbClr val="FFFFFF"/>
                </a:solidFill>
                <a:latin typeface="Roboto" pitchFamily="34" charset="0"/>
                <a:ea typeface="Roboto" pitchFamily="34" charset="-122"/>
                <a:cs typeface="Roboto" pitchFamily="34" charset="-120"/>
              </a:rPr>
              <a:t>02</a:t>
            </a:r>
            <a:endParaRPr lang="en-US" sz="1800" dirty="0"/>
          </a:p>
        </p:txBody>
      </p:sp>
      <p:sp>
        <p:nvSpPr>
          <p:cNvPr id="14" name="Text 11"/>
          <p:cNvSpPr/>
          <p:nvPr/>
        </p:nvSpPr>
        <p:spPr>
          <a:xfrm>
            <a:off x="6324600" y="3539579"/>
            <a:ext cx="5111496" cy="265176"/>
          </a:xfrm>
          <a:prstGeom prst="rect">
            <a:avLst/>
          </a:prstGeom>
          <a:noFill/>
          <a:ln/>
        </p:spPr>
        <p:txBody>
          <a:bodyPr vert="horz" wrap="none" lIns="0" tIns="0" rIns="28575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Fungsi Verifikasi dan Autentikasi</a:t>
            </a:r>
            <a:endParaRPr lang="en-US" sz="1500" dirty="0"/>
          </a:p>
        </p:txBody>
      </p:sp>
      <p:sp>
        <p:nvSpPr>
          <p:cNvPr id="15" name="Text 12"/>
          <p:cNvSpPr/>
          <p:nvPr/>
        </p:nvSpPr>
        <p:spPr>
          <a:xfrm>
            <a:off x="6324600" y="3843338"/>
            <a:ext cx="5001768" cy="429768"/>
          </a:xfrm>
          <a:prstGeom prst="rect">
            <a:avLst/>
          </a:prstGeom>
          <a:noFill/>
          <a:ln/>
        </p:spPr>
        <p:txBody>
          <a:bodyPr vert="horz" wrap="square" lIns="0" tIns="0" rIns="0" bIns="0" rtlCol="0" anchor="t"/>
          <a:lstStyle/>
          <a:p>
            <a:pPr marL="0" indent="0" algn="l">
              <a:lnSpc>
                <a:spcPts val="1680"/>
              </a:lnSpc>
              <a:buNone/>
            </a:pPr>
            <a:r>
              <a:rPr lang="en-US" sz="1050" dirty="0">
                <a:solidFill>
                  <a:srgbClr val="333333"/>
                </a:solidFill>
                <a:latin typeface="Roboto" pitchFamily="34" charset="0"/>
                <a:ea typeface="Roboto" pitchFamily="34" charset="-122"/>
                <a:cs typeface="Roboto" pitchFamily="34" charset="-120"/>
              </a:rPr>
              <a:t>Berfungsi secara teknis sebagai alat untuk memastikan keaslian identitas digital dan integritas dokumen elektronik yang telah ditandatangani secara sah.</a:t>
            </a:r>
            <a:endParaRPr lang="en-US" sz="1050" dirty="0"/>
          </a:p>
        </p:txBody>
      </p:sp>
      <p:sp>
        <p:nvSpPr>
          <p:cNvPr id="16" name="Text 13"/>
          <p:cNvSpPr/>
          <p:nvPr/>
        </p:nvSpPr>
        <p:spPr>
          <a:xfrm>
            <a:off x="5372100" y="4651921"/>
            <a:ext cx="6057900" cy="1017091"/>
          </a:xfrm>
          <a:prstGeom prst="roundRect">
            <a:avLst>
              <a:gd name="adj" fmla="val 3746"/>
            </a:avLst>
          </a:prstGeom>
          <a:solidFill>
            <a:srgbClr val="FFFFFF"/>
          </a:solidFill>
          <a:ln/>
        </p:spPr>
        <p:txBody>
          <a:bodyPr wrap="square" rtlCol="0" anchor="ctr"/>
          <a:lstStyle/>
          <a:p>
            <a:pPr marL="0" indent="0">
              <a:buNone/>
            </a:pPr>
            <a:endParaRPr lang="en-US" dirty="0"/>
          </a:p>
        </p:txBody>
      </p:sp>
      <p:sp>
        <p:nvSpPr>
          <p:cNvPr id="17" name="Text 14"/>
          <p:cNvSpPr/>
          <p:nvPr/>
        </p:nvSpPr>
        <p:spPr>
          <a:xfrm>
            <a:off x="5514975" y="4794796"/>
            <a:ext cx="571500" cy="571500"/>
          </a:xfrm>
          <a:prstGeom prst="roundRect">
            <a:avLst>
              <a:gd name="adj" fmla="val 1600000"/>
            </a:avLst>
          </a:prstGeom>
          <a:solidFill>
            <a:srgbClr val="5D645B"/>
          </a:solidFill>
          <a:ln/>
        </p:spPr>
        <p:txBody>
          <a:bodyPr wrap="square" rtlCol="0" anchor="ctr"/>
          <a:lstStyle/>
          <a:p>
            <a:pPr marL="0" indent="0">
              <a:buNone/>
            </a:pPr>
            <a:endParaRPr lang="en-US" dirty="0"/>
          </a:p>
        </p:txBody>
      </p:sp>
      <p:sp>
        <p:nvSpPr>
          <p:cNvPr id="18" name="Text 15"/>
          <p:cNvSpPr/>
          <p:nvPr/>
        </p:nvSpPr>
        <p:spPr>
          <a:xfrm>
            <a:off x="5667375" y="4947196"/>
            <a:ext cx="338328" cy="301752"/>
          </a:xfrm>
          <a:prstGeom prst="rect">
            <a:avLst/>
          </a:prstGeom>
          <a:noFill/>
          <a:ln/>
        </p:spPr>
        <p:txBody>
          <a:bodyPr vert="horz" wrap="none" lIns="0" tIns="0" rIns="0" bIns="0" rtlCol="0" anchor="t">
            <a:normAutofit/>
          </a:bodyPr>
          <a:lstStyle/>
          <a:p>
            <a:pPr marL="0" indent="0" algn="l">
              <a:lnSpc>
                <a:spcPts val="2160"/>
              </a:lnSpc>
              <a:buNone/>
            </a:pPr>
            <a:r>
              <a:rPr lang="en-US" sz="1800" b="1" dirty="0">
                <a:solidFill>
                  <a:srgbClr val="FFFFFF"/>
                </a:solidFill>
                <a:latin typeface="Roboto" pitchFamily="34" charset="0"/>
                <a:ea typeface="Roboto" pitchFamily="34" charset="-122"/>
                <a:cs typeface="Roboto" pitchFamily="34" charset="-120"/>
              </a:rPr>
              <a:t>03</a:t>
            </a:r>
            <a:endParaRPr lang="en-US" sz="1800" dirty="0"/>
          </a:p>
        </p:txBody>
      </p:sp>
      <p:sp>
        <p:nvSpPr>
          <p:cNvPr id="19" name="Text 16"/>
          <p:cNvSpPr/>
          <p:nvPr/>
        </p:nvSpPr>
        <p:spPr>
          <a:xfrm>
            <a:off x="6324600" y="4794796"/>
            <a:ext cx="5111496" cy="265176"/>
          </a:xfrm>
          <a:prstGeom prst="rect">
            <a:avLst/>
          </a:prstGeom>
          <a:noFill/>
          <a:ln/>
        </p:spPr>
        <p:txBody>
          <a:bodyPr vert="horz" wrap="none" lIns="0" tIns="0" rIns="285750" bIns="0" rtlCol="0" anchor="t">
            <a:normAutofit/>
          </a:bodyPr>
          <a:lstStyle/>
          <a:p>
            <a:pPr marL="0" indent="0" algn="l">
              <a:lnSpc>
                <a:spcPts val="1800"/>
              </a:lnSpc>
              <a:buNone/>
            </a:pPr>
            <a:r>
              <a:rPr lang="en-US" sz="1500" b="1" dirty="0">
                <a:solidFill>
                  <a:srgbClr val="000000"/>
                </a:solidFill>
                <a:latin typeface="Montserrat Thin" pitchFamily="34" charset="0"/>
                <a:ea typeface="Montserrat Thin" pitchFamily="34" charset="-122"/>
                <a:cs typeface="Montserrat Thin" pitchFamily="34" charset="-120"/>
              </a:rPr>
              <a:t>Legalitas Hukum di Pengadilan</a:t>
            </a:r>
            <a:endParaRPr lang="en-US" sz="1500" dirty="0"/>
          </a:p>
        </p:txBody>
      </p:sp>
      <p:sp>
        <p:nvSpPr>
          <p:cNvPr id="20" name="Text 17"/>
          <p:cNvSpPr/>
          <p:nvPr/>
        </p:nvSpPr>
        <p:spPr>
          <a:xfrm>
            <a:off x="6324600" y="5098554"/>
            <a:ext cx="5001768" cy="429768"/>
          </a:xfrm>
          <a:prstGeom prst="rect">
            <a:avLst/>
          </a:prstGeom>
          <a:noFill/>
          <a:ln/>
        </p:spPr>
        <p:txBody>
          <a:bodyPr vert="horz" wrap="square" lIns="0" tIns="0" rIns="0" bIns="0" rtlCol="0" anchor="t"/>
          <a:lstStyle/>
          <a:p>
            <a:pPr marL="0" indent="0" algn="l">
              <a:lnSpc>
                <a:spcPts val="1680"/>
              </a:lnSpc>
              <a:buNone/>
            </a:pPr>
            <a:r>
              <a:rPr lang="en-US" sz="1050" dirty="0">
                <a:solidFill>
                  <a:srgbClr val="333333"/>
                </a:solidFill>
                <a:latin typeface="Roboto" pitchFamily="34" charset="0"/>
                <a:ea typeface="Roboto" pitchFamily="34" charset="-122"/>
                <a:cs typeface="Roboto" pitchFamily="34" charset="-120"/>
              </a:rPr>
              <a:t>Memiliki kekuatan dan akibat hukum yang sah dalam pembuktian di pengadilan setara tanda tangan basah selama memenuhi syarat otoritas sertifikasi.</a:t>
            </a:r>
            <a:endParaRPr lang="en-US" sz="1050" dirty="0"/>
          </a:p>
        </p:txBody>
      </p:sp>
      <p:sp>
        <p:nvSpPr>
          <p:cNvPr id="21" name="Text 18"/>
          <p:cNvSpPr/>
          <p:nvPr/>
        </p:nvSpPr>
        <p:spPr>
          <a:xfrm>
            <a:off x="498729" y="619125"/>
            <a:ext cx="11311128" cy="512064"/>
          </a:xfrm>
          <a:prstGeom prst="rect">
            <a:avLst/>
          </a:prstGeom>
          <a:noFill/>
          <a:ln/>
        </p:spPr>
        <p:txBody>
          <a:bodyPr vert="horz" wrap="none" lIns="0" tIns="0" rIns="0" bIns="0" rtlCol="0" anchor="t">
            <a:normAutofit/>
          </a:bodyPr>
          <a:lstStyle/>
          <a:p>
            <a:pPr marL="0" indent="0" algn="ctr">
              <a:lnSpc>
                <a:spcPts val="3600"/>
              </a:lnSpc>
              <a:buNone/>
            </a:pPr>
            <a:r>
              <a:rPr lang="en-US" sz="3600" b="1" dirty="0">
                <a:solidFill>
                  <a:srgbClr val="000000"/>
                </a:solidFill>
                <a:latin typeface="Montserrat Thin" pitchFamily="34" charset="0"/>
                <a:ea typeface="Montserrat Thin" pitchFamily="34" charset="-122"/>
                <a:cs typeface="Montserrat Thin" pitchFamily="34" charset="-120"/>
              </a:rPr>
              <a:t>Tanda Tangan Elektronik Menurut UU ITE</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917531"/>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2382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143000" y="371475"/>
            <a:ext cx="10012680" cy="502920"/>
          </a:xfrm>
          <a:prstGeom prst="rect">
            <a:avLst/>
          </a:prstGeom>
          <a:noFill/>
          <a:ln/>
        </p:spPr>
        <p:txBody>
          <a:bodyPr vert="horz" wrap="square" lIns="0" tIns="0" rIns="0" bIns="0" rtlCol="0" anchor="t"/>
          <a:lstStyle/>
          <a:p>
            <a:pPr marL="0" indent="0" algn="ctr">
              <a:lnSpc>
                <a:spcPts val="3780"/>
              </a:lnSpc>
              <a:buNone/>
            </a:pPr>
            <a:r>
              <a:rPr lang="en-US" sz="3150" b="1" dirty="0">
                <a:solidFill>
                  <a:srgbClr val="000000"/>
                </a:solidFill>
                <a:latin typeface="Montserrat Thin" pitchFamily="34" charset="0"/>
                <a:ea typeface="Montserrat Thin" pitchFamily="34" charset="-122"/>
                <a:cs typeface="Montserrat Thin" pitchFamily="34" charset="-120"/>
              </a:rPr>
              <a:t>Sertifikat Elektronik dan Peran Balai Sertifikasi</a:t>
            </a:r>
            <a:endParaRPr lang="en-US" sz="3150" dirty="0"/>
          </a:p>
        </p:txBody>
      </p:sp>
      <p:sp>
        <p:nvSpPr>
          <p:cNvPr id="5" name="Text 3"/>
          <p:cNvSpPr/>
          <p:nvPr/>
        </p:nvSpPr>
        <p:spPr>
          <a:xfrm>
            <a:off x="381000" y="1619250"/>
            <a:ext cx="5881688" cy="2268141"/>
          </a:xfrm>
          <a:prstGeom prst="roundRect">
            <a:avLst>
              <a:gd name="adj" fmla="val 3360"/>
            </a:avLst>
          </a:prstGeom>
          <a:solidFill>
            <a:srgbClr val="FFFFFF"/>
          </a:solidFill>
          <a:ln/>
        </p:spPr>
        <p:txBody>
          <a:bodyPr wrap="square" rtlCol="0" anchor="ctr"/>
          <a:lstStyle/>
          <a:p>
            <a:pPr marL="0" indent="0">
              <a:buNone/>
            </a:pPr>
            <a:endParaRPr lang="en-US" dirty="0"/>
          </a:p>
        </p:txBody>
      </p:sp>
      <p:sp>
        <p:nvSpPr>
          <p:cNvPr id="6" name="Shape 4"/>
          <p:cNvSpPr/>
          <p:nvPr/>
        </p:nvSpPr>
        <p:spPr>
          <a:xfrm>
            <a:off x="381000" y="1619250"/>
            <a:ext cx="0" cy="2268141"/>
          </a:xfrm>
          <a:prstGeom prst="line">
            <a:avLst/>
          </a:prstGeom>
          <a:noFill/>
          <a:ln w="47625">
            <a:solidFill>
              <a:srgbClr val="5D645B"/>
            </a:solidFill>
            <a:prstDash val="solid"/>
          </a:ln>
        </p:spPr>
      </p:sp>
      <p:sp>
        <p:nvSpPr>
          <p:cNvPr id="7" name="Text 5"/>
          <p:cNvSpPr/>
          <p:nvPr/>
        </p:nvSpPr>
        <p:spPr>
          <a:xfrm>
            <a:off x="759619" y="1952625"/>
            <a:ext cx="5312664" cy="182880"/>
          </a:xfrm>
          <a:prstGeom prst="rect">
            <a:avLst/>
          </a:prstGeom>
          <a:noFill/>
          <a:ln/>
        </p:spPr>
        <p:txBody>
          <a:bodyPr vert="horz" wrap="none" lIns="0" tIns="0" rIns="0" bIns="0" rtlCol="0" anchor="t">
            <a:normAutofit/>
          </a:bodyPr>
          <a:lstStyle/>
          <a:p>
            <a:pPr marL="0" indent="0" algn="l">
              <a:lnSpc>
                <a:spcPts val="1260"/>
              </a:lnSpc>
              <a:buNone/>
            </a:pPr>
            <a:r>
              <a:rPr lang="en-US" sz="1050" b="1" kern="0" spc="70" dirty="0">
                <a:solidFill>
                  <a:srgbClr val="5D645B"/>
                </a:solidFill>
                <a:latin typeface="Roboto" pitchFamily="34" charset="0"/>
                <a:ea typeface="Roboto" pitchFamily="34" charset="-122"/>
                <a:cs typeface="Roboto" pitchFamily="34" charset="-120"/>
              </a:rPr>
              <a:t>VALIDITAS HUKUM TTE</a:t>
            </a:r>
            <a:endParaRPr lang="en-US" sz="1050" dirty="0"/>
          </a:p>
        </p:txBody>
      </p:sp>
      <p:sp>
        <p:nvSpPr>
          <p:cNvPr id="8" name="Text 6"/>
          <p:cNvSpPr/>
          <p:nvPr/>
        </p:nvSpPr>
        <p:spPr>
          <a:xfrm>
            <a:off x="759619" y="2183011"/>
            <a:ext cx="5239512" cy="594360"/>
          </a:xfrm>
          <a:prstGeom prst="rect">
            <a:avLst/>
          </a:prstGeom>
          <a:noFill/>
          <a:ln/>
        </p:spPr>
        <p:txBody>
          <a:bodyPr vert="horz" wrap="square" lIns="0" tIns="0" rIns="0" bIns="0" rtlCol="0" anchor="t"/>
          <a:lstStyle/>
          <a:p>
            <a:pPr marL="0" indent="0" algn="l">
              <a:lnSpc>
                <a:spcPts val="2340"/>
              </a:lnSpc>
              <a:buNone/>
            </a:pPr>
            <a:r>
              <a:rPr lang="en-US" sz="1950" b="1" dirty="0">
                <a:solidFill>
                  <a:srgbClr val="000000"/>
                </a:solidFill>
                <a:latin typeface="Montserrat Thin" pitchFamily="34" charset="0"/>
                <a:ea typeface="Montserrat Thin" pitchFamily="34" charset="-122"/>
                <a:cs typeface="Montserrat Thin" pitchFamily="34" charset="-120"/>
              </a:rPr>
              <a:t>Tanda Tangan Elektronik (TTE) Tersertifikasi vs Tidak</a:t>
            </a:r>
            <a:endParaRPr lang="en-US" sz="1950" dirty="0"/>
          </a:p>
        </p:txBody>
      </p:sp>
      <p:sp>
        <p:nvSpPr>
          <p:cNvPr id="9" name="Text 7"/>
          <p:cNvSpPr/>
          <p:nvPr/>
        </p:nvSpPr>
        <p:spPr>
          <a:xfrm>
            <a:off x="759619" y="2888456"/>
            <a:ext cx="5212080" cy="667512"/>
          </a:xfrm>
          <a:prstGeom prst="rect">
            <a:avLst/>
          </a:prstGeom>
          <a:noFill/>
          <a:ln/>
        </p:spPr>
        <p:txBody>
          <a:bodyPr vert="horz" wrap="square" lIns="0" tIns="0" rIns="0" bIns="0" rtlCol="0" anchor="t"/>
          <a:lstStyle/>
          <a:p>
            <a:pPr marL="0" indent="0" algn="l">
              <a:lnSpc>
                <a:spcPts val="1744"/>
              </a:lnSpc>
              <a:buNone/>
            </a:pPr>
            <a:r>
              <a:rPr lang="en-US" sz="1163" dirty="0">
                <a:solidFill>
                  <a:srgbClr val="333333"/>
                </a:solidFill>
                <a:latin typeface="Roboto" pitchFamily="34" charset="0"/>
                <a:ea typeface="Roboto" pitchFamily="34" charset="-122"/>
                <a:cs typeface="Roboto" pitchFamily="34" charset="-120"/>
              </a:rPr>
              <a:t>TTE tersertifikasi memiliki kekuatan pembuktian tertinggi karena diterbitkan oleh PSrE yang diakui pemerintah. Sebaliknya, TTE tidak tersertifikasi memiliki validitas hukum yang lebih lemah dalam sistem pembuktian digital.</a:t>
            </a:r>
            <a:endParaRPr lang="en-US" sz="1163" dirty="0"/>
          </a:p>
        </p:txBody>
      </p:sp>
      <p:pic>
        <p:nvPicPr>
          <p:cNvPr id="10" name="Image 0" descr="image.png"/>
          <p:cNvPicPr>
            <a:picLocks noChangeAspect="1"/>
          </p:cNvPicPr>
          <p:nvPr/>
        </p:nvPicPr>
        <p:blipFill>
          <a:blip r:embed="rId3"/>
          <a:srcRect/>
          <a:stretch/>
        </p:blipFill>
        <p:spPr>
          <a:xfrm>
            <a:off x="6643688" y="1705570"/>
            <a:ext cx="5172075" cy="2095500"/>
          </a:xfrm>
          <a:prstGeom prst="rect">
            <a:avLst/>
          </a:prstGeom>
        </p:spPr>
      </p:pic>
      <p:sp>
        <p:nvSpPr>
          <p:cNvPr id="11" name="Text 8"/>
          <p:cNvSpPr/>
          <p:nvPr/>
        </p:nvSpPr>
        <p:spPr>
          <a:xfrm>
            <a:off x="5929313" y="4268391"/>
            <a:ext cx="5881688" cy="2268141"/>
          </a:xfrm>
          <a:prstGeom prst="roundRect">
            <a:avLst>
              <a:gd name="adj" fmla="val 3360"/>
            </a:avLst>
          </a:prstGeom>
          <a:solidFill>
            <a:srgbClr val="FFFFFF"/>
          </a:solidFill>
          <a:ln/>
        </p:spPr>
        <p:txBody>
          <a:bodyPr wrap="square" rtlCol="0" anchor="ctr"/>
          <a:lstStyle/>
          <a:p>
            <a:pPr marL="0" indent="0">
              <a:buNone/>
            </a:pPr>
            <a:endParaRPr lang="en-US" dirty="0"/>
          </a:p>
        </p:txBody>
      </p:sp>
      <p:sp>
        <p:nvSpPr>
          <p:cNvPr id="12" name="Shape 9"/>
          <p:cNvSpPr/>
          <p:nvPr/>
        </p:nvSpPr>
        <p:spPr>
          <a:xfrm>
            <a:off x="5929313" y="4268391"/>
            <a:ext cx="0" cy="2268141"/>
          </a:xfrm>
          <a:prstGeom prst="line">
            <a:avLst/>
          </a:prstGeom>
          <a:noFill/>
          <a:ln w="47625">
            <a:solidFill>
              <a:srgbClr val="5D645B"/>
            </a:solidFill>
            <a:prstDash val="solid"/>
          </a:ln>
        </p:spPr>
      </p:sp>
      <p:sp>
        <p:nvSpPr>
          <p:cNvPr id="13" name="Text 10"/>
          <p:cNvSpPr/>
          <p:nvPr/>
        </p:nvSpPr>
        <p:spPr>
          <a:xfrm>
            <a:off x="6307931" y="4601766"/>
            <a:ext cx="5312664" cy="182880"/>
          </a:xfrm>
          <a:prstGeom prst="rect">
            <a:avLst/>
          </a:prstGeom>
          <a:noFill/>
          <a:ln/>
        </p:spPr>
        <p:txBody>
          <a:bodyPr vert="horz" wrap="none" lIns="0" tIns="0" rIns="0" bIns="0" rtlCol="0" anchor="t">
            <a:normAutofit/>
          </a:bodyPr>
          <a:lstStyle/>
          <a:p>
            <a:pPr marL="0" indent="0" algn="l">
              <a:lnSpc>
                <a:spcPts val="1260"/>
              </a:lnSpc>
              <a:buNone/>
            </a:pPr>
            <a:r>
              <a:rPr lang="en-US" sz="1050" b="1" kern="0" spc="70" dirty="0">
                <a:solidFill>
                  <a:srgbClr val="5D645B"/>
                </a:solidFill>
                <a:latin typeface="Roboto" pitchFamily="34" charset="0"/>
                <a:ea typeface="Roboto" pitchFamily="34" charset="-122"/>
                <a:cs typeface="Roboto" pitchFamily="34" charset="-120"/>
              </a:rPr>
              <a:t>INTEGRITAS &amp; REGULASI</a:t>
            </a:r>
            <a:endParaRPr lang="en-US" sz="1050" dirty="0"/>
          </a:p>
        </p:txBody>
      </p:sp>
      <p:sp>
        <p:nvSpPr>
          <p:cNvPr id="14" name="Text 11"/>
          <p:cNvSpPr/>
          <p:nvPr/>
        </p:nvSpPr>
        <p:spPr>
          <a:xfrm>
            <a:off x="6307931" y="4832152"/>
            <a:ext cx="5239512" cy="594360"/>
          </a:xfrm>
          <a:prstGeom prst="rect">
            <a:avLst/>
          </a:prstGeom>
          <a:noFill/>
          <a:ln/>
        </p:spPr>
        <p:txBody>
          <a:bodyPr vert="horz" wrap="square" lIns="0" tIns="0" rIns="0" bIns="0" rtlCol="0" anchor="t"/>
          <a:lstStyle/>
          <a:p>
            <a:pPr marL="0" indent="0" algn="l">
              <a:lnSpc>
                <a:spcPts val="2340"/>
              </a:lnSpc>
              <a:buNone/>
            </a:pPr>
            <a:r>
              <a:rPr lang="en-US" sz="1950" b="1" dirty="0">
                <a:solidFill>
                  <a:srgbClr val="000000"/>
                </a:solidFill>
                <a:latin typeface="Montserrat Thin" pitchFamily="34" charset="0"/>
                <a:ea typeface="Montserrat Thin" pitchFamily="34" charset="-122"/>
                <a:cs typeface="Montserrat Thin" pitchFamily="34" charset="-120"/>
              </a:rPr>
              <a:t>Peran PSrE dan Kekuatan Hukum Sertifikat Elektronik</a:t>
            </a:r>
            <a:endParaRPr lang="en-US" sz="1950" dirty="0"/>
          </a:p>
        </p:txBody>
      </p:sp>
      <p:sp>
        <p:nvSpPr>
          <p:cNvPr id="15" name="Text 12"/>
          <p:cNvSpPr/>
          <p:nvPr/>
        </p:nvSpPr>
        <p:spPr>
          <a:xfrm>
            <a:off x="6307931" y="5537597"/>
            <a:ext cx="5212080" cy="667512"/>
          </a:xfrm>
          <a:prstGeom prst="rect">
            <a:avLst/>
          </a:prstGeom>
          <a:noFill/>
          <a:ln/>
        </p:spPr>
        <p:txBody>
          <a:bodyPr vert="horz" wrap="square" lIns="0" tIns="0" rIns="0" bIns="0" rtlCol="0" anchor="t"/>
          <a:lstStyle/>
          <a:p>
            <a:pPr marL="0" indent="0" algn="l">
              <a:lnSpc>
                <a:spcPts val="1744"/>
              </a:lnSpc>
              <a:buNone/>
            </a:pPr>
            <a:r>
              <a:rPr lang="en-US" sz="1163" dirty="0">
                <a:solidFill>
                  <a:srgbClr val="333333"/>
                </a:solidFill>
                <a:latin typeface="Roboto" pitchFamily="34" charset="0"/>
                <a:ea typeface="Roboto" pitchFamily="34" charset="-122"/>
                <a:cs typeface="Roboto" pitchFamily="34" charset="-120"/>
              </a:rPr>
              <a:t>PSrE berfungsi sebagai pihak ketiga tepercaya untuk menjamin integritas dokumen. Berdasarkan regulasi, sertifikat elektronik merupakan alat bukti hukum yang sah dan mengikat secara legal dalam proses persidangan.</a:t>
            </a:r>
            <a:endParaRPr lang="en-US" sz="1163" dirty="0"/>
          </a:p>
        </p:txBody>
      </p:sp>
      <p:pic>
        <p:nvPicPr>
          <p:cNvPr id="16" name="Image 1" descr="image.png"/>
          <p:cNvPicPr>
            <a:picLocks noChangeAspect="1"/>
          </p:cNvPicPr>
          <p:nvPr/>
        </p:nvPicPr>
        <p:blipFill>
          <a:blip r:embed="rId4"/>
          <a:srcRect/>
          <a:stretch/>
        </p:blipFill>
        <p:spPr>
          <a:xfrm>
            <a:off x="381000" y="4354711"/>
            <a:ext cx="5172075" cy="2095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33350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619250" y="1905000"/>
            <a:ext cx="3810000" cy="2133600"/>
          </a:xfrm>
          <a:prstGeom prst="rect">
            <a:avLst/>
          </a:prstGeom>
          <a:noFill/>
          <a:ln w="9525">
            <a:solidFill>
              <a:srgbClr val="5D645B"/>
            </a:solidFill>
          </a:ln>
        </p:spPr>
        <p:txBody>
          <a:bodyPr wrap="square" rtlCol="0" anchor="ctr"/>
          <a:lstStyle/>
          <a:p>
            <a:pPr marL="0" indent="0">
              <a:buNone/>
            </a:pPr>
            <a:endParaRPr lang="en-US" dirty="0"/>
          </a:p>
        </p:txBody>
      </p:sp>
      <p:pic>
        <p:nvPicPr>
          <p:cNvPr id="5" name="Image 0" descr="image.png"/>
          <p:cNvPicPr>
            <a:picLocks noChangeAspect="1"/>
          </p:cNvPicPr>
          <p:nvPr/>
        </p:nvPicPr>
        <p:blipFill>
          <a:blip r:embed="rId3"/>
          <a:srcRect r="14483"/>
          <a:stretch/>
        </p:blipFill>
        <p:spPr>
          <a:xfrm>
            <a:off x="1628775" y="1914525"/>
            <a:ext cx="3790950" cy="2114550"/>
          </a:xfrm>
          <a:prstGeom prst="rect">
            <a:avLst/>
          </a:prstGeom>
        </p:spPr>
      </p:pic>
      <p:sp>
        <p:nvSpPr>
          <p:cNvPr id="6" name="Text 3"/>
          <p:cNvSpPr/>
          <p:nvPr/>
        </p:nvSpPr>
        <p:spPr>
          <a:xfrm>
            <a:off x="6096000" y="1905000"/>
            <a:ext cx="5143500" cy="2133600"/>
          </a:xfrm>
          <a:prstGeom prst="rect">
            <a:avLst/>
          </a:prstGeom>
          <a:solidFill>
            <a:srgbClr val="FFFFFF"/>
          </a:solidFill>
          <a:ln/>
        </p:spPr>
        <p:txBody>
          <a:bodyPr wrap="square" rtlCol="0" anchor="ctr"/>
          <a:lstStyle/>
          <a:p>
            <a:pPr marL="0" indent="0">
              <a:buNone/>
            </a:pPr>
            <a:endParaRPr lang="en-US" dirty="0"/>
          </a:p>
        </p:txBody>
      </p:sp>
      <p:sp>
        <p:nvSpPr>
          <p:cNvPr id="7" name="Shape 4"/>
          <p:cNvSpPr/>
          <p:nvPr/>
        </p:nvSpPr>
        <p:spPr>
          <a:xfrm>
            <a:off x="6096000" y="1905000"/>
            <a:ext cx="0" cy="2133600"/>
          </a:xfrm>
          <a:prstGeom prst="line">
            <a:avLst/>
          </a:prstGeom>
          <a:noFill/>
          <a:ln w="47625">
            <a:solidFill>
              <a:srgbClr val="5D645B"/>
            </a:solidFill>
            <a:prstDash val="solid"/>
          </a:ln>
        </p:spPr>
      </p:sp>
      <p:sp>
        <p:nvSpPr>
          <p:cNvPr id="8" name="Text 5"/>
          <p:cNvSpPr/>
          <p:nvPr/>
        </p:nvSpPr>
        <p:spPr>
          <a:xfrm>
            <a:off x="6429375" y="2190750"/>
            <a:ext cx="4297680" cy="521208"/>
          </a:xfrm>
          <a:prstGeom prst="rect">
            <a:avLst/>
          </a:prstGeom>
          <a:noFill/>
          <a:ln/>
        </p:spPr>
        <p:txBody>
          <a:bodyPr vert="horz" wrap="square" lIns="0" tIns="0" rIns="0" bIns="0" rtlCol="0" anchor="t"/>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Konsep Titik Tangkap &amp; Pilihan Hukum</a:t>
            </a:r>
            <a:endParaRPr lang="en-US" sz="1650" dirty="0"/>
          </a:p>
        </p:txBody>
      </p:sp>
      <p:sp>
        <p:nvSpPr>
          <p:cNvPr id="9" name="Text 6"/>
          <p:cNvSpPr/>
          <p:nvPr/>
        </p:nvSpPr>
        <p:spPr>
          <a:xfrm>
            <a:off x="6429375" y="2845594"/>
            <a:ext cx="4562856" cy="740664"/>
          </a:xfrm>
          <a:prstGeom prst="rect">
            <a:avLst/>
          </a:prstGeom>
          <a:noFill/>
          <a:ln/>
        </p:spPr>
        <p:txBody>
          <a:bodyPr vert="horz" wrap="square" lIns="0" tIns="0" rIns="0" bIns="0" rtlCol="0" anchor="t"/>
          <a:lstStyle/>
          <a:p>
            <a:pPr marL="0" indent="0" algn="l">
              <a:lnSpc>
                <a:spcPts val="1913"/>
              </a:lnSpc>
              <a:buNone/>
            </a:pPr>
            <a:r>
              <a:rPr lang="en-US" sz="1125" dirty="0">
                <a:solidFill>
                  <a:srgbClr val="333333"/>
                </a:solidFill>
                <a:latin typeface="Roboto" pitchFamily="34" charset="0"/>
                <a:ea typeface="Roboto" pitchFamily="34" charset="-122"/>
                <a:cs typeface="Roboto" pitchFamily="34" charset="-120"/>
              </a:rPr>
              <a:t>Dalam e-commerce global, Konsep Titik Tangkap menentukan hukum yang berlaku berdasarkan lokasi server atau domisili pihak. Sangat penting menyertakan Klausul Pilihan Hukum untuk kepastian hukum.</a:t>
            </a:r>
            <a:endParaRPr lang="en-US" sz="1125" dirty="0"/>
          </a:p>
        </p:txBody>
      </p:sp>
      <p:sp>
        <p:nvSpPr>
          <p:cNvPr id="10" name="Text 7"/>
          <p:cNvSpPr/>
          <p:nvPr/>
        </p:nvSpPr>
        <p:spPr>
          <a:xfrm>
            <a:off x="1619250" y="4229100"/>
            <a:ext cx="3810000" cy="2133600"/>
          </a:xfrm>
          <a:prstGeom prst="rect">
            <a:avLst/>
          </a:prstGeom>
          <a:noFill/>
          <a:ln w="9525">
            <a:solidFill>
              <a:srgbClr val="5D645B"/>
            </a:solidFill>
          </a:ln>
        </p:spPr>
        <p:txBody>
          <a:bodyPr wrap="square" rtlCol="0" anchor="ctr"/>
          <a:lstStyle/>
          <a:p>
            <a:pPr marL="0" indent="0">
              <a:buNone/>
            </a:pPr>
            <a:endParaRPr lang="en-US" dirty="0"/>
          </a:p>
        </p:txBody>
      </p:sp>
      <p:pic>
        <p:nvPicPr>
          <p:cNvPr id="11" name="Image 1" descr="image.png"/>
          <p:cNvPicPr>
            <a:picLocks noChangeAspect="1"/>
          </p:cNvPicPr>
          <p:nvPr/>
        </p:nvPicPr>
        <p:blipFill>
          <a:blip r:embed="rId4"/>
          <a:srcRect b="16348"/>
          <a:stretch/>
        </p:blipFill>
        <p:spPr>
          <a:xfrm>
            <a:off x="1628775" y="4238625"/>
            <a:ext cx="3790950" cy="2114550"/>
          </a:xfrm>
          <a:prstGeom prst="rect">
            <a:avLst/>
          </a:prstGeom>
        </p:spPr>
      </p:pic>
      <p:sp>
        <p:nvSpPr>
          <p:cNvPr id="12" name="Text 8"/>
          <p:cNvSpPr/>
          <p:nvPr/>
        </p:nvSpPr>
        <p:spPr>
          <a:xfrm>
            <a:off x="6096000" y="4229100"/>
            <a:ext cx="5143500" cy="2133600"/>
          </a:xfrm>
          <a:prstGeom prst="rect">
            <a:avLst/>
          </a:prstGeom>
          <a:solidFill>
            <a:srgbClr val="FFFFFF"/>
          </a:solidFill>
          <a:ln/>
        </p:spPr>
        <p:txBody>
          <a:bodyPr wrap="square" rtlCol="0" anchor="ctr"/>
          <a:lstStyle/>
          <a:p>
            <a:pPr marL="0" indent="0">
              <a:buNone/>
            </a:pPr>
            <a:endParaRPr lang="en-US" dirty="0"/>
          </a:p>
        </p:txBody>
      </p:sp>
      <p:sp>
        <p:nvSpPr>
          <p:cNvPr id="13" name="Shape 9"/>
          <p:cNvSpPr/>
          <p:nvPr/>
        </p:nvSpPr>
        <p:spPr>
          <a:xfrm>
            <a:off x="6096000" y="4229100"/>
            <a:ext cx="0" cy="2133600"/>
          </a:xfrm>
          <a:prstGeom prst="line">
            <a:avLst/>
          </a:prstGeom>
          <a:noFill/>
          <a:ln w="47625">
            <a:solidFill>
              <a:srgbClr val="5D645B"/>
            </a:solidFill>
            <a:prstDash val="solid"/>
          </a:ln>
        </p:spPr>
      </p:sp>
      <p:sp>
        <p:nvSpPr>
          <p:cNvPr id="14" name="Text 10"/>
          <p:cNvSpPr/>
          <p:nvPr/>
        </p:nvSpPr>
        <p:spPr>
          <a:xfrm>
            <a:off x="6429375" y="4514850"/>
            <a:ext cx="4379976" cy="292608"/>
          </a:xfrm>
          <a:prstGeom prst="rect">
            <a:avLst/>
          </a:prstGeom>
          <a:noFill/>
          <a:ln/>
        </p:spPr>
        <p:txBody>
          <a:bodyPr vert="horz" wrap="none" lIns="0" tIns="0" rIns="0" bIns="0" rtlCol="0" anchor="t">
            <a:normAutofit/>
          </a:bodyPr>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Pilihan Forum Penyelesaian Sengketa</a:t>
            </a:r>
            <a:endParaRPr lang="en-US" sz="1650" dirty="0"/>
          </a:p>
        </p:txBody>
      </p:sp>
      <p:sp>
        <p:nvSpPr>
          <p:cNvPr id="15" name="Text 11"/>
          <p:cNvSpPr/>
          <p:nvPr/>
        </p:nvSpPr>
        <p:spPr>
          <a:xfrm>
            <a:off x="6429375" y="4912519"/>
            <a:ext cx="4562856" cy="740664"/>
          </a:xfrm>
          <a:prstGeom prst="rect">
            <a:avLst/>
          </a:prstGeom>
          <a:noFill/>
          <a:ln/>
        </p:spPr>
        <p:txBody>
          <a:bodyPr vert="horz" wrap="square" lIns="0" tIns="0" rIns="0" bIns="0" rtlCol="0" anchor="t"/>
          <a:lstStyle/>
          <a:p>
            <a:pPr marL="0" indent="0" algn="l">
              <a:lnSpc>
                <a:spcPts val="1913"/>
              </a:lnSpc>
              <a:buNone/>
            </a:pPr>
            <a:r>
              <a:rPr lang="en-US" sz="1125" dirty="0">
                <a:solidFill>
                  <a:srgbClr val="333333"/>
                </a:solidFill>
                <a:latin typeface="Roboto" pitchFamily="34" charset="0"/>
                <a:ea typeface="Roboto" pitchFamily="34" charset="-122"/>
                <a:cs typeface="Roboto" pitchFamily="34" charset="-120"/>
              </a:rPr>
              <a:t>Pilihan Forum diperlukan guna menetapkan pengadilan atau lembaga arbitrase yang berwenang menyelesaikan sengketa kontrak elektronik lintas negara, memberikan perlindungan hukum bagi para pihak.</a:t>
            </a:r>
            <a:endParaRPr lang="en-US" sz="1125" dirty="0"/>
          </a:p>
        </p:txBody>
      </p:sp>
      <p:sp>
        <p:nvSpPr>
          <p:cNvPr id="16" name="Text 12"/>
          <p:cNvSpPr/>
          <p:nvPr/>
        </p:nvSpPr>
        <p:spPr>
          <a:xfrm>
            <a:off x="1162050" y="504825"/>
            <a:ext cx="9976104" cy="502920"/>
          </a:xfrm>
          <a:prstGeom prst="rect">
            <a:avLst/>
          </a:prstGeom>
          <a:noFill/>
          <a:ln/>
        </p:spPr>
        <p:txBody>
          <a:bodyPr vert="horz" wrap="square" lIns="0" tIns="0" rIns="0" bIns="0" rtlCol="0" anchor="t"/>
          <a:lstStyle/>
          <a:p>
            <a:pPr marL="0" indent="0" algn="l">
              <a:lnSpc>
                <a:spcPts val="3780"/>
              </a:lnSpc>
              <a:buNone/>
            </a:pPr>
            <a:r>
              <a:rPr lang="en-US" sz="3150" b="1" dirty="0">
                <a:solidFill>
                  <a:srgbClr val="000000"/>
                </a:solidFill>
                <a:latin typeface="Montserrat Thin" pitchFamily="34" charset="0"/>
                <a:ea typeface="Montserrat Thin" pitchFamily="34" charset="-122"/>
                <a:cs typeface="Montserrat Thin" pitchFamily="34" charset="-120"/>
              </a:rPr>
              <a:t>Yurisdiksi Hukum dalam Transaksi Lintas Batas</a:t>
            </a:r>
            <a:endParaRPr lang="en-US" sz="3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2382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533400" y="371475"/>
            <a:ext cx="11228832" cy="502920"/>
          </a:xfrm>
          <a:prstGeom prst="rect">
            <a:avLst/>
          </a:prstGeom>
          <a:noFill/>
          <a:ln/>
        </p:spPr>
        <p:txBody>
          <a:bodyPr vert="horz" wrap="square" lIns="0" tIns="0" rIns="0" bIns="0" rtlCol="0" anchor="t"/>
          <a:lstStyle/>
          <a:p>
            <a:pPr marL="0" indent="0" algn="l">
              <a:lnSpc>
                <a:spcPts val="3780"/>
              </a:lnSpc>
              <a:buNone/>
            </a:pPr>
            <a:r>
              <a:rPr lang="en-US" sz="3150" b="1" dirty="0">
                <a:solidFill>
                  <a:srgbClr val="000000"/>
                </a:solidFill>
                <a:latin typeface="Montserrat Thin" pitchFamily="34" charset="0"/>
                <a:ea typeface="Montserrat Thin" pitchFamily="34" charset="-122"/>
                <a:cs typeface="Montserrat Thin" pitchFamily="34" charset="-120"/>
              </a:rPr>
              <a:t>Hukum Kontrak Elektronik dan Syarat Sah Perjanjian</a:t>
            </a:r>
            <a:endParaRPr lang="en-US" sz="3150" dirty="0"/>
          </a:p>
        </p:txBody>
      </p:sp>
      <p:sp>
        <p:nvSpPr>
          <p:cNvPr id="5" name="Text 3"/>
          <p:cNvSpPr/>
          <p:nvPr/>
        </p:nvSpPr>
        <p:spPr>
          <a:xfrm>
            <a:off x="381000" y="1714500"/>
            <a:ext cx="4191000" cy="4572000"/>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381000" y="1714500"/>
            <a:ext cx="0" cy="4572000"/>
          </a:xfrm>
          <a:prstGeom prst="line">
            <a:avLst/>
          </a:prstGeom>
          <a:noFill/>
          <a:ln w="76200">
            <a:solidFill>
              <a:srgbClr val="5D645B"/>
            </a:solidFill>
            <a:prstDash val="solid"/>
          </a:ln>
        </p:spPr>
      </p:sp>
      <p:sp>
        <p:nvSpPr>
          <p:cNvPr id="7" name="Text 5"/>
          <p:cNvSpPr/>
          <p:nvPr/>
        </p:nvSpPr>
        <p:spPr>
          <a:xfrm>
            <a:off x="837233" y="2095500"/>
            <a:ext cx="3081528" cy="612648"/>
          </a:xfrm>
          <a:prstGeom prst="rect">
            <a:avLst/>
          </a:prstGeom>
          <a:noFill/>
          <a:ln/>
        </p:spPr>
        <p:txBody>
          <a:bodyPr vert="horz" wrap="square" lIns="0" tIns="0" rIns="0" bIns="0" rtlCol="0" anchor="t"/>
          <a:lstStyle/>
          <a:p>
            <a:pPr marL="0" indent="0" algn="l">
              <a:lnSpc>
                <a:spcPts val="2340"/>
              </a:lnSpc>
              <a:buNone/>
            </a:pPr>
            <a:r>
              <a:rPr lang="en-US" sz="1950" b="1" dirty="0">
                <a:solidFill>
                  <a:srgbClr val="000000"/>
                </a:solidFill>
                <a:latin typeface="Montserrat Thin" pitchFamily="34" charset="0"/>
                <a:ea typeface="Montserrat Thin" pitchFamily="34" charset="-122"/>
                <a:cs typeface="Montserrat Thin" pitchFamily="34" charset="-120"/>
              </a:rPr>
              <a:t>Masalah Hukum Cross-Border E-Commerce</a:t>
            </a:r>
            <a:endParaRPr lang="en-US" sz="1950" dirty="0"/>
          </a:p>
        </p:txBody>
      </p:sp>
      <p:sp>
        <p:nvSpPr>
          <p:cNvPr id="8" name="Text 6"/>
          <p:cNvSpPr/>
          <p:nvPr/>
        </p:nvSpPr>
        <p:spPr>
          <a:xfrm>
            <a:off x="838200" y="2945011"/>
            <a:ext cx="3392424" cy="978408"/>
          </a:xfrm>
          <a:prstGeom prst="rect">
            <a:avLst/>
          </a:prstGeom>
          <a:noFill/>
          <a:ln/>
        </p:spPr>
        <p:txBody>
          <a:bodyPr vert="horz" wrap="square" lIns="0" tIns="0" rIns="0" bIns="0" rtlCol="0" anchor="t"/>
          <a:lstStyle/>
          <a:p>
            <a:pPr marL="0" indent="0" algn="l">
              <a:lnSpc>
                <a:spcPts val="1920"/>
              </a:lnSpc>
              <a:buNone/>
            </a:pPr>
            <a:r>
              <a:rPr lang="en-US" sz="1200" b="1" dirty="0">
                <a:solidFill>
                  <a:srgbClr val="333333"/>
                </a:solidFill>
                <a:latin typeface="Roboto" pitchFamily="34" charset="0"/>
                <a:ea typeface="Roboto" pitchFamily="34" charset="-122"/>
                <a:cs typeface="Roboto" pitchFamily="34" charset="-120"/>
              </a:rPr>
              <a:t>1. Tantangan Yurisdiksi:</a:t>
            </a:r>
            <a:r>
              <a:rPr lang="en-US" sz="1200" dirty="0">
                <a:solidFill>
                  <a:srgbClr val="333333"/>
                </a:solidFill>
                <a:latin typeface="Roboto" pitchFamily="34" charset="0"/>
                <a:ea typeface="Roboto" pitchFamily="34" charset="-122"/>
                <a:cs typeface="Roboto" pitchFamily="34" charset="-120"/>
              </a:rPr>
              <a:t> Penegakan hukum sulit saat pihak berada di negara berbeda, terutama terkait eksekusi putusan pengadilan internasional.</a:t>
            </a:r>
            <a:endParaRPr lang="en-US" sz="1200" dirty="0"/>
          </a:p>
        </p:txBody>
      </p:sp>
      <p:sp>
        <p:nvSpPr>
          <p:cNvPr id="9" name="Text 7"/>
          <p:cNvSpPr/>
          <p:nvPr/>
        </p:nvSpPr>
        <p:spPr>
          <a:xfrm>
            <a:off x="838200" y="4110633"/>
            <a:ext cx="3392424" cy="978408"/>
          </a:xfrm>
          <a:prstGeom prst="rect">
            <a:avLst/>
          </a:prstGeom>
          <a:noFill/>
          <a:ln/>
        </p:spPr>
        <p:txBody>
          <a:bodyPr vert="horz" wrap="square" lIns="0" tIns="0" rIns="0" bIns="0" rtlCol="0" anchor="t"/>
          <a:lstStyle/>
          <a:p>
            <a:pPr marL="0" indent="0" algn="l">
              <a:lnSpc>
                <a:spcPts val="1920"/>
              </a:lnSpc>
              <a:buNone/>
            </a:pPr>
            <a:r>
              <a:rPr lang="en-US" sz="1200" b="1" dirty="0">
                <a:solidFill>
                  <a:srgbClr val="333333"/>
                </a:solidFill>
                <a:latin typeface="Roboto" pitchFamily="34" charset="0"/>
                <a:ea typeface="Roboto" pitchFamily="34" charset="-122"/>
                <a:cs typeface="Roboto" pitchFamily="34" charset="-120"/>
              </a:rPr>
              <a:t>2. Risiko Forum Shopping:</a:t>
            </a:r>
            <a:r>
              <a:rPr lang="en-US" sz="1200" dirty="0">
                <a:solidFill>
                  <a:srgbClr val="333333"/>
                </a:solidFill>
                <a:latin typeface="Roboto" pitchFamily="34" charset="0"/>
                <a:ea typeface="Roboto" pitchFamily="34" charset="-122"/>
                <a:cs typeface="Roboto" pitchFamily="34" charset="-120"/>
              </a:rPr>
              <a:t> Pelaku usaha atau konsumen cenderung memilih pengadilan yang paling menguntungkan posisi mereka secara sepihak.</a:t>
            </a:r>
            <a:endParaRPr lang="en-US" sz="1200" dirty="0"/>
          </a:p>
        </p:txBody>
      </p:sp>
      <p:sp>
        <p:nvSpPr>
          <p:cNvPr id="10" name="Text 8"/>
          <p:cNvSpPr/>
          <p:nvPr/>
        </p:nvSpPr>
        <p:spPr>
          <a:xfrm>
            <a:off x="838200" y="5273427"/>
            <a:ext cx="3392424" cy="740664"/>
          </a:xfrm>
          <a:prstGeom prst="rect">
            <a:avLst/>
          </a:prstGeom>
          <a:noFill/>
          <a:ln/>
        </p:spPr>
        <p:txBody>
          <a:bodyPr vert="horz" wrap="square" lIns="0" tIns="0" rIns="0" bIns="0" rtlCol="0" anchor="t"/>
          <a:lstStyle/>
          <a:p>
            <a:pPr marL="0" indent="0" algn="l">
              <a:lnSpc>
                <a:spcPts val="1920"/>
              </a:lnSpc>
              <a:buNone/>
            </a:pPr>
            <a:r>
              <a:rPr lang="en-US" sz="1200" b="1" dirty="0">
                <a:solidFill>
                  <a:srgbClr val="333333"/>
                </a:solidFill>
                <a:latin typeface="Roboto" pitchFamily="34" charset="0"/>
                <a:ea typeface="Roboto" pitchFamily="34" charset="-122"/>
                <a:cs typeface="Roboto" pitchFamily="34" charset="-120"/>
              </a:rPr>
              <a:t>3. Harmonisasi Global:</a:t>
            </a:r>
            <a:r>
              <a:rPr lang="en-US" sz="1200" dirty="0">
                <a:solidFill>
                  <a:srgbClr val="333333"/>
                </a:solidFill>
                <a:latin typeface="Roboto" pitchFamily="34" charset="0"/>
                <a:ea typeface="Roboto" pitchFamily="34" charset="-122"/>
                <a:cs typeface="Roboto" pitchFamily="34" charset="-120"/>
              </a:rPr>
              <a:t> UNCITRAL mendorong standardisasi hukum digital untuk kepastian transaksi internasional. </a:t>
            </a:r>
            <a:endParaRPr lang="en-US" sz="1200" dirty="0"/>
          </a:p>
        </p:txBody>
      </p:sp>
      <p:sp>
        <p:nvSpPr>
          <p:cNvPr id="11" name="Text 9"/>
          <p:cNvSpPr/>
          <p:nvPr/>
        </p:nvSpPr>
        <p:spPr>
          <a:xfrm>
            <a:off x="4572000" y="1714500"/>
            <a:ext cx="7239000" cy="4572000"/>
          </a:xfrm>
          <a:prstGeom prst="rect">
            <a:avLst/>
          </a:prstGeom>
          <a:solidFill>
            <a:srgbClr val="CCCCCC"/>
          </a:solidFill>
          <a:ln/>
        </p:spPr>
        <p:txBody>
          <a:bodyPr wrap="square" rtlCol="0" anchor="ctr"/>
          <a:lstStyle/>
          <a:p>
            <a:pPr marL="0" indent="0">
              <a:buNone/>
            </a:pPr>
            <a:endParaRPr lang="en-US" dirty="0"/>
          </a:p>
        </p:txBody>
      </p:sp>
      <p:pic>
        <p:nvPicPr>
          <p:cNvPr id="12" name="Image 0" descr="image.png"/>
          <p:cNvPicPr>
            <a:picLocks noChangeAspect="1"/>
          </p:cNvPicPr>
          <p:nvPr/>
        </p:nvPicPr>
        <p:blipFill>
          <a:blip r:embed="rId3"/>
          <a:srcRect r="11264"/>
          <a:stretch/>
        </p:blipFill>
        <p:spPr>
          <a:xfrm>
            <a:off x="4572000" y="1714500"/>
            <a:ext cx="7239000" cy="457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428750"/>
          </a:xfrm>
          <a:prstGeom prst="rect">
            <a:avLst/>
          </a:prstGeom>
          <a:solidFill>
            <a:srgbClr val="D8DBD8"/>
          </a:solidFill>
          <a:ln/>
        </p:spPr>
        <p:txBody>
          <a:bodyPr wrap="square" rtlCol="0" anchor="ctr"/>
          <a:lstStyle/>
          <a:p>
            <a:pPr marL="0" indent="0">
              <a:buNone/>
            </a:pPr>
            <a:endParaRPr lang="en-US" dirty="0"/>
          </a:p>
        </p:txBody>
      </p:sp>
      <p:sp>
        <p:nvSpPr>
          <p:cNvPr id="4" name="Text 2"/>
          <p:cNvSpPr/>
          <p:nvPr/>
        </p:nvSpPr>
        <p:spPr>
          <a:xfrm>
            <a:off x="1033224" y="620985"/>
            <a:ext cx="10232136" cy="530352"/>
          </a:xfrm>
          <a:prstGeom prst="rect">
            <a:avLst/>
          </a:prstGeom>
          <a:noFill/>
          <a:ln/>
        </p:spPr>
        <p:txBody>
          <a:bodyPr vert="horz" wrap="none" lIns="0" tIns="0" rIns="0" bIns="0" rtlCol="0" anchor="t">
            <a:normAutofit/>
          </a:bodyPr>
          <a:lstStyle/>
          <a:p>
            <a:pPr marL="0" indent="0" algn="ctr">
              <a:lnSpc>
                <a:spcPts val="3780"/>
              </a:lnSpc>
              <a:buNone/>
            </a:pPr>
            <a:r>
              <a:rPr lang="en-US" sz="3150" b="1" dirty="0">
                <a:solidFill>
                  <a:srgbClr val="000000"/>
                </a:solidFill>
                <a:latin typeface="Montserrat Thin" pitchFamily="34" charset="0"/>
                <a:ea typeface="Montserrat Thin" pitchFamily="34" charset="-122"/>
                <a:cs typeface="Montserrat Thin" pitchFamily="34" charset="-120"/>
              </a:rPr>
              <a:t>Studi Kasus: Analisis Cacat Hukum ToS Aplikasi</a:t>
            </a:r>
            <a:endParaRPr lang="en-US" sz="3150" dirty="0"/>
          </a:p>
        </p:txBody>
      </p:sp>
      <p:sp>
        <p:nvSpPr>
          <p:cNvPr id="5" name="Text 3"/>
          <p:cNvSpPr/>
          <p:nvPr/>
        </p:nvSpPr>
        <p:spPr>
          <a:xfrm>
            <a:off x="762000" y="1905000"/>
            <a:ext cx="3301901" cy="3667125"/>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762000" y="1928813"/>
            <a:ext cx="3301901" cy="0"/>
          </a:xfrm>
          <a:prstGeom prst="line">
            <a:avLst/>
          </a:prstGeom>
          <a:noFill/>
          <a:ln w="47625">
            <a:solidFill>
              <a:srgbClr val="5D645B"/>
            </a:solidFill>
            <a:prstDash val="solid"/>
          </a:ln>
        </p:spPr>
      </p:sp>
      <p:sp>
        <p:nvSpPr>
          <p:cNvPr id="7" name="Text 5"/>
          <p:cNvSpPr/>
          <p:nvPr/>
        </p:nvSpPr>
        <p:spPr>
          <a:xfrm>
            <a:off x="2031950" y="2333625"/>
            <a:ext cx="762000" cy="762000"/>
          </a:xfrm>
          <a:prstGeom prst="roundRect">
            <a:avLst>
              <a:gd name="adj" fmla="val 1200000"/>
            </a:avLst>
          </a:prstGeom>
          <a:solidFill>
            <a:srgbClr val="5D645B"/>
          </a:solidFill>
          <a:ln/>
        </p:spPr>
        <p:txBody>
          <a:bodyPr wrap="square" rtlCol="0" anchor="ctr"/>
          <a:lstStyle/>
          <a:p>
            <a:pPr marL="0" indent="0">
              <a:buNone/>
            </a:pPr>
            <a:endParaRPr lang="en-US" dirty="0"/>
          </a:p>
        </p:txBody>
      </p:sp>
      <p:sp>
        <p:nvSpPr>
          <p:cNvPr id="8" name="Text 6"/>
          <p:cNvSpPr/>
          <p:nvPr/>
        </p:nvSpPr>
        <p:spPr>
          <a:xfrm>
            <a:off x="2241500" y="2562225"/>
            <a:ext cx="429768" cy="338328"/>
          </a:xfrm>
          <a:prstGeom prst="rect">
            <a:avLst/>
          </a:prstGeom>
          <a:noFill/>
          <a:ln/>
        </p:spPr>
        <p:txBody>
          <a:bodyPr vert="horz" wrap="none" lIns="0" tIns="0" rIns="0" bIns="0" rtlCol="0" anchor="t">
            <a:normAutofit/>
          </a:bodyPr>
          <a:lstStyle/>
          <a:p>
            <a:pPr marL="0" indent="0" algn="l">
              <a:lnSpc>
                <a:spcPts val="2400"/>
              </a:lnSpc>
              <a:buNone/>
            </a:pPr>
            <a:r>
              <a:rPr lang="en-US" sz="2400" b="1" dirty="0">
                <a:solidFill>
                  <a:srgbClr val="FFFFFF"/>
                </a:solidFill>
                <a:latin typeface="Roboto" pitchFamily="34" charset="0"/>
                <a:ea typeface="Roboto" pitchFamily="34" charset="-122"/>
                <a:cs typeface="Roboto" pitchFamily="34" charset="-120"/>
              </a:rPr>
              <a:t>01</a:t>
            </a:r>
            <a:endParaRPr lang="en-US" sz="2400" dirty="0"/>
          </a:p>
        </p:txBody>
      </p:sp>
      <p:sp>
        <p:nvSpPr>
          <p:cNvPr id="9" name="Text 7"/>
          <p:cNvSpPr/>
          <p:nvPr/>
        </p:nvSpPr>
        <p:spPr>
          <a:xfrm>
            <a:off x="1076593" y="3495675"/>
            <a:ext cx="2724912" cy="283464"/>
          </a:xfrm>
          <a:prstGeom prst="rect">
            <a:avLst/>
          </a:prstGeom>
          <a:noFill/>
          <a:ln/>
        </p:spPr>
        <p:txBody>
          <a:bodyPr vert="horz" wrap="none" lIns="0" tIns="0" rIns="0" bIns="0" rtlCol="0" anchor="t">
            <a:normAutofit/>
          </a:bodyPr>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Identifikasi Klausula Baku</a:t>
            </a:r>
            <a:endParaRPr lang="en-US" sz="1500" dirty="0"/>
          </a:p>
        </p:txBody>
      </p:sp>
      <p:sp>
        <p:nvSpPr>
          <p:cNvPr id="10" name="Text 8"/>
          <p:cNvSpPr/>
          <p:nvPr/>
        </p:nvSpPr>
        <p:spPr>
          <a:xfrm>
            <a:off x="1046113" y="4048125"/>
            <a:ext cx="2770632" cy="1143000"/>
          </a:xfrm>
          <a:prstGeom prst="rect">
            <a:avLst/>
          </a:prstGeom>
          <a:noFill/>
          <a:ln/>
        </p:spPr>
        <p:txBody>
          <a:bodyPr vert="horz" wrap="square" lIns="0" tIns="0" rIns="0" bIns="0" rtlCol="0" anchor="t"/>
          <a:lstStyle/>
          <a:p>
            <a:pPr marL="0" indent="0" algn="ctr">
              <a:lnSpc>
                <a:spcPts val="1800"/>
              </a:lnSpc>
              <a:buNone/>
            </a:pPr>
            <a:r>
              <a:rPr lang="en-US" sz="1125" dirty="0">
                <a:solidFill>
                  <a:srgbClr val="333333"/>
                </a:solidFill>
                <a:latin typeface="Roboto" pitchFamily="34" charset="0"/>
                <a:ea typeface="Roboto" pitchFamily="34" charset="-122"/>
                <a:cs typeface="Roboto" pitchFamily="34" charset="-120"/>
              </a:rPr>
              <a:t>Ditemukan klausul eksonerasi yang mengalihkan tanggung jawab pelaku usaha secara sepihak, sehingga merugikan posisi konsumen dalam perjanjian elektronik tersebut.</a:t>
            </a:r>
            <a:endParaRPr lang="en-US" sz="1125" dirty="0"/>
          </a:p>
        </p:txBody>
      </p:sp>
      <p:sp>
        <p:nvSpPr>
          <p:cNvPr id="11" name="Text 9"/>
          <p:cNvSpPr/>
          <p:nvPr/>
        </p:nvSpPr>
        <p:spPr>
          <a:xfrm>
            <a:off x="4444901" y="1905000"/>
            <a:ext cx="3302050" cy="3667125"/>
          </a:xfrm>
          <a:prstGeom prst="rect">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444901" y="1928813"/>
            <a:ext cx="3302050" cy="0"/>
          </a:xfrm>
          <a:prstGeom prst="line">
            <a:avLst/>
          </a:prstGeom>
          <a:noFill/>
          <a:ln w="47625">
            <a:solidFill>
              <a:srgbClr val="5D645B"/>
            </a:solidFill>
            <a:prstDash val="solid"/>
          </a:ln>
        </p:spPr>
      </p:sp>
      <p:sp>
        <p:nvSpPr>
          <p:cNvPr id="13" name="Text 11"/>
          <p:cNvSpPr/>
          <p:nvPr/>
        </p:nvSpPr>
        <p:spPr>
          <a:xfrm>
            <a:off x="5714851" y="2333625"/>
            <a:ext cx="762000" cy="762000"/>
          </a:xfrm>
          <a:prstGeom prst="roundRect">
            <a:avLst>
              <a:gd name="adj" fmla="val 1200000"/>
            </a:avLst>
          </a:prstGeom>
          <a:solidFill>
            <a:srgbClr val="5D645B"/>
          </a:solidFill>
          <a:ln/>
        </p:spPr>
        <p:txBody>
          <a:bodyPr wrap="square" rtlCol="0" anchor="ctr"/>
          <a:lstStyle/>
          <a:p>
            <a:pPr marL="0" indent="0">
              <a:buNone/>
            </a:pPr>
            <a:endParaRPr lang="en-US" dirty="0"/>
          </a:p>
        </p:txBody>
      </p:sp>
      <p:sp>
        <p:nvSpPr>
          <p:cNvPr id="14" name="Text 12"/>
          <p:cNvSpPr/>
          <p:nvPr/>
        </p:nvSpPr>
        <p:spPr>
          <a:xfrm>
            <a:off x="5924401" y="2562225"/>
            <a:ext cx="429768" cy="338328"/>
          </a:xfrm>
          <a:prstGeom prst="rect">
            <a:avLst/>
          </a:prstGeom>
          <a:noFill/>
          <a:ln/>
        </p:spPr>
        <p:txBody>
          <a:bodyPr vert="horz" wrap="none" lIns="0" tIns="0" rIns="0" bIns="0" rtlCol="0" anchor="t">
            <a:normAutofit/>
          </a:bodyPr>
          <a:lstStyle/>
          <a:p>
            <a:pPr marL="0" indent="0" algn="l">
              <a:lnSpc>
                <a:spcPts val="2400"/>
              </a:lnSpc>
              <a:buNone/>
            </a:pPr>
            <a:r>
              <a:rPr lang="en-US" sz="2400" b="1" dirty="0">
                <a:solidFill>
                  <a:srgbClr val="FFFFFF"/>
                </a:solidFill>
                <a:latin typeface="Roboto" pitchFamily="34" charset="0"/>
                <a:ea typeface="Roboto" pitchFamily="34" charset="-122"/>
                <a:cs typeface="Roboto" pitchFamily="34" charset="-120"/>
              </a:rPr>
              <a:t>02</a:t>
            </a:r>
            <a:endParaRPr lang="en-US" sz="2400" dirty="0"/>
          </a:p>
        </p:txBody>
      </p:sp>
      <p:sp>
        <p:nvSpPr>
          <p:cNvPr id="15" name="Text 13"/>
          <p:cNvSpPr/>
          <p:nvPr/>
        </p:nvSpPr>
        <p:spPr>
          <a:xfrm>
            <a:off x="4729088" y="3371850"/>
            <a:ext cx="2788920" cy="502920"/>
          </a:xfrm>
          <a:prstGeom prst="rect">
            <a:avLst/>
          </a:prstGeom>
          <a:noFill/>
          <a:ln/>
        </p:spPr>
        <p:txBody>
          <a:bodyPr vert="horz" wrap="square" lIns="0" tIns="0" rIns="0" bIns="0" rtlCol="0" anchor="t"/>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Ketidaksesuaian Standar Hukum</a:t>
            </a:r>
            <a:endParaRPr lang="en-US" sz="1500" dirty="0"/>
          </a:p>
        </p:txBody>
      </p:sp>
      <p:sp>
        <p:nvSpPr>
          <p:cNvPr id="16" name="Text 14"/>
          <p:cNvSpPr/>
          <p:nvPr/>
        </p:nvSpPr>
        <p:spPr>
          <a:xfrm>
            <a:off x="4729088" y="4048125"/>
            <a:ext cx="2770632" cy="1143000"/>
          </a:xfrm>
          <a:prstGeom prst="rect">
            <a:avLst/>
          </a:prstGeom>
          <a:noFill/>
          <a:ln/>
        </p:spPr>
        <p:txBody>
          <a:bodyPr vert="horz" wrap="square" lIns="0" tIns="0" rIns="0" bIns="0" rtlCol="0" anchor="t"/>
          <a:lstStyle/>
          <a:p>
            <a:pPr marL="0" indent="0" algn="ctr">
              <a:lnSpc>
                <a:spcPts val="1800"/>
              </a:lnSpc>
              <a:buNone/>
            </a:pPr>
            <a:r>
              <a:rPr lang="en-US" sz="1125" dirty="0">
                <a:solidFill>
                  <a:srgbClr val="333333"/>
                </a:solidFill>
                <a:latin typeface="Roboto" pitchFamily="34" charset="0"/>
                <a:ea typeface="Roboto" pitchFamily="34" charset="-122"/>
                <a:cs typeface="Roboto" pitchFamily="34" charset="-120"/>
              </a:rPr>
              <a:t>Analisis kontrak menunjukkan pelanggaran terhadap standar UU ITE dan Pasal 18 UU Perlindungan Konsumen mengenai larangan pencantuman klausul baku tertentu.</a:t>
            </a:r>
            <a:endParaRPr lang="en-US" sz="1125" dirty="0"/>
          </a:p>
        </p:txBody>
      </p:sp>
      <p:sp>
        <p:nvSpPr>
          <p:cNvPr id="17" name="Text 15"/>
          <p:cNvSpPr/>
          <p:nvPr/>
        </p:nvSpPr>
        <p:spPr>
          <a:xfrm>
            <a:off x="8127950" y="1905000"/>
            <a:ext cx="3302050" cy="3667125"/>
          </a:xfrm>
          <a:prstGeom prst="rect">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8127950" y="1928813"/>
            <a:ext cx="3302050" cy="0"/>
          </a:xfrm>
          <a:prstGeom prst="line">
            <a:avLst/>
          </a:prstGeom>
          <a:noFill/>
          <a:ln w="47625">
            <a:solidFill>
              <a:srgbClr val="5D645B"/>
            </a:solidFill>
            <a:prstDash val="solid"/>
          </a:ln>
        </p:spPr>
      </p:sp>
      <p:sp>
        <p:nvSpPr>
          <p:cNvPr id="19" name="Text 17"/>
          <p:cNvSpPr/>
          <p:nvPr/>
        </p:nvSpPr>
        <p:spPr>
          <a:xfrm>
            <a:off x="9397901" y="2333625"/>
            <a:ext cx="762000" cy="762000"/>
          </a:xfrm>
          <a:prstGeom prst="roundRect">
            <a:avLst>
              <a:gd name="adj" fmla="val 1200000"/>
            </a:avLst>
          </a:prstGeom>
          <a:solidFill>
            <a:srgbClr val="5D645B"/>
          </a:solidFill>
          <a:ln/>
        </p:spPr>
        <p:txBody>
          <a:bodyPr wrap="square" rtlCol="0" anchor="ctr"/>
          <a:lstStyle/>
          <a:p>
            <a:pPr marL="0" indent="0">
              <a:buNone/>
            </a:pPr>
            <a:endParaRPr lang="en-US" dirty="0"/>
          </a:p>
        </p:txBody>
      </p:sp>
      <p:sp>
        <p:nvSpPr>
          <p:cNvPr id="20" name="Text 18"/>
          <p:cNvSpPr/>
          <p:nvPr/>
        </p:nvSpPr>
        <p:spPr>
          <a:xfrm>
            <a:off x="9607451" y="2562225"/>
            <a:ext cx="429768" cy="338328"/>
          </a:xfrm>
          <a:prstGeom prst="rect">
            <a:avLst/>
          </a:prstGeom>
          <a:noFill/>
          <a:ln/>
        </p:spPr>
        <p:txBody>
          <a:bodyPr vert="horz" wrap="none" lIns="0" tIns="0" rIns="0" bIns="0" rtlCol="0" anchor="t">
            <a:normAutofit/>
          </a:bodyPr>
          <a:lstStyle/>
          <a:p>
            <a:pPr marL="0" indent="0" algn="l">
              <a:lnSpc>
                <a:spcPts val="2400"/>
              </a:lnSpc>
              <a:buNone/>
            </a:pPr>
            <a:r>
              <a:rPr lang="en-US" sz="2400" b="1" dirty="0">
                <a:solidFill>
                  <a:srgbClr val="FFFFFF"/>
                </a:solidFill>
                <a:latin typeface="Roboto" pitchFamily="34" charset="0"/>
                <a:ea typeface="Roboto" pitchFamily="34" charset="-122"/>
                <a:cs typeface="Roboto" pitchFamily="34" charset="-120"/>
              </a:rPr>
              <a:t>03</a:t>
            </a:r>
            <a:endParaRPr lang="en-US" sz="2400" dirty="0"/>
          </a:p>
        </p:txBody>
      </p:sp>
      <p:sp>
        <p:nvSpPr>
          <p:cNvPr id="21" name="Text 19"/>
          <p:cNvSpPr/>
          <p:nvPr/>
        </p:nvSpPr>
        <p:spPr>
          <a:xfrm>
            <a:off x="8398824" y="3495675"/>
            <a:ext cx="2816352" cy="283464"/>
          </a:xfrm>
          <a:prstGeom prst="rect">
            <a:avLst/>
          </a:prstGeom>
          <a:noFill/>
          <a:ln/>
        </p:spPr>
        <p:txBody>
          <a:bodyPr vert="horz" wrap="none" lIns="0" tIns="0" rIns="0" bIns="0" rtlCol="0" anchor="t">
            <a:normAutofit/>
          </a:bodyPr>
          <a:lstStyle/>
          <a:p>
            <a:pPr marL="0" indent="0" algn="ctr">
              <a:lnSpc>
                <a:spcPts val="1950"/>
              </a:lnSpc>
              <a:buNone/>
            </a:pPr>
            <a:r>
              <a:rPr lang="en-US" sz="1500" b="1" dirty="0">
                <a:solidFill>
                  <a:srgbClr val="000000"/>
                </a:solidFill>
                <a:latin typeface="Montserrat Thin" pitchFamily="34" charset="0"/>
                <a:ea typeface="Montserrat Thin" pitchFamily="34" charset="-122"/>
                <a:cs typeface="Montserrat Thin" pitchFamily="34" charset="-120"/>
              </a:rPr>
              <a:t>Contoh Pelanggaran Nyata</a:t>
            </a:r>
            <a:endParaRPr lang="en-US" sz="1500" dirty="0"/>
          </a:p>
        </p:txBody>
      </p:sp>
      <p:sp>
        <p:nvSpPr>
          <p:cNvPr id="22" name="Text 20"/>
          <p:cNvSpPr/>
          <p:nvPr/>
        </p:nvSpPr>
        <p:spPr>
          <a:xfrm>
            <a:off x="8412138" y="4048125"/>
            <a:ext cx="2770632" cy="1143000"/>
          </a:xfrm>
          <a:prstGeom prst="rect">
            <a:avLst/>
          </a:prstGeom>
          <a:noFill/>
          <a:ln/>
        </p:spPr>
        <p:txBody>
          <a:bodyPr vert="horz" wrap="square" lIns="0" tIns="0" rIns="0" bIns="0" rtlCol="0" anchor="t"/>
          <a:lstStyle/>
          <a:p>
            <a:pPr marL="0" indent="0" algn="ctr">
              <a:lnSpc>
                <a:spcPts val="1800"/>
              </a:lnSpc>
              <a:buNone/>
            </a:pPr>
            <a:r>
              <a:rPr lang="en-US" sz="1125" dirty="0">
                <a:solidFill>
                  <a:srgbClr val="333333"/>
                </a:solidFill>
                <a:latin typeface="Roboto" pitchFamily="34" charset="0"/>
                <a:ea typeface="Roboto" pitchFamily="34" charset="-122"/>
                <a:cs typeface="Roboto" pitchFamily="34" charset="-120"/>
              </a:rPr>
              <a:t>Penerapan klausul pembebasan tanggung jawab sepihak atas kehilangan data atau kerugian finansial akibat kesalahan sistem yang melanggar ketentuan hukum yang berlaku.</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E9EAE8"/>
          </a:solidFill>
          <a:ln/>
        </p:spPr>
        <p:txBody>
          <a:bodyPr wrap="square" rtlCol="0" anchor="ctr"/>
          <a:lstStyle/>
          <a:p>
            <a:pPr marL="0" indent="0">
              <a:buNone/>
            </a:pPr>
            <a:endParaRPr lang="en-US" dirty="0"/>
          </a:p>
        </p:txBody>
      </p:sp>
      <p:sp>
        <p:nvSpPr>
          <p:cNvPr id="3" name="Text 1"/>
          <p:cNvSpPr/>
          <p:nvPr/>
        </p:nvSpPr>
        <p:spPr>
          <a:xfrm>
            <a:off x="0" y="0"/>
            <a:ext cx="12192000" cy="1714500"/>
          </a:xfrm>
          <a:prstGeom prst="rect">
            <a:avLst/>
          </a:prstGeom>
          <a:solidFill>
            <a:srgbClr val="D8DBD8"/>
          </a:solidFill>
          <a:ln/>
        </p:spPr>
        <p:txBody>
          <a:bodyPr wrap="square" rtlCol="0" anchor="ctr"/>
          <a:lstStyle/>
          <a:p>
            <a:pPr marL="0" indent="0">
              <a:buNone/>
            </a:pPr>
            <a:endParaRPr lang="en-US" dirty="0"/>
          </a:p>
        </p:txBody>
      </p:sp>
      <p:pic>
        <p:nvPicPr>
          <p:cNvPr id="4" name="Image 0" descr="image.png"/>
          <p:cNvPicPr>
            <a:picLocks noChangeAspect="1"/>
          </p:cNvPicPr>
          <p:nvPr/>
        </p:nvPicPr>
        <p:blipFill>
          <a:blip r:embed="rId3"/>
          <a:srcRect r="11012"/>
          <a:stretch/>
        </p:blipFill>
        <p:spPr>
          <a:xfrm>
            <a:off x="5724525" y="2200275"/>
            <a:ext cx="5695950" cy="4267200"/>
          </a:xfrm>
          <a:prstGeom prst="rect">
            <a:avLst/>
          </a:prstGeom>
        </p:spPr>
      </p:pic>
      <p:sp>
        <p:nvSpPr>
          <p:cNvPr id="5" name="Text 2"/>
          <p:cNvSpPr/>
          <p:nvPr/>
        </p:nvSpPr>
        <p:spPr>
          <a:xfrm>
            <a:off x="1004887" y="666750"/>
            <a:ext cx="10314432" cy="630936"/>
          </a:xfrm>
          <a:prstGeom prst="rect">
            <a:avLst/>
          </a:prstGeom>
          <a:noFill/>
          <a:ln/>
        </p:spPr>
        <p:txBody>
          <a:bodyPr vert="horz" wrap="square" lIns="0" tIns="0" rIns="0" bIns="0" rtlCol="0" anchor="t"/>
          <a:lstStyle/>
          <a:p>
            <a:pPr marL="0" indent="0" algn="ctr">
              <a:lnSpc>
                <a:spcPts val="4860"/>
              </a:lnSpc>
              <a:buNone/>
            </a:pPr>
            <a:r>
              <a:rPr lang="en-US" sz="4050" b="1" dirty="0">
                <a:solidFill>
                  <a:srgbClr val="000000"/>
                </a:solidFill>
                <a:latin typeface="Montserrat Thin" pitchFamily="34" charset="0"/>
                <a:ea typeface="Montserrat Thin" pitchFamily="34" charset="-122"/>
                <a:cs typeface="Montserrat Thin" pitchFamily="34" charset="-120"/>
              </a:rPr>
              <a:t>Kesimpulan dan Rekomendasi Praktis</a:t>
            </a:r>
            <a:endParaRPr lang="en-US" sz="4050" dirty="0"/>
          </a:p>
        </p:txBody>
      </p:sp>
      <p:sp>
        <p:nvSpPr>
          <p:cNvPr id="6" name="Text 3"/>
          <p:cNvSpPr/>
          <p:nvPr/>
        </p:nvSpPr>
        <p:spPr>
          <a:xfrm>
            <a:off x="952500" y="2476500"/>
            <a:ext cx="4000500" cy="1916311"/>
          </a:xfrm>
          <a:prstGeom prst="rect">
            <a:avLst/>
          </a:prstGeom>
          <a:solidFill>
            <a:srgbClr val="FFFFFF"/>
          </a:solidFill>
          <a:ln/>
        </p:spPr>
        <p:txBody>
          <a:bodyPr wrap="square" rtlCol="0" anchor="ctr"/>
          <a:lstStyle/>
          <a:p>
            <a:pPr marL="0" indent="0">
              <a:buNone/>
            </a:pPr>
            <a:endParaRPr lang="en-US" dirty="0"/>
          </a:p>
        </p:txBody>
      </p:sp>
      <p:sp>
        <p:nvSpPr>
          <p:cNvPr id="7" name="Shape 4"/>
          <p:cNvSpPr/>
          <p:nvPr/>
        </p:nvSpPr>
        <p:spPr>
          <a:xfrm>
            <a:off x="952500" y="2476500"/>
            <a:ext cx="0" cy="1916311"/>
          </a:xfrm>
          <a:prstGeom prst="line">
            <a:avLst/>
          </a:prstGeom>
          <a:noFill/>
          <a:ln w="47625">
            <a:solidFill>
              <a:srgbClr val="5D645B"/>
            </a:solidFill>
            <a:prstDash val="solid"/>
          </a:ln>
        </p:spPr>
      </p:sp>
      <p:sp>
        <p:nvSpPr>
          <p:cNvPr id="8" name="Text 5"/>
          <p:cNvSpPr/>
          <p:nvPr/>
        </p:nvSpPr>
        <p:spPr>
          <a:xfrm>
            <a:off x="1190625" y="2667000"/>
            <a:ext cx="3328416" cy="521208"/>
          </a:xfrm>
          <a:prstGeom prst="rect">
            <a:avLst/>
          </a:prstGeom>
          <a:noFill/>
          <a:ln/>
        </p:spPr>
        <p:txBody>
          <a:bodyPr vert="horz" wrap="square" lIns="0" tIns="0" rIns="0" bIns="0" rtlCol="0" anchor="t"/>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Ringkasan Keabsahan Kontrak</a:t>
            </a:r>
            <a:endParaRPr lang="en-US" sz="1650" dirty="0"/>
          </a:p>
        </p:txBody>
      </p:sp>
      <p:sp>
        <p:nvSpPr>
          <p:cNvPr id="9" name="Text 6"/>
          <p:cNvSpPr/>
          <p:nvPr/>
        </p:nvSpPr>
        <p:spPr>
          <a:xfrm>
            <a:off x="1190625" y="3296543"/>
            <a:ext cx="3611880" cy="905256"/>
          </a:xfrm>
          <a:prstGeom prst="rect">
            <a:avLst/>
          </a:prstGeom>
          <a:noFill/>
          <a:ln/>
        </p:spPr>
        <p:txBody>
          <a:bodyPr vert="horz" wrap="square" lIns="0" tIns="0" rIns="0" bIns="0" rtlCol="0" anchor="t"/>
          <a:lstStyle/>
          <a:p>
            <a:pPr marL="0" indent="0" algn="l">
              <a:lnSpc>
                <a:spcPts val="1785"/>
              </a:lnSpc>
              <a:buNone/>
            </a:pPr>
            <a:r>
              <a:rPr lang="en-US" sz="1050" dirty="0">
                <a:solidFill>
                  <a:srgbClr val="333333"/>
                </a:solidFill>
                <a:latin typeface="Roboto" pitchFamily="34" charset="0"/>
                <a:ea typeface="Roboto" pitchFamily="34" charset="-122"/>
                <a:cs typeface="Roboto" pitchFamily="34" charset="-120"/>
              </a:rPr>
              <a:t>Keabsahan kontrak elektronik wajib memenuhi Pasal 1320 KUH Perdata dan UU ITE. Pastikan transparansi dalam penyusunan klausul guna menghindari cacat hukum dalam setiap transaksi digital yang dilakukan perusahaan.</a:t>
            </a:r>
            <a:endParaRPr lang="en-US" sz="1050" dirty="0"/>
          </a:p>
        </p:txBody>
      </p:sp>
      <p:sp>
        <p:nvSpPr>
          <p:cNvPr id="10" name="Text 7"/>
          <p:cNvSpPr/>
          <p:nvPr/>
        </p:nvSpPr>
        <p:spPr>
          <a:xfrm>
            <a:off x="952500" y="4869061"/>
            <a:ext cx="4000500" cy="1916311"/>
          </a:xfrm>
          <a:prstGeom prst="rect">
            <a:avLst/>
          </a:prstGeom>
          <a:solidFill>
            <a:srgbClr val="FFFFFF"/>
          </a:solidFill>
          <a:ln/>
        </p:spPr>
        <p:txBody>
          <a:bodyPr wrap="square" rtlCol="0" anchor="ctr"/>
          <a:lstStyle/>
          <a:p>
            <a:pPr marL="0" indent="0">
              <a:buNone/>
            </a:pPr>
            <a:endParaRPr lang="en-US" dirty="0"/>
          </a:p>
        </p:txBody>
      </p:sp>
      <p:sp>
        <p:nvSpPr>
          <p:cNvPr id="11" name="Shape 8"/>
          <p:cNvSpPr/>
          <p:nvPr/>
        </p:nvSpPr>
        <p:spPr>
          <a:xfrm>
            <a:off x="952500" y="4869061"/>
            <a:ext cx="0" cy="1916311"/>
          </a:xfrm>
          <a:prstGeom prst="line">
            <a:avLst/>
          </a:prstGeom>
          <a:noFill/>
          <a:ln w="47625">
            <a:solidFill>
              <a:srgbClr val="5D645B"/>
            </a:solidFill>
            <a:prstDash val="solid"/>
          </a:ln>
        </p:spPr>
      </p:sp>
      <p:sp>
        <p:nvSpPr>
          <p:cNvPr id="12" name="Text 9"/>
          <p:cNvSpPr/>
          <p:nvPr/>
        </p:nvSpPr>
        <p:spPr>
          <a:xfrm>
            <a:off x="1190625" y="5059561"/>
            <a:ext cx="3328416" cy="521208"/>
          </a:xfrm>
          <a:prstGeom prst="rect">
            <a:avLst/>
          </a:prstGeom>
          <a:noFill/>
          <a:ln/>
        </p:spPr>
        <p:txBody>
          <a:bodyPr vert="horz" wrap="square" lIns="0" tIns="0" rIns="0" bIns="0" rtlCol="0" anchor="t"/>
          <a:lstStyle/>
          <a:p>
            <a:pPr marL="0" indent="0" algn="l">
              <a:lnSpc>
                <a:spcPts val="1980"/>
              </a:lnSpc>
              <a:buNone/>
            </a:pPr>
            <a:r>
              <a:rPr lang="en-US" sz="1650" b="1" dirty="0">
                <a:solidFill>
                  <a:srgbClr val="000000"/>
                </a:solidFill>
                <a:latin typeface="Montserrat Thin" pitchFamily="34" charset="0"/>
                <a:ea typeface="Montserrat Thin" pitchFamily="34" charset="-122"/>
                <a:cs typeface="Montserrat Thin" pitchFamily="34" charset="-120"/>
              </a:rPr>
              <a:t>Rekomendasi Penyusunan E-Contract</a:t>
            </a:r>
            <a:endParaRPr lang="en-US" sz="1650" dirty="0"/>
          </a:p>
        </p:txBody>
      </p:sp>
      <p:sp>
        <p:nvSpPr>
          <p:cNvPr id="13" name="Text 10"/>
          <p:cNvSpPr/>
          <p:nvPr/>
        </p:nvSpPr>
        <p:spPr>
          <a:xfrm>
            <a:off x="1190625" y="5689104"/>
            <a:ext cx="3611880" cy="905256"/>
          </a:xfrm>
          <a:prstGeom prst="rect">
            <a:avLst/>
          </a:prstGeom>
          <a:noFill/>
          <a:ln/>
        </p:spPr>
        <p:txBody>
          <a:bodyPr vert="horz" wrap="square" lIns="0" tIns="0" rIns="0" bIns="0" rtlCol="0" anchor="t"/>
          <a:lstStyle/>
          <a:p>
            <a:pPr marL="0" indent="0" algn="l">
              <a:lnSpc>
                <a:spcPts val="1785"/>
              </a:lnSpc>
              <a:buNone/>
            </a:pPr>
            <a:r>
              <a:rPr lang="en-US" sz="1050" dirty="0">
                <a:solidFill>
                  <a:srgbClr val="333333"/>
                </a:solidFill>
                <a:latin typeface="Roboto" pitchFamily="34" charset="0"/>
                <a:ea typeface="Roboto" pitchFamily="34" charset="-122"/>
                <a:cs typeface="Roboto" pitchFamily="34" charset="-120"/>
              </a:rPr>
              <a:t>Praktisi hukum disarankan menggunakan tanda tangan tersertifikasi dan rutin melakukan audit kepatuhan regulasi terbaru untuk menjamin kepastian hukum dan memenuhi syarat legalitas yang berlaku.</a:t>
            </a:r>
            <a:endParaRPr lang="en-US" sz="1050" dirty="0"/>
          </a:p>
        </p:txBody>
      </p:sp>
      <p:sp>
        <p:nvSpPr>
          <p:cNvPr id="14" name="Text 11"/>
          <p:cNvSpPr/>
          <p:nvPr/>
        </p:nvSpPr>
        <p:spPr>
          <a:xfrm>
            <a:off x="5867400" y="6096000"/>
            <a:ext cx="1971675" cy="228600"/>
          </a:xfrm>
          <a:prstGeom prst="roundRect">
            <a:avLst>
              <a:gd name="adj" fmla="val 16667"/>
            </a:avLst>
          </a:prstGeom>
          <a:solidFill>
            <a:srgbClr val="000000">
              <a:alpha val="70000"/>
            </a:srgbClr>
          </a:solidFill>
          <a:ln/>
        </p:spPr>
        <p:txBody>
          <a:bodyPr wrap="square" rtlCol="0" anchor="ctr"/>
          <a:lstStyle/>
          <a:p>
            <a:pPr marL="0" indent="0">
              <a:buNone/>
            </a:pPr>
            <a:endParaRPr lang="en-US" dirty="0"/>
          </a:p>
        </p:txBody>
      </p:sp>
      <p:sp>
        <p:nvSpPr>
          <p:cNvPr id="15" name="Text 12"/>
          <p:cNvSpPr/>
          <p:nvPr/>
        </p:nvSpPr>
        <p:spPr>
          <a:xfrm>
            <a:off x="5962650" y="6143625"/>
            <a:ext cx="1847088" cy="164592"/>
          </a:xfrm>
          <a:prstGeom prst="rect">
            <a:avLst/>
          </a:prstGeom>
          <a:noFill/>
          <a:ln/>
        </p:spPr>
        <p:txBody>
          <a:bodyPr vert="horz" wrap="none" lIns="0" tIns="0" rIns="0" bIns="0" rtlCol="0" anchor="t">
            <a:normAutofit/>
          </a:bodyPr>
          <a:lstStyle/>
          <a:p>
            <a:pPr marL="0" indent="0" algn="l">
              <a:lnSpc>
                <a:spcPts val="1080"/>
              </a:lnSpc>
              <a:buNone/>
            </a:pPr>
            <a:r>
              <a:rPr lang="en-US" sz="900" dirty="0">
                <a:solidFill>
                  <a:srgbClr val="FFFFFF"/>
                </a:solidFill>
                <a:latin typeface="Roboto" pitchFamily="34" charset="0"/>
                <a:ea typeface="Roboto" pitchFamily="34" charset="-122"/>
                <a:cs typeface="Roboto" pitchFamily="34" charset="-120"/>
              </a:rPr>
              <a:t>Ilustrasi Kepatuhan Hukum Digital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1307</Words>
  <Application>Microsoft Office PowerPoint</Application>
  <PresentationFormat>Widescreen</PresentationFormat>
  <Paragraphs>151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Roboto</vt:lpstr>
      <vt:lpstr>Montserrat Thin</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百度文库 v1.0.0</dc:creator>
  <cp:lastModifiedBy>intan .</cp:lastModifiedBy>
  <cp:revision>2</cp:revision>
  <dcterms:created xsi:type="dcterms:W3CDTF">2026-09-25T06:54:33Z</dcterms:created>
  <dcterms:modified xsi:type="dcterms:W3CDTF">2026-09-25T07:52:58Z</dcterms:modified>
</cp:coreProperties>
</file>