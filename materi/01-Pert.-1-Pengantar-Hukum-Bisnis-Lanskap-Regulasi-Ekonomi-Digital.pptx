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Noto Sans SC" panose="020B0604020202020204" charset="-128"/>
      <p:regular r:id="rId21"/>
    </p:embeddedFont>
    <p:embeddedFont>
      <p:font typeface="Microsoft Yahei" panose="020B0503020204020204" pitchFamily="34" charset="-122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3747" y="1607178"/>
            <a:ext cx="6370076" cy="267869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050" b="1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Pertemuan</a:t>
            </a:r>
            <a:r>
              <a:rPr lang="en-US" sz="4050" b="1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1: </a:t>
            </a:r>
            <a:r>
              <a:rPr lang="en-US" sz="4050" b="1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Pengantar</a:t>
            </a:r>
            <a:r>
              <a:rPr lang="en-US" sz="4050" b="1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Hukum </a:t>
            </a:r>
            <a:r>
              <a:rPr lang="en-US" sz="4050" b="1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Bisnis</a:t>
            </a:r>
            <a:r>
              <a:rPr lang="en-US" sz="4050" b="1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&amp; </a:t>
            </a:r>
            <a:r>
              <a:rPr lang="en-US" sz="4050" b="1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Lanskap</a:t>
            </a:r>
            <a:r>
              <a:rPr lang="en-US" sz="4050" b="1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4050" b="1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Regulasi</a:t>
            </a:r>
            <a:r>
              <a:rPr lang="en-US" sz="4050" b="1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Ekonomi Digital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177" y="4359622"/>
            <a:ext cx="3976209" cy="481965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4" name="TextBox 4"/>
          <p:cNvSpPr txBox="1"/>
          <p:nvPr/>
        </p:nvSpPr>
        <p:spPr>
          <a:xfrm>
            <a:off x="915177" y="4359622"/>
            <a:ext cx="3973830" cy="862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>
                <a:solidFill>
                  <a:schemeClr val="l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Dr. Apik Anitasari Intan Saputri S.H.,M.H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3401" y="5017364"/>
            <a:ext cx="3976209" cy="481965"/>
            <a:chOff x="903401" y="5017364"/>
            <a:chExt cx="3976209" cy="481965"/>
          </a:xfrm>
        </p:grpSpPr>
        <p:sp>
          <p:nvSpPr>
            <p:cNvPr id="6" name="AutoShape 6"/>
            <p:cNvSpPr/>
            <p:nvPr/>
          </p:nvSpPr>
          <p:spPr>
            <a:xfrm>
              <a:off x="903401" y="5017364"/>
              <a:ext cx="3976209" cy="481965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100000"/>
              </a:schemeClr>
            </a:solidFill>
            <a:ln w="19050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401" y="5017364"/>
              <a:ext cx="3976209" cy="481965"/>
            </a:xfrm>
            <a:prstGeom prst="rect">
              <a:avLst/>
            </a:prstGeom>
            <a:ln/>
          </p:spPr>
          <p:txBody>
            <a:bodyPr vert="horz" wrap="square" lIns="91440" tIns="45720" rIns="91440" bIns="45720" rtlCol="0" anchor="t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1950">
                  <a:solidFill>
                    <a:schemeClr val="accent1">
                      <a:alpha val="100000"/>
                    </a:schemeClr>
                  </a:solidFill>
                  <a:latin typeface="Noto Sans SC"/>
                  <a:ea typeface="Noto Sans SC"/>
                  <a:cs typeface="Noto Sans SC"/>
                </a:rPr>
                <a:t>2026/2027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55" y="0"/>
            <a:ext cx="12175091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59422" y="442707"/>
            <a:ext cx="4716780" cy="977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2945" y="2061763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58270" y="2111297"/>
            <a:ext cx="5226203" cy="773513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Pengantar Hukum dalam Ekosistem Bisnis Digital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2945" y="3065785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8270" y="3111506"/>
            <a:ext cx="5226203" cy="758276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Manajemen Kepatuhan dan Risiko Hukum (Compliance &amp; Risk)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2945" y="4069806"/>
            <a:ext cx="571500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8270" y="4125052"/>
            <a:ext cx="5226203" cy="748751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Peta Jalan Regulasi Ekonomi Digital di Indonesia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2470" y="5054778"/>
            <a:ext cx="5619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8270" y="5110024"/>
            <a:ext cx="5226203" cy="747089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Etika Profesi dan Tanggung Jawab Hukum Technopreneur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574078"/>
            <a:ext cx="195579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17182" y="1972189"/>
            <a:ext cx="6643301" cy="221891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Pengantar Hukum dalam Ekosistem Bisnis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Definisi dan Kontrak Kuliah (RPS)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2534" r="32534"/>
          <a:stretch>
            <a:fillRect/>
          </a:stretch>
        </p:blipFill>
        <p:spPr>
          <a:xfrm>
            <a:off x="548374" y="1306384"/>
            <a:ext cx="2540518" cy="484945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340584" y="1688405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Rencana Pembelajaran Semester (RPS) dirancang untuk memberikan pemahaman komprehensif mengenai kerangka hukum yang mengatur transaksi elektronik, perlindungan data, dan hak kekayaan intelektual dalam ekonomi digital.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40584" y="1249667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Struktur Kurikulum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4188" y="3389806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Sistem evaluasi mencakup partisipasi aktif, analisis studi kasus hukum nyata, serta proyek akhir yang berfokus pada penyusunan dokumen hukum dasar bagi startup digital.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4188" y="2951068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Kriteria Penilaian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7792" y="5099311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Mahasiswa ditekankan untuk menjunjung tinggi integritas ilmiah, menghindari plagiarisme dalam riset hukum, dan memahami pentingnya kepatuhan regulasi sejak dalam tahap pendidikan.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7792" y="4660573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Etika Akademik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29756" r="29756"/>
          <a:stretch>
            <a:fillRect/>
          </a:stretch>
        </p:blipFill>
        <p:spPr>
          <a:xfrm>
            <a:off x="622446" y="1487175"/>
            <a:ext cx="2817673" cy="463705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429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Karakteristik Bisnis Digital vs Konvensional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3939321" y="1483603"/>
            <a:ext cx="0" cy="462952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AutoShape 5"/>
          <p:cNvSpPr/>
          <p:nvPr/>
        </p:nvSpPr>
        <p:spPr>
          <a:xfrm>
            <a:off x="3782159" y="1586749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3834546" y="1639137"/>
            <a:ext cx="209550" cy="2095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4186783" y="1844271"/>
            <a:ext cx="7494623" cy="11021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Bisnis digital mampu melakukan ekspansi pasar secara eksponensial dengan infrastruktur fisik yang minimal dibandingkan bisnis konvensional.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6783" y="1360960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Skalabilitas dan Kecepatan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6783" y="3488248"/>
            <a:ext cx="7494623" cy="109774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Mengandalkan platform perantara dan pengumpulan data besar (big data) untuk mempersonalisasi layanan bagi konsumen secara real-time.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86783" y="3000522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Model Interaksi Pengguna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86783" y="5151401"/>
            <a:ext cx="7494623" cy="11021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Memiliki biaya operasional tambahan yang sangat rendah untuk setiap unit layanan baru setelah infrastruktur teknologi utama terbentuk.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86783" y="4658564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Struktur Biaya Marginal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782159" y="3226311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834546" y="3278698"/>
            <a:ext cx="209550" cy="2095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3782159" y="4893879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834546" y="4946267"/>
            <a:ext cx="209550" cy="2095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4501" y="3329974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794501" y="5117778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Urgensi Literasi Hukum bagi Technopreneur</a:t>
            </a:r>
          </a:p>
        </p:txBody>
      </p:sp>
      <p:sp>
        <p:nvSpPr>
          <p:cNvPr id="5" name="AutoShape 5"/>
          <p:cNvSpPr/>
          <p:nvPr/>
        </p:nvSpPr>
        <p:spPr>
          <a:xfrm>
            <a:off x="794501" y="1589794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2068768" y="3634626"/>
            <a:ext cx="9355961" cy="110215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Memberikan fondasi kuat dalam mengamankan inovasi, merek, dan algoritma sebagai aset strategis perusahaan.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68768" y="3097764"/>
            <a:ext cx="7126614" cy="5826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Perlindungan kekayaan intelektual</a:t>
            </a:r>
          </a:p>
        </p:txBody>
      </p:sp>
      <p:sp>
        <p:nvSpPr>
          <p:cNvPr id="8" name="Freeform 8"/>
          <p:cNvSpPr/>
          <p:nvPr/>
        </p:nvSpPr>
        <p:spPr>
          <a:xfrm>
            <a:off x="1083690" y="1852261"/>
            <a:ext cx="427271" cy="42727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</a:path>
              <a:path w="304800" h="304800"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9" name="Freeform 9"/>
          <p:cNvSpPr/>
          <p:nvPr/>
        </p:nvSpPr>
        <p:spPr>
          <a:xfrm>
            <a:off x="1070766" y="3606239"/>
            <a:ext cx="453118" cy="45311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1078579" y="5401856"/>
            <a:ext cx="437493" cy="4374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w="304800" h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w="304800" h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w="304800" h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w="304800" h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w="304800" h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2068768" y="1867527"/>
            <a:ext cx="9355961" cy="110442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Memahami batasan hukum untuk meminimalkan potensi sengketa dan pelanggaran regulasi dalam menjalankan platform digital.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768" y="1330664"/>
            <a:ext cx="7126614" cy="5826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Mitigasi risiko operasional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8768" y="5332100"/>
            <a:ext cx="9355961" cy="1112888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Menunjukkan kepatuhan tata kelola yang baik guna menarik pendanaan dan membangun kredibilitas di mata pemangku kepentingan.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8768" y="4813719"/>
            <a:ext cx="7126614" cy="5826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Peningkatan kepercayaan investor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574078"/>
            <a:ext cx="195579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17182" y="1972189"/>
            <a:ext cx="6643301" cy="221891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3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Manajemen Kepatuhan dan Risiko Hukum (Compliance &amp; Risk)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3732" y="1351927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Pelaku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bisnis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wajib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memastikan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bahwa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seluruh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sistem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elektronik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mulai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dari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penyimpanan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data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hingga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mekanisme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transaksi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mematuhi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standar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teknis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hukum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yang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ditetapkan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oleh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otoritas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seperti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Kominfo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dan Bank Indonesia.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33505" r="33505"/>
          <a:stretch>
            <a:fillRect/>
          </a:stretch>
        </p:blipFill>
        <p:spPr>
          <a:xfrm>
            <a:off x="8969009" y="1328023"/>
            <a:ext cx="2420771" cy="488892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6250" y="12901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Prinsip</a:t>
            </a: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Kepatuhan</a:t>
            </a: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Regulasi</a:t>
            </a: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(Compliance)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8742" y="1013148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Standarisasi</a:t>
            </a: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operasional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3531" y="3250140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Perusahaan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harus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mampu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menyelaraskan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prosedur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internal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mereka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dengan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regulasi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nasional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serta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standar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internasional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(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seperti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GDPR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jika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melayani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pengguna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global)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untuk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menghindari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sanksi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administratif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menjaga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kredibilitas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di pasar.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3531" y="2993543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Harmonisasi</a:t>
            </a: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hukum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36049" y="5441431"/>
            <a:ext cx="8109936" cy="115124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Melakukan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evaluasi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rutin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terhadap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kepatuhan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operasional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secara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proaktif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guna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mendeteksi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adanya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celah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hukum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sebelum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menjadi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masalah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formal yang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dapat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menghambat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keberlangsungan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bisnis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7335" y="4985832"/>
            <a:ext cx="7146070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Audit </a:t>
            </a: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berkala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022" y="1548895"/>
            <a:ext cx="60960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  <a:spcBef>
                <a:spcPts val="450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Pelanggaran privasi data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0022" y="2035241"/>
            <a:ext cx="10882612" cy="8523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Risiko kebocoran informasi pribadi konsumen dan ketidakpatuhan terhadap regulasi perlindungan data pribadi yang berlaku.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0022" y="3199129"/>
            <a:ext cx="60960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  <a:spcBef>
                <a:spcPts val="450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Ketidakpastian regulasi operasional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022" y="3685475"/>
            <a:ext cx="10855050" cy="8523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Risiko munculnya peraturan baru yang dapat membatasi model bisnis digital atau mengubah struktur biaya operasional secara signifikan.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0022" y="4849362"/>
            <a:ext cx="60960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  <a:spcBef>
                <a:spcPts val="450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Pelanggaran hak kekayaan intelektual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0022" y="5335709"/>
            <a:ext cx="10827488" cy="8523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Risiko penggunaan tanpa izin atas merek dagang, hak cipta perangkat lunak, atau teknologi pihak ketiga dalam ekosistem digital.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Identifikasi Risiko Hukum dalam Bisnis Digital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40645" y="1641772"/>
            <a:ext cx="1049655" cy="979170"/>
          </a:xfrm>
          <a:prstGeom prst="downArrow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707332" y="1785885"/>
            <a:ext cx="716280" cy="691515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25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  <a:p>
            <a:pPr algn="ctr">
              <a:lnSpc>
                <a:spcPct val="130000"/>
              </a:lnSpc>
            </a:pPr>
            <a:endParaRPr lang="en-US" sz="2025">
              <a:solidFill>
                <a:srgbClr val="FFFDFD">
                  <a:alpha val="100000"/>
                </a:srgb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815769" y="1445091"/>
            <a:ext cx="7852817" cy="6186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Implementasi Good Corporate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5769" y="2040792"/>
            <a:ext cx="7869353" cy="902129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Memastikan struktur tata kelola perusahaan yang transparan untuk meminimalkan penyalahgunaan wewenang dan konflik kepentingan.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5769" y="3143851"/>
            <a:ext cx="7852817" cy="563658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Audit Kepatuhan Regulasi Berkala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5769" y="3684559"/>
            <a:ext cx="7869555" cy="902129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Melakukan peninjauan rutin terhadap kepatuhan operasional guna menyesuaikan diri dengan perubahan hukum dan regulasi ekonomi digital yang dinamis.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99031" y="4717412"/>
            <a:ext cx="7869555" cy="691975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Perlindungan Kekayaan Intelektual dan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99031" y="5386437"/>
            <a:ext cx="7869555" cy="902129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Menyusun protokol perlindungan aset intelektual serta enkripsi data pengguna untuk mencegah kebocoran informasi dan konsekuensi hukum terkait.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Strategi Mitigasi Risiko bagi Startup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540645" y="3341211"/>
            <a:ext cx="1049655" cy="979170"/>
          </a:xfrm>
          <a:prstGeom prst="downArrow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TextBox 12"/>
          <p:cNvSpPr txBox="1"/>
          <p:nvPr/>
        </p:nvSpPr>
        <p:spPr>
          <a:xfrm>
            <a:off x="1707332" y="3485324"/>
            <a:ext cx="716280" cy="691515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25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  <a:p>
            <a:pPr algn="ctr">
              <a:lnSpc>
                <a:spcPct val="130000"/>
              </a:lnSpc>
            </a:pPr>
            <a:endParaRPr lang="en-US" sz="2025">
              <a:solidFill>
                <a:srgbClr val="FFFDFD">
                  <a:alpha val="100000"/>
                </a:srgb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540645" y="5027093"/>
            <a:ext cx="1049655" cy="979170"/>
          </a:xfrm>
          <a:prstGeom prst="downArrow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1707332" y="5171206"/>
            <a:ext cx="716280" cy="691515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25">
                <a:solidFill>
                  <a:srgbClr val="FF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  <a:p>
            <a:pPr algn="ctr">
              <a:lnSpc>
                <a:spcPct val="130000"/>
              </a:lnSpc>
            </a:pPr>
            <a:endParaRPr lang="en-US" sz="2025">
              <a:solidFill>
                <a:srgbClr val="FFFDFD">
                  <a:alpha val="100000"/>
                </a:srgbClr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574078"/>
            <a:ext cx="195579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17182" y="1972189"/>
            <a:ext cx="6643301" cy="221891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405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Peta Jalan Regulasi Ekonomi Digital di Indonesia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UU ITE dan Regulasi Transaksi Elektronik</a:t>
            </a:r>
          </a:p>
        </p:txBody>
      </p:sp>
      <p:sp>
        <p:nvSpPr>
          <p:cNvPr id="3" name="AutoShape 3"/>
          <p:cNvSpPr/>
          <p:nvPr/>
        </p:nvSpPr>
        <p:spPr>
          <a:xfrm>
            <a:off x="537512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1300882" y="1463721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Payung hukum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0882" y="1998589"/>
            <a:ext cx="6891292" cy="10836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UU Informasi dan Transaksi Elektronik berfungsi sebagai fondasi utama yang memberikan legalitas pada dokumen elektronik dan tanda tangan digital dalam transaksi bisnis.</a:t>
            </a:r>
          </a:p>
        </p:txBody>
      </p:sp>
      <p:sp>
        <p:nvSpPr>
          <p:cNvPr id="6" name="AutoShape 6"/>
          <p:cNvSpPr/>
          <p:nvPr/>
        </p:nvSpPr>
        <p:spPr>
          <a:xfrm>
            <a:off x="537512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1300882" y="3182098"/>
            <a:ext cx="6886575" cy="769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Penegakan konten</a:t>
            </a:r>
          </a:p>
        </p:txBody>
      </p:sp>
      <p:sp>
        <p:nvSpPr>
          <p:cNvPr id="8" name="AutoShape 8"/>
          <p:cNvSpPr/>
          <p:nvPr/>
        </p:nvSpPr>
        <p:spPr>
          <a:xfrm>
            <a:off x="537512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1300882" y="4920230"/>
            <a:ext cx="6886575" cy="7341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Penyelenggaraan sistem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0882" y="3741456"/>
            <a:ext cx="6891292" cy="107443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Regulasi ini mengatur larangan penyebaran informasi palsu (hoaks) serta konten ilegal secara sengaja, yang bertujuan untuk menjaga integritas informasi di ruang siber Indonesia.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882" y="5424019"/>
            <a:ext cx="8027798" cy="10929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Setiap agen atau operator bisnis digital wajib memastikan keandalan sistem elektronik yang digunakan guna menjamin keamanan pengguna selama berinteraksi di platform mereka.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/>
          </a:blip>
          <a:srcRect l="16667" r="16667"/>
          <a:stretch>
            <a:fillRect/>
          </a:stretch>
        </p:blipFill>
        <p:spPr>
          <a:xfrm>
            <a:off x="8604472" y="1741145"/>
            <a:ext cx="4421505" cy="4421505"/>
          </a:xfrm>
          <a:prstGeom prst="ellipse">
            <a:avLst/>
          </a:prstGeom>
        </p:spPr>
      </p:pic>
      <p:cxnSp>
        <p:nvCxnSpPr>
          <p:cNvPr id="13" name="Connector 13"/>
          <p:cNvCxnSpPr/>
          <p:nvPr/>
        </p:nvCxnSpPr>
        <p:spPr>
          <a:xfrm>
            <a:off x="856577" y="2403263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nector 14"/>
          <p:cNvCxnSpPr/>
          <p:nvPr/>
        </p:nvCxnSpPr>
        <p:spPr>
          <a:xfrm>
            <a:off x="856577" y="4124852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5"/>
          <p:cNvSpPr txBox="1"/>
          <p:nvPr/>
        </p:nvSpPr>
        <p:spPr>
          <a:xfrm>
            <a:off x="688937" y="1685237"/>
            <a:ext cx="335280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8925" y="3405562"/>
            <a:ext cx="535305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925" y="5125887"/>
            <a:ext cx="535305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Pelindungan Data Pribadi (UU PDP) dan Privasi</a:t>
            </a:r>
          </a:p>
        </p:txBody>
      </p:sp>
      <p:sp>
        <p:nvSpPr>
          <p:cNvPr id="3" name="AutoShape 3"/>
          <p:cNvSpPr/>
          <p:nvPr/>
        </p:nvSpPr>
        <p:spPr>
          <a:xfrm>
            <a:off x="974058" y="1246531"/>
            <a:ext cx="10286584" cy="168041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rot="1800000">
            <a:off x="569611" y="1606273"/>
            <a:ext cx="808893" cy="701803"/>
          </a:xfrm>
          <a:prstGeom prst="hexagon">
            <a:avLst>
              <a:gd name="adj" fmla="val 28663"/>
              <a:gd name="vf" fmla="val 11547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44528" y="1626422"/>
            <a:ext cx="1059059" cy="661505"/>
          </a:xfrm>
          <a:prstGeom prst="rect">
            <a:avLst/>
          </a:prstGeom>
          <a:noFill/>
          <a:ln/>
        </p:spPr>
        <p:txBody>
          <a:bodyPr vert="horz" wrap="square" lIns="95250" tIns="47625" rIns="95250" bIns="47625" rtlCol="0" anchor="ctr" anchorCtr="1">
            <a:noAutofit/>
          </a:bodyPr>
          <a:lstStyle/>
          <a:p>
            <a:pPr algn="ctr"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764307" y="1768865"/>
            <a:ext cx="9193296" cy="1062967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Memastikan pemrosesan data pribadi dilakukan sesuai dengan dasar hukum yang sah dan transparan bagi subjek data.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60497" y="1366658"/>
            <a:ext cx="6534537" cy="3429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Kepatuhan Tata Kelola Data</a:t>
            </a:r>
          </a:p>
        </p:txBody>
      </p:sp>
      <p:sp>
        <p:nvSpPr>
          <p:cNvPr id="8" name="AutoShape 8"/>
          <p:cNvSpPr/>
          <p:nvPr/>
        </p:nvSpPr>
        <p:spPr>
          <a:xfrm>
            <a:off x="1255826" y="3051285"/>
            <a:ext cx="10286584" cy="168041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1800000">
            <a:off x="851379" y="3411028"/>
            <a:ext cx="808893" cy="701803"/>
          </a:xfrm>
          <a:prstGeom prst="hexagon">
            <a:avLst>
              <a:gd name="adj" fmla="val 28663"/>
              <a:gd name="vf" fmla="val 11547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726296" y="3431176"/>
            <a:ext cx="1059059" cy="661505"/>
          </a:xfrm>
          <a:prstGeom prst="rect">
            <a:avLst/>
          </a:prstGeom>
          <a:noFill/>
          <a:ln/>
        </p:spPr>
        <p:txBody>
          <a:bodyPr vert="horz" wrap="square" lIns="95250" tIns="47625" rIns="95250" bIns="47625" rtlCol="0" anchor="ctr" anchorCtr="1">
            <a:noAutofit/>
          </a:bodyPr>
          <a:lstStyle/>
          <a:p>
            <a:pPr algn="ctr"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2046075" y="3573620"/>
            <a:ext cx="9193296" cy="1062967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Menjamin pemenuhan hak individu untuk mengakses, memperbaiki, dan menghapus data pribadi mereka guna melindungi privasi di platform digital.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2265" y="3171413"/>
            <a:ext cx="6534537" cy="3429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Hak Subjek Data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547403" y="4876796"/>
            <a:ext cx="10286584" cy="168041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800000">
            <a:off x="1142957" y="5236539"/>
            <a:ext cx="808893" cy="701803"/>
          </a:xfrm>
          <a:prstGeom prst="hexagon">
            <a:avLst>
              <a:gd name="adj" fmla="val 28663"/>
              <a:gd name="vf" fmla="val 11547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1017873" y="5256687"/>
            <a:ext cx="1059059" cy="661505"/>
          </a:xfrm>
          <a:prstGeom prst="rect">
            <a:avLst/>
          </a:prstGeom>
          <a:noFill/>
          <a:ln/>
        </p:spPr>
        <p:txBody>
          <a:bodyPr vert="horz" wrap="square" lIns="95250" tIns="47625" rIns="95250" bIns="47625" rtlCol="0" anchor="ctr" anchorCtr="1">
            <a:noAutofit/>
          </a:bodyPr>
          <a:lstStyle/>
          <a:p>
            <a:pPr algn="ctr"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2337652" y="5399131"/>
            <a:ext cx="9193296" cy="1062967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Menetapkan standar keamanan teknis dan organisasional yang ketat untuk mencegah kebocoran data serta memitigasi risiko hukum.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33842" y="4996923"/>
            <a:ext cx="6534537" cy="3429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Kewajiban Pengendali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4316" y="3045252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100000">
                <a:schemeClr val="lt2">
                  <a:alpha val="100000"/>
                </a:schemeClr>
              </a:gs>
              <a:gs pos="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3" name="AutoShape 3"/>
          <p:cNvSpPr/>
          <p:nvPr/>
        </p:nvSpPr>
        <p:spPr>
          <a:xfrm>
            <a:off x="1374316" y="4823279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4" name="AutoShape 4"/>
          <p:cNvSpPr/>
          <p:nvPr/>
        </p:nvSpPr>
        <p:spPr>
          <a:xfrm>
            <a:off x="1374316" y="1267225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5" name="AutoShape 5"/>
          <p:cNvSpPr/>
          <p:nvPr/>
        </p:nvSpPr>
        <p:spPr>
          <a:xfrm>
            <a:off x="987242" y="5246342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Freeform 6"/>
          <p:cNvSpPr/>
          <p:nvPr/>
        </p:nvSpPr>
        <p:spPr>
          <a:xfrm>
            <a:off x="1115389" y="5374489"/>
            <a:ext cx="553940" cy="55394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033" y="152400"/>
                </a:moveTo>
                <a:cubicBezTo>
                  <a:pt x="190033" y="90992"/>
                  <a:pt x="221771" y="56493"/>
                  <a:pt x="221771" y="56493"/>
                </a:cubicBezTo>
                <a:cubicBezTo>
                  <a:pt x="221771" y="56493"/>
                  <a:pt x="193758" y="33766"/>
                  <a:pt x="151924" y="33766"/>
                </a:cubicBezTo>
                <a:cubicBezTo>
                  <a:pt x="110090" y="33766"/>
                  <a:pt x="82067" y="56512"/>
                  <a:pt x="82067" y="56512"/>
                </a:cubicBezTo>
                <a:cubicBezTo>
                  <a:pt x="82067" y="56512"/>
                  <a:pt x="114376" y="82753"/>
                  <a:pt x="114376" y="152400"/>
                </a:cubicBezTo>
                <a:cubicBezTo>
                  <a:pt x="114376" y="219608"/>
                  <a:pt x="81858" y="248145"/>
                  <a:pt x="81858" y="248145"/>
                </a:cubicBezTo>
                <a:cubicBezTo>
                  <a:pt x="81858" y="248145"/>
                  <a:pt x="115662" y="271034"/>
                  <a:pt x="151924" y="271034"/>
                </a:cubicBezTo>
                <a:cubicBezTo>
                  <a:pt x="189043" y="271034"/>
                  <a:pt x="221799" y="248269"/>
                  <a:pt x="221799" y="248269"/>
                </a:cubicBezTo>
                <a:cubicBezTo>
                  <a:pt x="221799" y="248269"/>
                  <a:pt x="190033" y="218503"/>
                  <a:pt x="190033" y="152400"/>
                </a:cubicBezTo>
                <a:close/>
              </a:path>
              <a:path w="304800" h="304800">
                <a:moveTo>
                  <a:pt x="74095" y="62789"/>
                </a:moveTo>
                <a:cubicBezTo>
                  <a:pt x="74095" y="62789"/>
                  <a:pt x="34633" y="86839"/>
                  <a:pt x="34633" y="152800"/>
                </a:cubicBezTo>
                <a:cubicBezTo>
                  <a:pt x="34633" y="218751"/>
                  <a:pt x="74533" y="240335"/>
                  <a:pt x="74533" y="240335"/>
                </a:cubicBezTo>
                <a:cubicBezTo>
                  <a:pt x="74533" y="240335"/>
                  <a:pt x="103613" y="218742"/>
                  <a:pt x="103613" y="152800"/>
                </a:cubicBezTo>
                <a:cubicBezTo>
                  <a:pt x="103613" y="86839"/>
                  <a:pt x="74095" y="62789"/>
                  <a:pt x="74095" y="62789"/>
                </a:cubicBezTo>
                <a:close/>
              </a:path>
              <a:path w="304800" h="304800">
                <a:moveTo>
                  <a:pt x="229753" y="64570"/>
                </a:moveTo>
                <a:cubicBezTo>
                  <a:pt x="229753" y="64570"/>
                  <a:pt x="200244" y="86839"/>
                  <a:pt x="200244" y="152800"/>
                </a:cubicBezTo>
                <a:cubicBezTo>
                  <a:pt x="200244" y="218751"/>
                  <a:pt x="229305" y="240335"/>
                  <a:pt x="229305" y="240335"/>
                </a:cubicBezTo>
                <a:cubicBezTo>
                  <a:pt x="229305" y="240335"/>
                  <a:pt x="270158" y="218742"/>
                  <a:pt x="270158" y="152800"/>
                </a:cubicBezTo>
                <a:cubicBezTo>
                  <a:pt x="270158" y="86839"/>
                  <a:pt x="229753" y="64570"/>
                  <a:pt x="229753" y="6457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10373288" y="3468315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987242" y="1690288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Freeform 9"/>
          <p:cNvSpPr/>
          <p:nvPr/>
        </p:nvSpPr>
        <p:spPr>
          <a:xfrm>
            <a:off x="1171659" y="1892749"/>
            <a:ext cx="405314" cy="40531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3841" y="122930"/>
                </a:moveTo>
                <a:cubicBezTo>
                  <a:pt x="179718" y="102937"/>
                  <a:pt x="177232" y="81020"/>
                  <a:pt x="166392" y="62665"/>
                </a:cubicBezTo>
                <a:cubicBezTo>
                  <a:pt x="166630" y="62998"/>
                  <a:pt x="62770" y="167697"/>
                  <a:pt x="62027" y="167040"/>
                </a:cubicBezTo>
                <a:cubicBezTo>
                  <a:pt x="80077" y="177698"/>
                  <a:pt x="101994" y="180699"/>
                  <a:pt x="121720" y="175193"/>
                </a:cubicBezTo>
                <a:cubicBezTo>
                  <a:pt x="121577" y="174689"/>
                  <a:pt x="173422" y="122853"/>
                  <a:pt x="173841" y="122930"/>
                </a:cubicBezTo>
                <a:close/>
              </a:path>
              <a:path w="304800" h="304800">
                <a:moveTo>
                  <a:pt x="155315" y="45968"/>
                </a:moveTo>
                <a:cubicBezTo>
                  <a:pt x="141322" y="32175"/>
                  <a:pt x="121301" y="22822"/>
                  <a:pt x="100127" y="22822"/>
                </a:cubicBezTo>
                <a:cubicBezTo>
                  <a:pt x="57331" y="22822"/>
                  <a:pt x="22631" y="57607"/>
                  <a:pt x="22631" y="100508"/>
                </a:cubicBezTo>
                <a:cubicBezTo>
                  <a:pt x="22631" y="121444"/>
                  <a:pt x="32156" y="141713"/>
                  <a:pt x="45587" y="155686"/>
                </a:cubicBezTo>
                <a:cubicBezTo>
                  <a:pt x="45615" y="155686"/>
                  <a:pt x="154657" y="46863"/>
                  <a:pt x="155315" y="45968"/>
                </a:cubicBezTo>
                <a:close/>
              </a:path>
              <a:path w="304800" h="304800">
                <a:moveTo>
                  <a:pt x="264909" y="252089"/>
                </a:moveTo>
                <a:cubicBezTo>
                  <a:pt x="264909" y="252089"/>
                  <a:pt x="267443" y="230200"/>
                  <a:pt x="261128" y="223885"/>
                </a:cubicBezTo>
                <a:cubicBezTo>
                  <a:pt x="260709" y="223466"/>
                  <a:pt x="188300" y="135065"/>
                  <a:pt x="188300" y="135065"/>
                </a:cubicBezTo>
                <a:lnTo>
                  <a:pt x="134417" y="188947"/>
                </a:lnTo>
                <a:lnTo>
                  <a:pt x="222818" y="262185"/>
                </a:lnTo>
                <a:cubicBezTo>
                  <a:pt x="228714" y="268919"/>
                  <a:pt x="251441" y="265557"/>
                  <a:pt x="251441" y="265557"/>
                </a:cubicBezTo>
                <a:lnTo>
                  <a:pt x="269538" y="281978"/>
                </a:lnTo>
                <a:lnTo>
                  <a:pt x="282169" y="269348"/>
                </a:lnTo>
                <a:lnTo>
                  <a:pt x="264909" y="252089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10569897" y="3661311"/>
            <a:ext cx="424244" cy="42424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106680"/>
                </a:moveTo>
                <a:lnTo>
                  <a:pt x="189586" y="139598"/>
                </a:lnTo>
                <a:cubicBezTo>
                  <a:pt x="194310" y="146761"/>
                  <a:pt x="204978" y="152400"/>
                  <a:pt x="213512" y="152400"/>
                </a:cubicBezTo>
                <a:lnTo>
                  <a:pt x="259080" y="152400"/>
                </a:lnTo>
                <a:lnTo>
                  <a:pt x="259080" y="121920"/>
                </a:lnTo>
                <a:lnTo>
                  <a:pt x="213360" y="121920"/>
                </a:lnTo>
                <a:lnTo>
                  <a:pt x="191414" y="89002"/>
                </a:lnTo>
                <a:cubicBezTo>
                  <a:pt x="185452" y="80686"/>
                  <a:pt x="178394" y="73628"/>
                  <a:pt x="170345" y="67847"/>
                </a:cubicBezTo>
                <a:lnTo>
                  <a:pt x="170069" y="67666"/>
                </a:lnTo>
                <a:lnTo>
                  <a:pt x="149952" y="54254"/>
                </a:lnTo>
                <a:cubicBezTo>
                  <a:pt x="146104" y="51911"/>
                  <a:pt x="141446" y="50521"/>
                  <a:pt x="136465" y="50521"/>
                </a:cubicBezTo>
                <a:cubicBezTo>
                  <a:pt x="131912" y="50521"/>
                  <a:pt x="127635" y="51683"/>
                  <a:pt x="123911" y="53721"/>
                </a:cubicBezTo>
                <a:lnTo>
                  <a:pt x="124044" y="53654"/>
                </a:lnTo>
                <a:lnTo>
                  <a:pt x="60950" y="91450"/>
                </a:lnTo>
                <a:lnTo>
                  <a:pt x="60950" y="167650"/>
                </a:lnTo>
                <a:lnTo>
                  <a:pt x="91430" y="167650"/>
                </a:lnTo>
                <a:lnTo>
                  <a:pt x="91430" y="106690"/>
                </a:lnTo>
                <a:lnTo>
                  <a:pt x="121910" y="91450"/>
                </a:lnTo>
                <a:lnTo>
                  <a:pt x="76190" y="304810"/>
                </a:lnTo>
                <a:lnTo>
                  <a:pt x="106670" y="304810"/>
                </a:lnTo>
                <a:lnTo>
                  <a:pt x="142484" y="188224"/>
                </a:lnTo>
                <a:lnTo>
                  <a:pt x="167630" y="213370"/>
                </a:lnTo>
                <a:lnTo>
                  <a:pt x="167630" y="304810"/>
                </a:lnTo>
                <a:lnTo>
                  <a:pt x="198110" y="304810"/>
                </a:lnTo>
                <a:lnTo>
                  <a:pt x="198110" y="182890"/>
                </a:lnTo>
                <a:lnTo>
                  <a:pt x="156962" y="141742"/>
                </a:lnTo>
                <a:lnTo>
                  <a:pt x="167630" y="106690"/>
                </a:lnTo>
                <a:close/>
              </a:path>
              <a:path w="304800" h="304800">
                <a:moveTo>
                  <a:pt x="182880" y="60960"/>
                </a:moveTo>
                <a:cubicBezTo>
                  <a:pt x="199711" y="60960"/>
                  <a:pt x="213360" y="47311"/>
                  <a:pt x="213360" y="30480"/>
                </a:cubicBezTo>
                <a:cubicBezTo>
                  <a:pt x="213360" y="13649"/>
                  <a:pt x="199711" y="0"/>
                  <a:pt x="182880" y="0"/>
                </a:cubicBezTo>
                <a:lnTo>
                  <a:pt x="182880" y="0"/>
                </a:lnTo>
                <a:cubicBezTo>
                  <a:pt x="166049" y="0"/>
                  <a:pt x="152400" y="13649"/>
                  <a:pt x="152400" y="30480"/>
                </a:cubicBezTo>
                <a:cubicBezTo>
                  <a:pt x="152400" y="47311"/>
                  <a:pt x="166049" y="60960"/>
                  <a:pt x="182880" y="60960"/>
                </a:cubicBezTo>
                <a:lnTo>
                  <a:pt x="182880" y="6096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Regulasi PMSE dan Hak Kekayaan Intelektual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1384" y="1272759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Perlindungan</a:t>
            </a: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Konsumen</a:t>
            </a: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Digital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047" y="1766316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Mewajibkan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penyelenggara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sarana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perdagangan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melalui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sistem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elektronik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untuk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menyediakan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mekanisme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pengaduan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resolusi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sengketa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yang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efektif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7932" y="3143250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Kepatuhan</a:t>
            </a: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Lisensi</a:t>
            </a: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HKI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1680" y="3688123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Mendorong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platform e-commerce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untuk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memvalidasi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keaslian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produk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guna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mencegah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pelanggaran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hak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cipta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dan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merek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800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dagang</a:t>
            </a:r>
            <a:r>
              <a:rPr lang="en-US" sz="1800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di pasar digital.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1680" y="4882435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Harmonisasi Regulasi Sektoral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1680" y="5340777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Menyelaraskan ketentuan Peraturan Pemerintah tentang perdagangan elektronik dengan undang-undang perlindungan data pribadi dan kekayaan intelektual.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574078"/>
            <a:ext cx="195579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17182" y="1972189"/>
            <a:ext cx="6643301" cy="221891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9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Etika Profesi dan Tanggung Jawab Hukum Technopreneur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3829" y="1569374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678104" y="1880144"/>
            <a:ext cx="10937202" cy="104041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Pengembangan teknologi dan kecerdasan buatan (AI) harus menghindari bias sistemik untuk memastikan perlakuan yang adil bagi semua pengguna tanpa diskriminasi.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4345" y="1415196"/>
            <a:ext cx="4078642" cy="53887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Keadilan Algoritma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04" y="3609741"/>
            <a:ext cx="11037419" cy="101328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Pelaku usaha wajib menjaga integritas pasar dengan menghindari praktik monopoli atau penyalahgunaan posisi dominan yang dapat mematikan inovasi kompetitor kecil.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345" y="3160943"/>
            <a:ext cx="4078642" cy="49753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Persaingan Sehat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8104" y="5346136"/>
            <a:ext cx="11037419" cy="10732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Perusahaan harus memberikan informasi yang jelas mengenai cara kerja teknologi yang mereka tawarkan, terutama terkait fitur yang dapat memengaruhi pengambilan keputusan konsumen secara signifikan.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345" y="4927239"/>
            <a:ext cx="4078642" cy="49753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Transparansi Inovasi</a:t>
            </a:r>
          </a:p>
        </p:txBody>
      </p:sp>
      <p:sp>
        <p:nvSpPr>
          <p:cNvPr id="9" name="AutoShape 9"/>
          <p:cNvSpPr/>
          <p:nvPr/>
        </p:nvSpPr>
        <p:spPr>
          <a:xfrm>
            <a:off x="763829" y="3294450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763829" y="5060746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429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Etika Bisnis dalam Inovasi Teknologi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Tanggung Jawab Hukum Penyelenggara Sistem Elektronik (PSE)</a:t>
            </a:r>
          </a:p>
        </p:txBody>
      </p:sp>
      <p:sp>
        <p:nvSpPr>
          <p:cNvPr id="3" name="AutoShape 3"/>
          <p:cNvSpPr/>
          <p:nvPr/>
        </p:nvSpPr>
        <p:spPr>
          <a:xfrm>
            <a:off x="1631112" y="3659751"/>
            <a:ext cx="9794053" cy="938177"/>
          </a:xfrm>
          <a:prstGeom prst="roundRect">
            <a:avLst>
              <a:gd name="adj" fmla="val 1419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3432606" y="4277173"/>
            <a:ext cx="8425779" cy="19050"/>
          </a:xfrm>
          <a:prstGeom prst="rect">
            <a:avLst/>
          </a:prstGeom>
          <a:noFill/>
          <a:ln/>
        </p:spPr>
      </p:sp>
      <p:sp>
        <p:nvSpPr>
          <p:cNvPr id="5" name="AutoShape 5"/>
          <p:cNvSpPr/>
          <p:nvPr/>
        </p:nvSpPr>
        <p:spPr>
          <a:xfrm>
            <a:off x="1869237" y="3190273"/>
            <a:ext cx="4575619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l">
              <a:defRPr/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Kepatuhan sistem operasional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69237" y="3659751"/>
            <a:ext cx="7580348" cy="735736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Memastikan seluruh sistem elektronik beroperasi sesuai dengan standar teknis dan prosedur yang ditetapkan pemerintah.</a:t>
            </a:r>
          </a:p>
        </p:txBody>
      </p:sp>
      <p:sp>
        <p:nvSpPr>
          <p:cNvPr id="7" name="AutoShape 7"/>
          <p:cNvSpPr/>
          <p:nvPr/>
        </p:nvSpPr>
        <p:spPr>
          <a:xfrm>
            <a:off x="689680" y="5302272"/>
            <a:ext cx="9794053" cy="938177"/>
          </a:xfrm>
          <a:prstGeom prst="roundRect">
            <a:avLst>
              <a:gd name="adj" fmla="val 1419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2491174" y="5919694"/>
            <a:ext cx="8425779" cy="19050"/>
          </a:xfrm>
          <a:prstGeom prst="rect">
            <a:avLst/>
          </a:prstGeom>
          <a:noFill/>
          <a:ln/>
        </p:spPr>
      </p:sp>
      <p:grpSp>
        <p:nvGrpSpPr>
          <p:cNvPr id="9" name="Group 9"/>
          <p:cNvGrpSpPr/>
          <p:nvPr/>
        </p:nvGrpSpPr>
        <p:grpSpPr>
          <a:xfrm>
            <a:off x="689680" y="4909711"/>
            <a:ext cx="2015694" cy="931500"/>
            <a:chOff x="689680" y="4909711"/>
            <a:chExt cx="2015694" cy="931500"/>
          </a:xfrm>
        </p:grpSpPr>
        <p:sp>
          <p:nvSpPr>
            <p:cNvPr id="10" name="AutoShape 10"/>
            <p:cNvSpPr/>
            <p:nvPr/>
          </p:nvSpPr>
          <p:spPr>
            <a:xfrm>
              <a:off x="689680" y="4909711"/>
              <a:ext cx="1357328" cy="931500"/>
            </a:xfrm>
            <a:prstGeom prst="roundRect">
              <a:avLst>
                <a:gd name="adj" fmla="val 13809"/>
              </a:avLst>
            </a:prstGeom>
            <a:solidFill>
              <a:schemeClr val="accent3">
                <a:alpha val="100000"/>
                <a:lumMod val="75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4050">
                  <a:solidFill>
                    <a:srgbClr val="FFFFFF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03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 rot="5400000">
              <a:off x="1823857" y="5116783"/>
              <a:ext cx="881517" cy="518978"/>
            </a:xfrm>
            <a:prstGeom prst="triangle">
              <a:avLst>
                <a:gd name="adj" fmla="val 50000"/>
              </a:avLst>
            </a:prstGeom>
            <a:solidFill>
              <a:schemeClr val="accent3">
                <a:alpha val="100000"/>
                <a:lumMod val="75000"/>
              </a:schemeClr>
            </a:solidFill>
            <a:ln/>
          </p:spPr>
        </p:sp>
      </p:grpSp>
      <p:sp>
        <p:nvSpPr>
          <p:cNvPr id="12" name="AutoShape 12"/>
          <p:cNvSpPr/>
          <p:nvPr/>
        </p:nvSpPr>
        <p:spPr>
          <a:xfrm>
            <a:off x="2686088" y="4832794"/>
            <a:ext cx="4415933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l">
              <a:defRPr/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Moderasi konten digital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2654682" y="5403492"/>
            <a:ext cx="7580348" cy="735736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Bertanggung jawab atas pengawasan dan penghapusan konten ilegal yang melanggar ketentuan hukum di platform mereka.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11314" y="3267190"/>
            <a:ext cx="2013852" cy="931500"/>
            <a:chOff x="9411314" y="3267190"/>
            <a:chExt cx="2013852" cy="931500"/>
          </a:xfrm>
        </p:grpSpPr>
        <p:sp>
          <p:nvSpPr>
            <p:cNvPr id="15" name="AutoShape 15"/>
            <p:cNvSpPr/>
            <p:nvPr/>
          </p:nvSpPr>
          <p:spPr>
            <a:xfrm>
              <a:off x="10067838" y="3267190"/>
              <a:ext cx="1357328" cy="931500"/>
            </a:xfrm>
            <a:prstGeom prst="roundRect">
              <a:avLst>
                <a:gd name="adj" fmla="val 13809"/>
              </a:avLst>
            </a:prstGeom>
            <a:solidFill>
              <a:schemeClr val="accent2">
                <a:alpha val="100000"/>
                <a:lumMod val="75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4050">
                  <a:solidFill>
                    <a:srgbClr val="FFFFFF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02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 rot="5400000" flipH="1" flipV="1">
              <a:off x="9411314" y="3474262"/>
              <a:ext cx="881517" cy="518978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alpha val="100000"/>
                <a:lumMod val="75000"/>
              </a:schemeClr>
            </a:solidFill>
            <a:ln/>
          </p:spPr>
        </p:sp>
      </p:grpSp>
      <p:sp>
        <p:nvSpPr>
          <p:cNvPr id="17" name="AutoShape 17"/>
          <p:cNvSpPr/>
          <p:nvPr/>
        </p:nvSpPr>
        <p:spPr>
          <a:xfrm>
            <a:off x="689680" y="1836673"/>
            <a:ext cx="9794053" cy="938177"/>
          </a:xfrm>
          <a:prstGeom prst="roundRect">
            <a:avLst>
              <a:gd name="adj" fmla="val 1419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2491174" y="2454095"/>
            <a:ext cx="8425779" cy="19050"/>
          </a:xfrm>
          <a:prstGeom prst="rect">
            <a:avLst/>
          </a:prstGeom>
          <a:noFill/>
          <a:ln/>
        </p:spPr>
      </p:sp>
      <p:grpSp>
        <p:nvGrpSpPr>
          <p:cNvPr id="19" name="Group 19"/>
          <p:cNvGrpSpPr/>
          <p:nvPr/>
        </p:nvGrpSpPr>
        <p:grpSpPr>
          <a:xfrm>
            <a:off x="689680" y="1444112"/>
            <a:ext cx="2015694" cy="931500"/>
            <a:chOff x="689680" y="1444112"/>
            <a:chExt cx="2015694" cy="931500"/>
          </a:xfrm>
        </p:grpSpPr>
        <p:sp>
          <p:nvSpPr>
            <p:cNvPr id="20" name="AutoShape 20"/>
            <p:cNvSpPr/>
            <p:nvPr/>
          </p:nvSpPr>
          <p:spPr>
            <a:xfrm>
              <a:off x="689680" y="1444112"/>
              <a:ext cx="1357328" cy="931500"/>
            </a:xfrm>
            <a:prstGeom prst="roundRect">
              <a:avLst>
                <a:gd name="adj" fmla="val 13809"/>
              </a:avLst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4050">
                  <a:solidFill>
                    <a:srgbClr val="FFFFFF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01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 rot="5400000">
              <a:off x="1823857" y="1651184"/>
              <a:ext cx="881517" cy="518978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100000"/>
              </a:schemeClr>
            </a:solidFill>
            <a:ln/>
          </p:spPr>
        </p:sp>
      </p:grpSp>
      <p:sp>
        <p:nvSpPr>
          <p:cNvPr id="22" name="AutoShape 22"/>
          <p:cNvSpPr/>
          <p:nvPr/>
        </p:nvSpPr>
        <p:spPr>
          <a:xfrm>
            <a:off x="2686088" y="1367195"/>
            <a:ext cx="4336090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l">
              <a:defRPr/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Perlindungan data pribadi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737965" y="1836673"/>
            <a:ext cx="7580348" cy="735736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Menjamin keamanan dan kerahasiaan data pengguna sesuai dengan regulasi perlindungan data yang berlaku.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Standar Profesional dan Integritas Digital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19853" r="19853"/>
          <a:stretch>
            <a:fillRect/>
          </a:stretch>
        </p:blipFill>
        <p:spPr>
          <a:xfrm>
            <a:off x="1466885" y="2187982"/>
            <a:ext cx="2739046" cy="2739046"/>
          </a:xfrm>
          <a:prstGeom prst="ellipse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509171" y="1790522"/>
            <a:ext cx="583851" cy="3533966"/>
          </a:xfrm>
          <a:custGeom>
            <a:avLst/>
            <a:gdLst/>
            <a:ahLst/>
            <a:cxnLst/>
            <a:rect l="l" t="t" r="r" b="b"/>
            <a:pathLst>
              <a:path w="583851" h="3533966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5347614" y="506720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Kejujuran Intelektual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5452715" y="5573201"/>
            <a:ext cx="6330972" cy="96479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Menjunjung tinggi hak kekayaan intelektual orang lain dan menghindari segala bentuk plagiarisme dalam pengembangan produk digital.</a:t>
            </a:r>
          </a:p>
        </p:txBody>
      </p:sp>
      <p:sp>
        <p:nvSpPr>
          <p:cNvPr id="8" name="AutoShape 8"/>
          <p:cNvSpPr/>
          <p:nvPr/>
        </p:nvSpPr>
        <p:spPr>
          <a:xfrm>
            <a:off x="5347614" y="3298365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Akuntabilitas Data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452715" y="3804364"/>
            <a:ext cx="6262808" cy="1061273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Memastikan transparansi dalam pengelolaan data pengguna serta bertanggung jawab penuh atas keamanan informasi digital.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347614" y="155656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Kepatuhan Kode Etik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452715" y="2062560"/>
            <a:ext cx="6136142" cy="105794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Menjalankan praktik bisnis yang selaras dengan norma hukum dan standar moral dalam industri teknologi informasi.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4913" y="1719771"/>
            <a:ext cx="6037458" cy="349664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64000"/>
              </a:lnSpc>
            </a:pPr>
            <a:r>
              <a:rPr lang="en-US" sz="8775" b="1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10103"/>
      </a:dk1>
      <a:lt1>
        <a:srgbClr val="F6F6FE"/>
      </a:lt1>
      <a:dk2>
        <a:srgbClr val="010103"/>
      </a:dk2>
      <a:lt2>
        <a:srgbClr val="D9DCFF"/>
      </a:lt2>
      <a:accent1>
        <a:srgbClr val="4F5EF7"/>
      </a:accent1>
      <a:accent2>
        <a:srgbClr val="3AB9AB"/>
      </a:accent2>
      <a:accent3>
        <a:srgbClr val="4E5AD8"/>
      </a:accent3>
      <a:accent4>
        <a:srgbClr val="3945BF"/>
      </a:accent4>
      <a:accent5>
        <a:srgbClr val="2733A8"/>
      </a:accent5>
      <a:accent6>
        <a:srgbClr val="19259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1006</Words>
  <Application>Microsoft Office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Microsoft Yahei</vt:lpstr>
      <vt:lpstr>Noto Sans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intan .</cp:lastModifiedBy>
  <cp:revision>3</cp:revision>
  <dcterms:created xsi:type="dcterms:W3CDTF">2006-08-16T00:00:00Z</dcterms:created>
  <dcterms:modified xsi:type="dcterms:W3CDTF">2026-10-08T11:09:25Z</dcterms:modified>
</cp:coreProperties>
</file>